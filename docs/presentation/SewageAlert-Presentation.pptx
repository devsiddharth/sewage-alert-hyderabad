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I'll present Sewage Alert Hyderabad — a citizen-to-government civic tech platform. It lets citizens report sewage and sanitation problems with a photo and GPS in under a minute, and gives authorities a structured queue to assign, track and close those issues with proof of work. This is the v1.1.0 technical presentation, covering architecture, security, the complaint lifecycle, and our headline feature: mandatory resolution proof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sewage issues were invisible and slow to fix. Citizens had no easy channel — complaints were scattered across phone calls and social media. There was no transparency, because citizens couldn't track when their issue would be fixed. And there was no accountability, because authorities had no structured queue or proof of work. Our answer: one structured platform for reporting with photo and GPS, real-time tracking through the full lifecycle, and — new in v1.1.0 — proof-based resolution where a complaint can only be closed with a resolution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serves four roles: citizens who report and track issues, authorities and admins who manage the queue, field officers who fix complaints, and the general public on community pages. Key features: photo and GPS reporting with compression via Cloudinary; a hotspot heatmap for admin analytics; assignment to field officers; the new mandatory resolution-proof photo in v1.1.0; event-driven notifications over RabbitMQ with EmailJS email; and community content — events, articles, NGOs, lakes, sewage treatment plants and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everything sits behind a single Spring Cloud API Gateway on port 8080 that routes /api/v1 requests and forwards JWT headers. Services register with Eureka on 8761 for discovery. We have five services: Auth on 8081, User on 8082, Complaint on 8083, Community on 8084 and Notification on 8085. The Notification service consumes RabbitMQ events and sends in-app notifications plus EmailJS emails. Each service owns its own MySQL schema, and services talk to each other through OpenFeign. There is no shared schema, so boundaries stay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mainstream. Backend: Java 25 with Spring Boot, Spring Security with stateless JWT, Spring Data JPA, Spring Cloud Gateway with Eureka, OpenFeign, RabbitMQ for async events and MySQL per service. Frontend: React 18 with TypeScript, Vite, Tailwind, React Router for role-based routing, Recharts for analytics, Leaflet for heatmaps and Lucide for icons. DevOps: Docker Compose, GitHub Actions CI, Docker Hub registry, AWS EC2 for backend, Vercel for frontend, Cloudinary for image storage and EmailJS for transactional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deployable units: five business services, Eureka for discovery and the gateway as the single entry point. Each service owns its schema — auth, users, complaints, community and notifications — so teams can evolve and scale them independently. The Complaint service is where the v1.1.0 resolution-proof feature lives, and the Notification service is the RabbitMQ consumer that fans events out to in-app notifications and EmailJS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flows in four steps: registration hashes the password with BCrypt and creates an UNVERIFIED account; email verification uses a 6-digit OTP sent via EmailJS, capped at five attempts with a 60-second lockout; login issues a stateless JWT carrying sub, email, role and a 24-hour expiry; and every API call passes the token as a Bearer header. The gateway injects X-Auth-User-Id and services re-verify roles against the Auth service, so even if a token is forged on the client, the backend still checks the role. Only registration, login, verification, resend and Swagger are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complaint lifecycle has four states: PENDING when a citizen submits with photo and GPS, IN_PROGRESS when an authority picks it up or assigns a field officer, RESOLVED only after the officer uploads a proof photo, and notifications fired via RabbitMQ at every transition. The v1.1.0 headline feature: resolution proof is now mandatory and backend-enforced. A plain status PATCH to RESOLVED is rejected — only the multipart resolve endpoint can close a complaint. The photo is validated and uploaded to Cloudinary before the status change, so a failed upload never silently resolves anything, and the citizen sees the proof URL in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Notifications are fully async. Producers — Auth, Complaint and Community — publish events to a topic exchange called notification.exchange with routing key notification.#, and the Notification service consumes from notification.queue, persists an in-app notification and sends mail via EmailJS. The events include complaint created, assigned, status updated, resolved, rejected and reopened, plus registration and email verification events and community events. Reliability: a durable queue, exponential backoff with five attempts, a dead-letter exchange for permanent failures, a DLQ observer that logs parked messages for ops and replay, and fire-and-forget publishing so a broker outage never blocks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single React 18 + TypeScript codebase serving three experiences through role-based route guards. Public routes cover the homepage, login, register, complaint tracking and all community content. Citizens get a dashboard to report issues with photo and GPS, see their complaints, view resolution proof, and read notifications. Admins and authorities get a command centre with complaint management, analytics, heatmaps and community CRUD. Field officers get only their assigned queue and can resolve with the mandatory proof photo. We compress images client-side using object URLs — no base64 in state — and added a Vercel SPA fallback so deep links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runs on GitHub Actions. A push opens a PR to develop or main; backend CI runs mvn clean verify on JDK 25, frontend CI runs npm ci and the build, then the Docker workflow builds and pushes seven images to Docker Hub. Production pulls those images on AWS EC2 with the frontend on Vercel. Locally, docker compose brings up nine containers on one bridge network with health checks gating startup. In production, compose pulls prebuilt images, secrets come from a deployment .env and GitHub secrets, and v1.1.0 features ship the same pipeline: CI, image push, compose pull,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roadmap. v1.0 is released with the core platform: reporting, tracking, notifications, auth, Docker and CI/CD. v1.1 is what we're presenting today — resolution proof photos enforced at the backend, plus user-facing content cleanup. Next comes v1.2 with a responsive mobile-friendly web experience, then v2.0 expands the NGO and community engagement platform, v2.1 adds AI capabilities on top of our structured data, and v3.0 is a dedicated mobile app reusing the existing backend APIs.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509760" y="-1463040"/>
            <a:ext cx="4754880" cy="4754880"/>
          </a:xfrm>
          <a:prstGeom prst="ellipse">
            <a:avLst/>
          </a:prstGeom>
          <a:solidFill>
            <a:srgbClr val="0D9488">
              <a:alpha val="18000"/>
            </a:srgbClr>
          </a:solidFill>
          <a:ln w="12700">
            <a:solidFill>
              <a:srgbClr val="0D9488">
                <a:alpha val="18000"/>
              </a:srgbClr>
            </a:solidFill>
            <a:prstDash val="solid"/>
          </a:ln>
        </p:spPr>
      </p:sp>
      <p:sp>
        <p:nvSpPr>
          <p:cNvPr id="3" name="Shape 1"/>
          <p:cNvSpPr/>
          <p:nvPr/>
        </p:nvSpPr>
        <p:spPr>
          <a:xfrm>
            <a:off x="10607040" y="4023360"/>
            <a:ext cx="3291840" cy="3291840"/>
          </a:xfrm>
          <a:prstGeom prst="ellipse">
            <a:avLst/>
          </a:prstGeom>
          <a:solidFill>
            <a:srgbClr val="10B981">
              <a:alpha val="12000"/>
            </a:srgbClr>
          </a:solidFill>
          <a:ln w="12700">
            <a:solidFill>
              <a:srgbClr val="10B981">
                <a:alpha val="12000"/>
              </a:srgbClr>
            </a:solidFill>
            <a:prstDash val="solid"/>
          </a:ln>
        </p:spPr>
      </p:sp>
      <p:sp>
        <p:nvSpPr>
          <p:cNvPr id="4" name="Shape 2"/>
          <p:cNvSpPr/>
          <p:nvPr/>
        </p:nvSpPr>
        <p:spPr>
          <a:xfrm>
            <a:off x="-1280160" y="4572000"/>
            <a:ext cx="2743200" cy="2743200"/>
          </a:xfrm>
          <a:prstGeom prst="ellipse">
            <a:avLst/>
          </a:prstGeom>
          <a:solidFill>
            <a:srgbClr val="38BDF8">
              <a:alpha val="10000"/>
            </a:srgbClr>
          </a:solidFill>
          <a:ln w="12700">
            <a:solidFill>
              <a:srgbClr val="38BDF8">
                <a:alpha val="10000"/>
              </a:srgbClr>
            </a:solidFill>
            <a:prstDash val="solid"/>
          </a:ln>
        </p:spPr>
      </p:sp>
      <p:sp>
        <p:nvSpPr>
          <p:cNvPr id="5" name="Text 3"/>
          <p:cNvSpPr/>
          <p:nvPr/>
        </p:nvSpPr>
        <p:spPr>
          <a:xfrm>
            <a:off x="822960" y="1051560"/>
            <a:ext cx="10515600" cy="365760"/>
          </a:xfrm>
          <a:prstGeom prst="rect">
            <a:avLst/>
          </a:prstGeom>
          <a:noFill/>
          <a:ln/>
        </p:spPr>
        <p:txBody>
          <a:bodyPr wrap="square" rtlCol="0" anchor="ctr"/>
          <a:lstStyle/>
          <a:p>
            <a:pPr algn="l" indent="0" marL="0">
              <a:buNone/>
            </a:pPr>
            <a:r>
              <a:rPr lang="en-US" sz="1300" b="1" spc="300" kern="0" dirty="0">
                <a:solidFill>
                  <a:srgbClr val="10B981"/>
                </a:solidFill>
                <a:latin typeface="Segoe UI" pitchFamily="34" charset="0"/>
                <a:ea typeface="Segoe UI" pitchFamily="34" charset="-122"/>
                <a:cs typeface="Segoe UI" pitchFamily="34" charset="-120"/>
              </a:rPr>
              <a:t>CITIZEN-TO-GOVERNMENT CIVIC TECH PLATFORM</a:t>
            </a:r>
            <a:endParaRPr lang="en-US" sz="1300" dirty="0"/>
          </a:p>
        </p:txBody>
      </p:sp>
      <p:sp>
        <p:nvSpPr>
          <p:cNvPr id="6" name="Text 4"/>
          <p:cNvSpPr/>
          <p:nvPr/>
        </p:nvSpPr>
        <p:spPr>
          <a:xfrm>
            <a:off x="822960" y="1417320"/>
            <a:ext cx="10515600" cy="914400"/>
          </a:xfrm>
          <a:prstGeom prst="rect">
            <a:avLst/>
          </a:prstGeom>
          <a:noFill/>
          <a:ln/>
        </p:spPr>
        <p:txBody>
          <a:bodyPr wrap="square" rtlCol="0" anchor="ctr"/>
          <a:lstStyle/>
          <a:p>
            <a:pPr algn="l" indent="0" marL="0">
              <a:buNone/>
            </a:pPr>
            <a:r>
              <a:rPr lang="en-US" sz="6200" b="1" dirty="0">
                <a:solidFill>
                  <a:srgbClr val="FFFFFF"/>
                </a:solidFill>
                <a:latin typeface="Segoe UI" pitchFamily="34" charset="0"/>
                <a:ea typeface="Segoe UI" pitchFamily="34" charset="-122"/>
                <a:cs typeface="Segoe UI" pitchFamily="34" charset="-120"/>
              </a:rPr>
              <a:t>Sewage Alert</a:t>
            </a:r>
            <a:endParaRPr lang="en-US" sz="6200" dirty="0"/>
          </a:p>
        </p:txBody>
      </p:sp>
      <p:sp>
        <p:nvSpPr>
          <p:cNvPr id="7" name="Text 5"/>
          <p:cNvSpPr/>
          <p:nvPr/>
        </p:nvSpPr>
        <p:spPr>
          <a:xfrm>
            <a:off x="822960" y="2331720"/>
            <a:ext cx="10515600" cy="731520"/>
          </a:xfrm>
          <a:prstGeom prst="rect">
            <a:avLst/>
          </a:prstGeom>
          <a:noFill/>
          <a:ln/>
        </p:spPr>
        <p:txBody>
          <a:bodyPr wrap="square" rtlCol="0" anchor="ctr"/>
          <a:lstStyle/>
          <a:p>
            <a:pPr algn="l" indent="0" marL="0">
              <a:buNone/>
            </a:pPr>
            <a:r>
              <a:rPr lang="en-US" sz="4000" b="1" dirty="0">
                <a:solidFill>
                  <a:srgbClr val="0D9488"/>
                </a:solidFill>
                <a:latin typeface="Segoe UI" pitchFamily="34" charset="0"/>
                <a:ea typeface="Segoe UI" pitchFamily="34" charset="-122"/>
                <a:cs typeface="Segoe UI" pitchFamily="34" charset="-120"/>
              </a:rPr>
              <a:t>Hyderabad</a:t>
            </a:r>
            <a:endParaRPr lang="en-US" sz="4000" dirty="0"/>
          </a:p>
        </p:txBody>
      </p:sp>
      <p:sp>
        <p:nvSpPr>
          <p:cNvPr id="8" name="Text 6"/>
          <p:cNvSpPr/>
          <p:nvPr/>
        </p:nvSpPr>
        <p:spPr>
          <a:xfrm>
            <a:off x="822960" y="3246120"/>
            <a:ext cx="9692640" cy="822960"/>
          </a:xfrm>
          <a:prstGeom prst="rect">
            <a:avLst/>
          </a:prstGeom>
          <a:noFill/>
          <a:ln/>
        </p:spPr>
        <p:txBody>
          <a:bodyPr wrap="square" rtlCol="0" anchor="ctr"/>
          <a:lstStyle/>
          <a:p>
            <a:pPr algn="l" indent="0" marL="0">
              <a:lnSpc>
                <a:spcPts val="2200"/>
              </a:lnSpc>
              <a:buNone/>
            </a:pPr>
            <a:r>
              <a:rPr lang="en-US" sz="1500" dirty="0">
                <a:solidFill>
                  <a:srgbClr val="D7E3EE"/>
                </a:solidFill>
                <a:latin typeface="Segoe UI" pitchFamily="34" charset="0"/>
                <a:ea typeface="Segoe UI" pitchFamily="34" charset="-122"/>
                <a:cs typeface="Segoe UI" pitchFamily="34" charset="-120"/>
              </a:rPr>
              <a:t>A cloud-native microservices platform that lets citizens report sewage and sanitation issues with photo + GPS, and lets authorities assign, track and resolve them with proof.</a:t>
            </a:r>
            <a:endParaRPr lang="en-US" sz="1500" dirty="0"/>
          </a:p>
        </p:txBody>
      </p:sp>
      <p:sp>
        <p:nvSpPr>
          <p:cNvPr id="9" name="Shape 7"/>
          <p:cNvSpPr/>
          <p:nvPr/>
        </p:nvSpPr>
        <p:spPr>
          <a:xfrm>
            <a:off x="822960" y="4343400"/>
            <a:ext cx="1060704" cy="310896"/>
          </a:xfrm>
          <a:prstGeom prst="roundRect">
            <a:avLst>
              <a:gd name="adj" fmla="val 147059"/>
            </a:avLst>
          </a:prstGeom>
          <a:solidFill>
            <a:srgbClr val="0B2545"/>
          </a:solidFill>
          <a:ln w="12700">
            <a:solidFill>
              <a:srgbClr val="FFFFFF"/>
            </a:solidFill>
            <a:prstDash val="solid"/>
          </a:ln>
        </p:spPr>
      </p:sp>
      <p:sp>
        <p:nvSpPr>
          <p:cNvPr id="10" name="Text 8"/>
          <p:cNvSpPr/>
          <p:nvPr/>
        </p:nvSpPr>
        <p:spPr>
          <a:xfrm>
            <a:off x="822960" y="4343400"/>
            <a:ext cx="1060704" cy="310896"/>
          </a:xfrm>
          <a:prstGeom prst="rect">
            <a:avLst/>
          </a:prstGeom>
          <a:noFill/>
          <a:ln/>
        </p:spPr>
        <p:txBody>
          <a:bodyPr wrap="square" rtlCol="0" anchor="ctr"/>
          <a:lstStyle/>
          <a:p>
            <a:pPr algn="ctr" indent="0" marL="0">
              <a:buNone/>
            </a:pPr>
            <a:r>
              <a:rPr lang="en-US" sz="1100" b="1" dirty="0">
                <a:solidFill>
                  <a:srgbClr val="0B2545"/>
                </a:solidFill>
                <a:latin typeface="Segoe UI" pitchFamily="34" charset="0"/>
                <a:ea typeface="Segoe UI" pitchFamily="34" charset="-122"/>
                <a:cs typeface="Segoe UI" pitchFamily="34" charset="-120"/>
              </a:rPr>
              <a:t>React 18</a:t>
            </a:r>
            <a:endParaRPr lang="en-US" sz="1100" dirty="0"/>
          </a:p>
        </p:txBody>
      </p:sp>
      <p:sp>
        <p:nvSpPr>
          <p:cNvPr id="11" name="Shape 9"/>
          <p:cNvSpPr/>
          <p:nvPr/>
        </p:nvSpPr>
        <p:spPr>
          <a:xfrm>
            <a:off x="2048256" y="4343400"/>
            <a:ext cx="1348740" cy="310896"/>
          </a:xfrm>
          <a:prstGeom prst="roundRect">
            <a:avLst>
              <a:gd name="adj" fmla="val 147059"/>
            </a:avLst>
          </a:prstGeom>
          <a:solidFill>
            <a:srgbClr val="0B2545"/>
          </a:solidFill>
          <a:ln w="12700">
            <a:solidFill>
              <a:srgbClr val="FFFFFF"/>
            </a:solidFill>
            <a:prstDash val="solid"/>
          </a:ln>
        </p:spPr>
      </p:sp>
      <p:sp>
        <p:nvSpPr>
          <p:cNvPr id="12" name="Text 10"/>
          <p:cNvSpPr/>
          <p:nvPr/>
        </p:nvSpPr>
        <p:spPr>
          <a:xfrm>
            <a:off x="2048256" y="4343400"/>
            <a:ext cx="1348740" cy="310896"/>
          </a:xfrm>
          <a:prstGeom prst="rect">
            <a:avLst/>
          </a:prstGeom>
          <a:noFill/>
          <a:ln/>
        </p:spPr>
        <p:txBody>
          <a:bodyPr wrap="square" rtlCol="0" anchor="ctr"/>
          <a:lstStyle/>
          <a:p>
            <a:pPr algn="ctr" indent="0" marL="0">
              <a:buNone/>
            </a:pPr>
            <a:r>
              <a:rPr lang="en-US" sz="1100" b="1" dirty="0">
                <a:solidFill>
                  <a:srgbClr val="0B2545"/>
                </a:solidFill>
                <a:latin typeface="Segoe UI" pitchFamily="34" charset="0"/>
                <a:ea typeface="Segoe UI" pitchFamily="34" charset="-122"/>
                <a:cs typeface="Segoe UI" pitchFamily="34" charset="-120"/>
              </a:rPr>
              <a:t>Spring Boot</a:t>
            </a:r>
            <a:endParaRPr lang="en-US" sz="1100" dirty="0"/>
          </a:p>
        </p:txBody>
      </p:sp>
      <p:sp>
        <p:nvSpPr>
          <p:cNvPr id="13" name="Shape 11"/>
          <p:cNvSpPr/>
          <p:nvPr/>
        </p:nvSpPr>
        <p:spPr>
          <a:xfrm>
            <a:off x="3561588" y="4343400"/>
            <a:ext cx="964692" cy="310896"/>
          </a:xfrm>
          <a:prstGeom prst="roundRect">
            <a:avLst>
              <a:gd name="adj" fmla="val 147059"/>
            </a:avLst>
          </a:prstGeom>
          <a:solidFill>
            <a:srgbClr val="0B2545"/>
          </a:solidFill>
          <a:ln w="12700">
            <a:solidFill>
              <a:srgbClr val="FFFFFF"/>
            </a:solidFill>
            <a:prstDash val="solid"/>
          </a:ln>
        </p:spPr>
      </p:sp>
      <p:sp>
        <p:nvSpPr>
          <p:cNvPr id="14" name="Text 12"/>
          <p:cNvSpPr/>
          <p:nvPr/>
        </p:nvSpPr>
        <p:spPr>
          <a:xfrm>
            <a:off x="3561588" y="4343400"/>
            <a:ext cx="964692" cy="310896"/>
          </a:xfrm>
          <a:prstGeom prst="rect">
            <a:avLst/>
          </a:prstGeom>
          <a:noFill/>
          <a:ln/>
        </p:spPr>
        <p:txBody>
          <a:bodyPr wrap="square" rtlCol="0" anchor="ctr"/>
          <a:lstStyle/>
          <a:p>
            <a:pPr algn="ctr" indent="0" marL="0">
              <a:buNone/>
            </a:pPr>
            <a:r>
              <a:rPr lang="en-US" sz="1100" b="1" dirty="0">
                <a:solidFill>
                  <a:srgbClr val="0B2545"/>
                </a:solidFill>
                <a:latin typeface="Segoe UI" pitchFamily="34" charset="0"/>
                <a:ea typeface="Segoe UI" pitchFamily="34" charset="-122"/>
                <a:cs typeface="Segoe UI" pitchFamily="34" charset="-120"/>
              </a:rPr>
              <a:t>Java 25</a:t>
            </a:r>
            <a:endParaRPr lang="en-US" sz="1100" dirty="0"/>
          </a:p>
        </p:txBody>
      </p:sp>
      <p:sp>
        <p:nvSpPr>
          <p:cNvPr id="15" name="Shape 13"/>
          <p:cNvSpPr/>
          <p:nvPr/>
        </p:nvSpPr>
        <p:spPr>
          <a:xfrm>
            <a:off x="4690872" y="4343400"/>
            <a:ext cx="1540764" cy="310896"/>
          </a:xfrm>
          <a:prstGeom prst="roundRect">
            <a:avLst>
              <a:gd name="adj" fmla="val 147059"/>
            </a:avLst>
          </a:prstGeom>
          <a:solidFill>
            <a:srgbClr val="0B2545"/>
          </a:solidFill>
          <a:ln w="12700">
            <a:solidFill>
              <a:srgbClr val="FFFFFF"/>
            </a:solidFill>
            <a:prstDash val="solid"/>
          </a:ln>
        </p:spPr>
      </p:sp>
      <p:sp>
        <p:nvSpPr>
          <p:cNvPr id="16" name="Text 14"/>
          <p:cNvSpPr/>
          <p:nvPr/>
        </p:nvSpPr>
        <p:spPr>
          <a:xfrm>
            <a:off x="4690872" y="4343400"/>
            <a:ext cx="1540764" cy="310896"/>
          </a:xfrm>
          <a:prstGeom prst="rect">
            <a:avLst/>
          </a:prstGeom>
          <a:noFill/>
          <a:ln/>
        </p:spPr>
        <p:txBody>
          <a:bodyPr wrap="square" rtlCol="0" anchor="ctr"/>
          <a:lstStyle/>
          <a:p>
            <a:pPr algn="ctr" indent="0" marL="0">
              <a:buNone/>
            </a:pPr>
            <a:r>
              <a:rPr lang="en-US" sz="1100" b="1" dirty="0">
                <a:solidFill>
                  <a:srgbClr val="0B2545"/>
                </a:solidFill>
                <a:latin typeface="Segoe UI" pitchFamily="34" charset="0"/>
                <a:ea typeface="Segoe UI" pitchFamily="34" charset="-122"/>
                <a:cs typeface="Segoe UI" pitchFamily="34" charset="-120"/>
              </a:rPr>
              <a:t>Microservices</a:t>
            </a:r>
            <a:endParaRPr lang="en-US" sz="1100" dirty="0"/>
          </a:p>
        </p:txBody>
      </p:sp>
      <p:sp>
        <p:nvSpPr>
          <p:cNvPr id="17" name="Shape 15"/>
          <p:cNvSpPr/>
          <p:nvPr/>
        </p:nvSpPr>
        <p:spPr>
          <a:xfrm>
            <a:off x="6396228" y="4343400"/>
            <a:ext cx="1060704" cy="310896"/>
          </a:xfrm>
          <a:prstGeom prst="roundRect">
            <a:avLst>
              <a:gd name="adj" fmla="val 147059"/>
            </a:avLst>
          </a:prstGeom>
          <a:solidFill>
            <a:srgbClr val="0B2545"/>
          </a:solidFill>
          <a:ln w="12700">
            <a:solidFill>
              <a:srgbClr val="FFFFFF"/>
            </a:solidFill>
            <a:prstDash val="solid"/>
          </a:ln>
        </p:spPr>
      </p:sp>
      <p:sp>
        <p:nvSpPr>
          <p:cNvPr id="18" name="Text 16"/>
          <p:cNvSpPr/>
          <p:nvPr/>
        </p:nvSpPr>
        <p:spPr>
          <a:xfrm>
            <a:off x="6396228" y="4343400"/>
            <a:ext cx="1060704" cy="310896"/>
          </a:xfrm>
          <a:prstGeom prst="rect">
            <a:avLst/>
          </a:prstGeom>
          <a:noFill/>
          <a:ln/>
        </p:spPr>
        <p:txBody>
          <a:bodyPr wrap="square" rtlCol="0" anchor="ctr"/>
          <a:lstStyle/>
          <a:p>
            <a:pPr algn="ctr" indent="0" marL="0">
              <a:buNone/>
            </a:pPr>
            <a:r>
              <a:rPr lang="en-US" sz="1100" b="1" dirty="0">
                <a:solidFill>
                  <a:srgbClr val="0B2545"/>
                </a:solidFill>
                <a:latin typeface="Segoe UI" pitchFamily="34" charset="0"/>
                <a:ea typeface="Segoe UI" pitchFamily="34" charset="-122"/>
                <a:cs typeface="Segoe UI" pitchFamily="34" charset="-120"/>
              </a:rPr>
              <a:t>RabbitMQ</a:t>
            </a:r>
            <a:endParaRPr lang="en-US" sz="1100" dirty="0"/>
          </a:p>
        </p:txBody>
      </p:sp>
      <p:sp>
        <p:nvSpPr>
          <p:cNvPr id="19" name="Shape 17"/>
          <p:cNvSpPr/>
          <p:nvPr/>
        </p:nvSpPr>
        <p:spPr>
          <a:xfrm>
            <a:off x="7621524" y="4343400"/>
            <a:ext cx="868680" cy="310896"/>
          </a:xfrm>
          <a:prstGeom prst="roundRect">
            <a:avLst>
              <a:gd name="adj" fmla="val 147059"/>
            </a:avLst>
          </a:prstGeom>
          <a:solidFill>
            <a:srgbClr val="0B2545"/>
          </a:solidFill>
          <a:ln w="12700">
            <a:solidFill>
              <a:srgbClr val="FFFFFF"/>
            </a:solidFill>
            <a:prstDash val="solid"/>
          </a:ln>
        </p:spPr>
      </p:sp>
      <p:sp>
        <p:nvSpPr>
          <p:cNvPr id="20" name="Text 18"/>
          <p:cNvSpPr/>
          <p:nvPr/>
        </p:nvSpPr>
        <p:spPr>
          <a:xfrm>
            <a:off x="7621524" y="4343400"/>
            <a:ext cx="868680" cy="310896"/>
          </a:xfrm>
          <a:prstGeom prst="rect">
            <a:avLst/>
          </a:prstGeom>
          <a:noFill/>
          <a:ln/>
        </p:spPr>
        <p:txBody>
          <a:bodyPr wrap="square" rtlCol="0" anchor="ctr"/>
          <a:lstStyle/>
          <a:p>
            <a:pPr algn="ctr" indent="0" marL="0">
              <a:buNone/>
            </a:pPr>
            <a:r>
              <a:rPr lang="en-US" sz="1100" b="1" dirty="0">
                <a:solidFill>
                  <a:srgbClr val="0B2545"/>
                </a:solidFill>
                <a:latin typeface="Segoe UI" pitchFamily="34" charset="0"/>
                <a:ea typeface="Segoe UI" pitchFamily="34" charset="-122"/>
                <a:cs typeface="Segoe UI" pitchFamily="34" charset="-120"/>
              </a:rPr>
              <a:t>Docker</a:t>
            </a:r>
            <a:endParaRPr lang="en-US" sz="1100" dirty="0"/>
          </a:p>
        </p:txBody>
      </p:sp>
      <p:sp>
        <p:nvSpPr>
          <p:cNvPr id="21" name="Shape 19"/>
          <p:cNvSpPr/>
          <p:nvPr/>
        </p:nvSpPr>
        <p:spPr>
          <a:xfrm>
            <a:off x="8654796" y="4343400"/>
            <a:ext cx="1444752" cy="310896"/>
          </a:xfrm>
          <a:prstGeom prst="roundRect">
            <a:avLst>
              <a:gd name="adj" fmla="val 147059"/>
            </a:avLst>
          </a:prstGeom>
          <a:solidFill>
            <a:srgbClr val="0B2545"/>
          </a:solidFill>
          <a:ln w="12700">
            <a:solidFill>
              <a:srgbClr val="FFFFFF"/>
            </a:solidFill>
            <a:prstDash val="solid"/>
          </a:ln>
        </p:spPr>
      </p:sp>
      <p:sp>
        <p:nvSpPr>
          <p:cNvPr id="22" name="Text 20"/>
          <p:cNvSpPr/>
          <p:nvPr/>
        </p:nvSpPr>
        <p:spPr>
          <a:xfrm>
            <a:off x="8654796" y="4343400"/>
            <a:ext cx="1444752" cy="310896"/>
          </a:xfrm>
          <a:prstGeom prst="rect">
            <a:avLst/>
          </a:prstGeom>
          <a:noFill/>
          <a:ln/>
        </p:spPr>
        <p:txBody>
          <a:bodyPr wrap="square" rtlCol="0" anchor="ctr"/>
          <a:lstStyle/>
          <a:p>
            <a:pPr algn="ctr" indent="0" marL="0">
              <a:buNone/>
            </a:pPr>
            <a:r>
              <a:rPr lang="en-US" sz="1100" b="1" dirty="0">
                <a:solidFill>
                  <a:srgbClr val="0B2545"/>
                </a:solidFill>
                <a:latin typeface="Segoe UI" pitchFamily="34" charset="0"/>
                <a:ea typeface="Segoe UI" pitchFamily="34" charset="-122"/>
                <a:cs typeface="Segoe UI" pitchFamily="34" charset="-120"/>
              </a:rPr>
              <a:t>AWS · Vercel</a:t>
            </a:r>
            <a:endParaRPr lang="en-US" sz="1100" dirty="0"/>
          </a:p>
        </p:txBody>
      </p:sp>
      <p:sp>
        <p:nvSpPr>
          <p:cNvPr id="23" name="Text 21"/>
          <p:cNvSpPr/>
          <p:nvPr/>
        </p:nvSpPr>
        <p:spPr>
          <a:xfrm>
            <a:off x="822960" y="5989320"/>
            <a:ext cx="10515600" cy="320040"/>
          </a:xfrm>
          <a:prstGeom prst="rect">
            <a:avLst/>
          </a:prstGeom>
          <a:noFill/>
          <a:ln/>
        </p:spPr>
        <p:txBody>
          <a:bodyPr wrap="square" rtlCol="0" anchor="ctr"/>
          <a:lstStyle/>
          <a:p>
            <a:pPr algn="l" indent="0" marL="0">
              <a:buNone/>
            </a:pPr>
            <a:r>
              <a:rPr lang="en-US" sz="1150" dirty="0">
                <a:solidFill>
                  <a:srgbClr val="93A8BC"/>
                </a:solidFill>
                <a:latin typeface="Segoe UI" pitchFamily="34" charset="0"/>
                <a:ea typeface="Segoe UI" pitchFamily="34" charset="-122"/>
                <a:cs typeface="Segoe UI" pitchFamily="34" charset="-120"/>
              </a:rPr>
              <a:t>v1.1.0  ·  Technical Presentation  ·  August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THE PROBLEM WE SET OUT TO SOLVE</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Sewage issues were invisible and slow to fix</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Citizens had no reliable channel to report sanitation problems and no visibility into resolution.</a:t>
            </a:r>
            <a:endParaRPr lang="en-US" sz="1250" dirty="0"/>
          </a:p>
        </p:txBody>
      </p:sp>
      <p:sp>
        <p:nvSpPr>
          <p:cNvPr id="6" name="Shape 4"/>
          <p:cNvSpPr/>
          <p:nvPr/>
        </p:nvSpPr>
        <p:spPr>
          <a:xfrm>
            <a:off x="411480" y="1600200"/>
            <a:ext cx="3611880" cy="2286000"/>
          </a:xfrm>
          <a:prstGeom prst="roundRect">
            <a:avLst>
              <a:gd name="adj" fmla="val 24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7" name="Text 5"/>
          <p:cNvSpPr/>
          <p:nvPr/>
        </p:nvSpPr>
        <p:spPr>
          <a:xfrm>
            <a:off x="640080" y="1783080"/>
            <a:ext cx="640080" cy="640080"/>
          </a:xfrm>
          <a:prstGeom prst="rect">
            <a:avLst/>
          </a:prstGeom>
          <a:noFill/>
          <a:ln/>
        </p:spPr>
        <p:txBody>
          <a:bodyPr wrap="square" rtlCol="0" anchor="ctr"/>
          <a:lstStyle/>
          <a:p>
            <a:pPr algn="l" indent="0" marL="0">
              <a:buNone/>
            </a:pPr>
            <a:r>
              <a:rPr lang="en-US" sz="3000" dirty="0">
                <a:solidFill>
                  <a:srgbClr val="000000"/>
                </a:solidFill>
              </a:rPr>
              <a:t>📵</a:t>
            </a:r>
            <a:endParaRPr lang="en-US" sz="3000" dirty="0"/>
          </a:p>
        </p:txBody>
      </p:sp>
      <p:sp>
        <p:nvSpPr>
          <p:cNvPr id="8" name="Text 6"/>
          <p:cNvSpPr/>
          <p:nvPr/>
        </p:nvSpPr>
        <p:spPr>
          <a:xfrm>
            <a:off x="640080" y="2514600"/>
            <a:ext cx="3154680" cy="411480"/>
          </a:xfrm>
          <a:prstGeom prst="rect">
            <a:avLst/>
          </a:prstGeom>
          <a:noFill/>
          <a:ln/>
        </p:spPr>
        <p:txBody>
          <a:bodyPr wrap="square" rtlCol="0" anchor="ctr"/>
          <a:lstStyle/>
          <a:p>
            <a:pPr indent="0" marL="0">
              <a:buNone/>
            </a:pPr>
            <a:r>
              <a:rPr lang="en-US" sz="1600" b="1" dirty="0">
                <a:solidFill>
                  <a:srgbClr val="0B2545"/>
                </a:solidFill>
                <a:latin typeface="Segoe UI" pitchFamily="34" charset="0"/>
                <a:ea typeface="Segoe UI" pitchFamily="34" charset="-122"/>
                <a:cs typeface="Segoe UI" pitchFamily="34" charset="-120"/>
              </a:rPr>
              <a:t>No easy channel</a:t>
            </a:r>
            <a:endParaRPr lang="en-US" sz="1600" dirty="0"/>
          </a:p>
        </p:txBody>
      </p:sp>
      <p:sp>
        <p:nvSpPr>
          <p:cNvPr id="9" name="Text 7"/>
          <p:cNvSpPr/>
          <p:nvPr/>
        </p:nvSpPr>
        <p:spPr>
          <a:xfrm>
            <a:off x="640080" y="2926080"/>
            <a:ext cx="3154680" cy="868680"/>
          </a:xfrm>
          <a:prstGeom prst="rect">
            <a:avLst/>
          </a:prstGeom>
          <a:noFill/>
          <a:ln/>
        </p:spPr>
        <p:txBody>
          <a:bodyPr wrap="square" rtlCol="0" anchor="ctr"/>
          <a:lstStyle/>
          <a:p>
            <a:pPr indent="0" marL="0">
              <a:lnSpc>
                <a:spcPts val="1600"/>
              </a:lnSpc>
              <a:buNone/>
            </a:pPr>
            <a:r>
              <a:rPr lang="en-US" sz="1150" dirty="0">
                <a:solidFill>
                  <a:srgbClr val="5B6B7C"/>
                </a:solidFill>
                <a:latin typeface="Segoe UI" pitchFamily="34" charset="0"/>
                <a:ea typeface="Segoe UI" pitchFamily="34" charset="-122"/>
                <a:cs typeface="Segoe UI" pitchFamily="34" charset="-120"/>
              </a:rPr>
              <a:t>Complaints lost across phone calls, social media and word of mouth — no single source of truth.</a:t>
            </a:r>
            <a:endParaRPr lang="en-US" sz="1150" dirty="0"/>
          </a:p>
        </p:txBody>
      </p:sp>
      <p:sp>
        <p:nvSpPr>
          <p:cNvPr id="10" name="Shape 8"/>
          <p:cNvSpPr/>
          <p:nvPr/>
        </p:nvSpPr>
        <p:spPr>
          <a:xfrm>
            <a:off x="4270248" y="1600200"/>
            <a:ext cx="3611880" cy="2286000"/>
          </a:xfrm>
          <a:prstGeom prst="roundRect">
            <a:avLst>
              <a:gd name="adj" fmla="val 24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1" name="Text 9"/>
          <p:cNvSpPr/>
          <p:nvPr/>
        </p:nvSpPr>
        <p:spPr>
          <a:xfrm>
            <a:off x="4498848" y="1783080"/>
            <a:ext cx="640080" cy="640080"/>
          </a:xfrm>
          <a:prstGeom prst="rect">
            <a:avLst/>
          </a:prstGeom>
          <a:noFill/>
          <a:ln/>
        </p:spPr>
        <p:txBody>
          <a:bodyPr wrap="square" rtlCol="0" anchor="ctr"/>
          <a:lstStyle/>
          <a:p>
            <a:pPr algn="l" indent="0" marL="0">
              <a:buNone/>
            </a:pPr>
            <a:r>
              <a:rPr lang="en-US" sz="3000" dirty="0">
                <a:solidFill>
                  <a:srgbClr val="000000"/>
                </a:solidFill>
              </a:rPr>
              <a:t>🔍</a:t>
            </a:r>
            <a:endParaRPr lang="en-US" sz="3000" dirty="0"/>
          </a:p>
        </p:txBody>
      </p:sp>
      <p:sp>
        <p:nvSpPr>
          <p:cNvPr id="12" name="Text 10"/>
          <p:cNvSpPr/>
          <p:nvPr/>
        </p:nvSpPr>
        <p:spPr>
          <a:xfrm>
            <a:off x="4498848" y="2514600"/>
            <a:ext cx="3154680" cy="411480"/>
          </a:xfrm>
          <a:prstGeom prst="rect">
            <a:avLst/>
          </a:prstGeom>
          <a:noFill/>
          <a:ln/>
        </p:spPr>
        <p:txBody>
          <a:bodyPr wrap="square" rtlCol="0" anchor="ctr"/>
          <a:lstStyle/>
          <a:p>
            <a:pPr indent="0" marL="0">
              <a:buNone/>
            </a:pPr>
            <a:r>
              <a:rPr lang="en-US" sz="1600" b="1" dirty="0">
                <a:solidFill>
                  <a:srgbClr val="0B2545"/>
                </a:solidFill>
                <a:latin typeface="Segoe UI" pitchFamily="34" charset="0"/>
                <a:ea typeface="Segoe UI" pitchFamily="34" charset="-122"/>
                <a:cs typeface="Segoe UI" pitchFamily="34" charset="-120"/>
              </a:rPr>
              <a:t>No transparency</a:t>
            </a:r>
            <a:endParaRPr lang="en-US" sz="1600" dirty="0"/>
          </a:p>
        </p:txBody>
      </p:sp>
      <p:sp>
        <p:nvSpPr>
          <p:cNvPr id="13" name="Text 11"/>
          <p:cNvSpPr/>
          <p:nvPr/>
        </p:nvSpPr>
        <p:spPr>
          <a:xfrm>
            <a:off x="4498848" y="2926080"/>
            <a:ext cx="3154680" cy="868680"/>
          </a:xfrm>
          <a:prstGeom prst="rect">
            <a:avLst/>
          </a:prstGeom>
          <a:noFill/>
          <a:ln/>
        </p:spPr>
        <p:txBody>
          <a:bodyPr wrap="square" rtlCol="0" anchor="ctr"/>
          <a:lstStyle/>
          <a:p>
            <a:pPr indent="0" marL="0">
              <a:lnSpc>
                <a:spcPts val="1600"/>
              </a:lnSpc>
              <a:buNone/>
            </a:pPr>
            <a:r>
              <a:rPr lang="en-US" sz="1150" dirty="0">
                <a:solidFill>
                  <a:srgbClr val="5B6B7C"/>
                </a:solidFill>
                <a:latin typeface="Segoe UI" pitchFamily="34" charset="0"/>
                <a:ea typeface="Segoe UI" pitchFamily="34" charset="-122"/>
                <a:cs typeface="Segoe UI" pitchFamily="34" charset="-120"/>
              </a:rPr>
              <a:t>Citizens could not track whether — or when — their issue would be fixed.</a:t>
            </a:r>
            <a:endParaRPr lang="en-US" sz="1150" dirty="0"/>
          </a:p>
        </p:txBody>
      </p:sp>
      <p:sp>
        <p:nvSpPr>
          <p:cNvPr id="14" name="Shape 12"/>
          <p:cNvSpPr/>
          <p:nvPr/>
        </p:nvSpPr>
        <p:spPr>
          <a:xfrm>
            <a:off x="8129016" y="1600200"/>
            <a:ext cx="3611880" cy="2286000"/>
          </a:xfrm>
          <a:prstGeom prst="roundRect">
            <a:avLst>
              <a:gd name="adj" fmla="val 24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5" name="Text 13"/>
          <p:cNvSpPr/>
          <p:nvPr/>
        </p:nvSpPr>
        <p:spPr>
          <a:xfrm>
            <a:off x="8357616" y="1783080"/>
            <a:ext cx="640080" cy="640080"/>
          </a:xfrm>
          <a:prstGeom prst="rect">
            <a:avLst/>
          </a:prstGeom>
          <a:noFill/>
          <a:ln/>
        </p:spPr>
        <p:txBody>
          <a:bodyPr wrap="square" rtlCol="0" anchor="ctr"/>
          <a:lstStyle/>
          <a:p>
            <a:pPr algn="l" indent="0" marL="0">
              <a:buNone/>
            </a:pPr>
            <a:r>
              <a:rPr lang="en-US" sz="3000" dirty="0">
                <a:solidFill>
                  <a:srgbClr val="000000"/>
                </a:solidFill>
              </a:rPr>
              <a:t>⚖️</a:t>
            </a:r>
            <a:endParaRPr lang="en-US" sz="3000" dirty="0"/>
          </a:p>
        </p:txBody>
      </p:sp>
      <p:sp>
        <p:nvSpPr>
          <p:cNvPr id="16" name="Text 14"/>
          <p:cNvSpPr/>
          <p:nvPr/>
        </p:nvSpPr>
        <p:spPr>
          <a:xfrm>
            <a:off x="8357616" y="2514600"/>
            <a:ext cx="3154680" cy="411480"/>
          </a:xfrm>
          <a:prstGeom prst="rect">
            <a:avLst/>
          </a:prstGeom>
          <a:noFill/>
          <a:ln/>
        </p:spPr>
        <p:txBody>
          <a:bodyPr wrap="square" rtlCol="0" anchor="ctr"/>
          <a:lstStyle/>
          <a:p>
            <a:pPr indent="0" marL="0">
              <a:buNone/>
            </a:pPr>
            <a:r>
              <a:rPr lang="en-US" sz="1600" b="1" dirty="0">
                <a:solidFill>
                  <a:srgbClr val="0B2545"/>
                </a:solidFill>
                <a:latin typeface="Segoe UI" pitchFamily="34" charset="0"/>
                <a:ea typeface="Segoe UI" pitchFamily="34" charset="-122"/>
                <a:cs typeface="Segoe UI" pitchFamily="34" charset="-120"/>
              </a:rPr>
              <a:t>No accountability</a:t>
            </a:r>
            <a:endParaRPr lang="en-US" sz="1600" dirty="0"/>
          </a:p>
        </p:txBody>
      </p:sp>
      <p:sp>
        <p:nvSpPr>
          <p:cNvPr id="17" name="Text 15"/>
          <p:cNvSpPr/>
          <p:nvPr/>
        </p:nvSpPr>
        <p:spPr>
          <a:xfrm>
            <a:off x="8357616" y="2926080"/>
            <a:ext cx="3154680" cy="868680"/>
          </a:xfrm>
          <a:prstGeom prst="rect">
            <a:avLst/>
          </a:prstGeom>
          <a:noFill/>
          <a:ln/>
        </p:spPr>
        <p:txBody>
          <a:bodyPr wrap="square" rtlCol="0" anchor="ctr"/>
          <a:lstStyle/>
          <a:p>
            <a:pPr indent="0" marL="0">
              <a:lnSpc>
                <a:spcPts val="1600"/>
              </a:lnSpc>
              <a:buNone/>
            </a:pPr>
            <a:r>
              <a:rPr lang="en-US" sz="1150" dirty="0">
                <a:solidFill>
                  <a:srgbClr val="5B6B7C"/>
                </a:solidFill>
                <a:latin typeface="Segoe UI" pitchFamily="34" charset="0"/>
                <a:ea typeface="Segoe UI" pitchFamily="34" charset="-122"/>
                <a:cs typeface="Segoe UI" pitchFamily="34" charset="-120"/>
              </a:rPr>
              <a:t>Authorities lacked a structured queue, assignment and proof of work.</a:t>
            </a:r>
            <a:endParaRPr lang="en-US" sz="1150" dirty="0"/>
          </a:p>
        </p:txBody>
      </p:sp>
      <p:sp>
        <p:nvSpPr>
          <p:cNvPr id="18" name="Shape 16"/>
          <p:cNvSpPr/>
          <p:nvPr/>
        </p:nvSpPr>
        <p:spPr>
          <a:xfrm>
            <a:off x="5971032" y="4041648"/>
            <a:ext cx="256032" cy="365760"/>
          </a:xfrm>
          <a:prstGeom prst="downArrow">
            <a:avLst/>
          </a:prstGeom>
          <a:solidFill>
            <a:srgbClr val="0D9488"/>
          </a:solidFill>
          <a:ln w="12700">
            <a:solidFill>
              <a:srgbClr val="0D9488"/>
            </a:solidFill>
            <a:prstDash val="solid"/>
          </a:ln>
        </p:spPr>
      </p:sp>
      <p:sp>
        <p:nvSpPr>
          <p:cNvPr id="19" name="Text 17"/>
          <p:cNvSpPr/>
          <p:nvPr/>
        </p:nvSpPr>
        <p:spPr>
          <a:xfrm>
            <a:off x="411480" y="4434840"/>
            <a:ext cx="11338560" cy="274320"/>
          </a:xfrm>
          <a:prstGeom prst="rect">
            <a:avLst/>
          </a:prstGeom>
          <a:noFill/>
          <a:ln/>
        </p:spPr>
        <p:txBody>
          <a:bodyPr wrap="square" rtlCol="0" anchor="ctr"/>
          <a:lstStyle/>
          <a:p>
            <a:pPr algn="ctr" indent="0" marL="0">
              <a:buNone/>
            </a:pPr>
            <a:r>
              <a:rPr lang="en-US" sz="1100" b="1" spc="200" kern="0" dirty="0">
                <a:solidFill>
                  <a:srgbClr val="0D9488"/>
                </a:solidFill>
                <a:latin typeface="Segoe UI" pitchFamily="34" charset="0"/>
                <a:ea typeface="Segoe UI" pitchFamily="34" charset="-122"/>
                <a:cs typeface="Segoe UI" pitchFamily="34" charset="-120"/>
              </a:rPr>
              <a:t>WHAT WE BUILT</a:t>
            </a:r>
            <a:endParaRPr lang="en-US" sz="1100" dirty="0"/>
          </a:p>
        </p:txBody>
      </p:sp>
      <p:sp>
        <p:nvSpPr>
          <p:cNvPr id="20" name="Shape 18"/>
          <p:cNvSpPr/>
          <p:nvPr/>
        </p:nvSpPr>
        <p:spPr>
          <a:xfrm>
            <a:off x="411480" y="4754880"/>
            <a:ext cx="3611880" cy="1371600"/>
          </a:xfrm>
          <a:prstGeom prst="roundRect">
            <a:avLst>
              <a:gd name="adj" fmla="val 4000"/>
            </a:avLst>
          </a:prstGeom>
          <a:solidFill>
            <a:srgbClr val="0D9488"/>
          </a:solidFill>
          <a:ln w="12700">
            <a:solidFill>
              <a:srgbClr val="0D9488"/>
            </a:solidFill>
            <a:prstDash val="solid"/>
          </a:ln>
          <a:effectLst>
            <a:outerShdw sx="100000" sy="100000" kx="0" ky="0" algn="bl" rotWithShape="0" blurRad="50800" dist="25400" dir="5400000">
              <a:srgbClr val="0B2545">
                <a:alpha val="10000"/>
              </a:srgbClr>
            </a:outerShdw>
          </a:effectLst>
        </p:spPr>
      </p:sp>
      <p:sp>
        <p:nvSpPr>
          <p:cNvPr id="21" name="Text 19"/>
          <p:cNvSpPr/>
          <p:nvPr/>
        </p:nvSpPr>
        <p:spPr>
          <a:xfrm>
            <a:off x="640080" y="4892040"/>
            <a:ext cx="3154680" cy="365760"/>
          </a:xfrm>
          <a:prstGeom prst="rect">
            <a:avLst/>
          </a:prstGeom>
          <a:noFill/>
          <a:ln/>
        </p:spPr>
        <p:txBody>
          <a:bodyPr wrap="square" rtlCol="0" anchor="ctr"/>
          <a:lstStyle/>
          <a:p>
            <a:pPr indent="0" marL="0">
              <a:buNone/>
            </a:pPr>
            <a:r>
              <a:rPr lang="en-US" sz="1450" b="1" dirty="0">
                <a:solidFill>
                  <a:srgbClr val="FFFFFF"/>
                </a:solidFill>
                <a:latin typeface="Segoe UI" pitchFamily="34" charset="0"/>
                <a:ea typeface="Segoe UI" pitchFamily="34" charset="-122"/>
                <a:cs typeface="Segoe UI" pitchFamily="34" charset="-120"/>
              </a:rPr>
              <a:t>One structured platform</a:t>
            </a:r>
            <a:endParaRPr lang="en-US" sz="1450" dirty="0"/>
          </a:p>
        </p:txBody>
      </p:sp>
      <p:sp>
        <p:nvSpPr>
          <p:cNvPr id="22" name="Text 20"/>
          <p:cNvSpPr/>
          <p:nvPr/>
        </p:nvSpPr>
        <p:spPr>
          <a:xfrm>
            <a:off x="640080" y="5285232"/>
            <a:ext cx="3154680" cy="731520"/>
          </a:xfrm>
          <a:prstGeom prst="rect">
            <a:avLst/>
          </a:prstGeom>
          <a:noFill/>
          <a:ln/>
        </p:spPr>
        <p:txBody>
          <a:bodyPr wrap="square" rtlCol="0" anchor="ctr"/>
          <a:lstStyle/>
          <a:p>
            <a:pPr indent="0" marL="0">
              <a:lnSpc>
                <a:spcPts val="1500"/>
              </a:lnSpc>
              <a:buNone/>
            </a:pPr>
            <a:r>
              <a:rPr lang="en-US" sz="1100" dirty="0">
                <a:solidFill>
                  <a:srgbClr val="E6F7F4"/>
                </a:solidFill>
                <a:latin typeface="Segoe UI" pitchFamily="34" charset="0"/>
                <a:ea typeface="Segoe UI" pitchFamily="34" charset="-122"/>
                <a:cs typeface="Segoe UI" pitchFamily="34" charset="-120"/>
              </a:rPr>
              <a:t>Report with photo + GPS in under a minute.</a:t>
            </a:r>
            <a:endParaRPr lang="en-US" sz="1100" dirty="0"/>
          </a:p>
        </p:txBody>
      </p:sp>
      <p:sp>
        <p:nvSpPr>
          <p:cNvPr id="23" name="Shape 21"/>
          <p:cNvSpPr/>
          <p:nvPr/>
        </p:nvSpPr>
        <p:spPr>
          <a:xfrm>
            <a:off x="4270248" y="4754880"/>
            <a:ext cx="3611880" cy="1371600"/>
          </a:xfrm>
          <a:prstGeom prst="roundRect">
            <a:avLst>
              <a:gd name="adj" fmla="val 4000"/>
            </a:avLst>
          </a:prstGeom>
          <a:solidFill>
            <a:srgbClr val="0D9488"/>
          </a:solidFill>
          <a:ln w="12700">
            <a:solidFill>
              <a:srgbClr val="0D9488"/>
            </a:solidFill>
            <a:prstDash val="solid"/>
          </a:ln>
          <a:effectLst>
            <a:outerShdw sx="100000" sy="100000" kx="0" ky="0" algn="bl" rotWithShape="0" blurRad="50800" dist="25400" dir="5400000">
              <a:srgbClr val="0B2545">
                <a:alpha val="10000"/>
              </a:srgbClr>
            </a:outerShdw>
          </a:effectLst>
        </p:spPr>
      </p:sp>
      <p:sp>
        <p:nvSpPr>
          <p:cNvPr id="24" name="Text 22"/>
          <p:cNvSpPr/>
          <p:nvPr/>
        </p:nvSpPr>
        <p:spPr>
          <a:xfrm>
            <a:off x="4498848" y="4892040"/>
            <a:ext cx="3154680" cy="365760"/>
          </a:xfrm>
          <a:prstGeom prst="rect">
            <a:avLst/>
          </a:prstGeom>
          <a:noFill/>
          <a:ln/>
        </p:spPr>
        <p:txBody>
          <a:bodyPr wrap="square" rtlCol="0" anchor="ctr"/>
          <a:lstStyle/>
          <a:p>
            <a:pPr indent="0" marL="0">
              <a:buNone/>
            </a:pPr>
            <a:r>
              <a:rPr lang="en-US" sz="1450" b="1" dirty="0">
                <a:solidFill>
                  <a:srgbClr val="FFFFFF"/>
                </a:solidFill>
                <a:latin typeface="Segoe UI" pitchFamily="34" charset="0"/>
                <a:ea typeface="Segoe UI" pitchFamily="34" charset="-122"/>
                <a:cs typeface="Segoe UI" pitchFamily="34" charset="-120"/>
              </a:rPr>
              <a:t>Real-time tracking</a:t>
            </a:r>
            <a:endParaRPr lang="en-US" sz="1450" dirty="0"/>
          </a:p>
        </p:txBody>
      </p:sp>
      <p:sp>
        <p:nvSpPr>
          <p:cNvPr id="25" name="Text 23"/>
          <p:cNvSpPr/>
          <p:nvPr/>
        </p:nvSpPr>
        <p:spPr>
          <a:xfrm>
            <a:off x="4498848" y="5285232"/>
            <a:ext cx="3154680" cy="731520"/>
          </a:xfrm>
          <a:prstGeom prst="rect">
            <a:avLst/>
          </a:prstGeom>
          <a:noFill/>
          <a:ln/>
        </p:spPr>
        <p:txBody>
          <a:bodyPr wrap="square" rtlCol="0" anchor="ctr"/>
          <a:lstStyle/>
          <a:p>
            <a:pPr indent="0" marL="0">
              <a:lnSpc>
                <a:spcPts val="1500"/>
              </a:lnSpc>
              <a:buNone/>
            </a:pPr>
            <a:r>
              <a:rPr lang="en-US" sz="1100" dirty="0">
                <a:solidFill>
                  <a:srgbClr val="E6F7F4"/>
                </a:solidFill>
                <a:latin typeface="Segoe UI" pitchFamily="34" charset="0"/>
                <a:ea typeface="Segoe UI" pitchFamily="34" charset="-122"/>
                <a:cs typeface="Segoe UI" pitchFamily="34" charset="-120"/>
              </a:rPr>
              <a:t>Every status change is notified, stored and visible.</a:t>
            </a:r>
            <a:endParaRPr lang="en-US" sz="1100" dirty="0"/>
          </a:p>
        </p:txBody>
      </p:sp>
      <p:sp>
        <p:nvSpPr>
          <p:cNvPr id="26" name="Shape 24"/>
          <p:cNvSpPr/>
          <p:nvPr/>
        </p:nvSpPr>
        <p:spPr>
          <a:xfrm>
            <a:off x="8129016" y="4754880"/>
            <a:ext cx="3611880" cy="1371600"/>
          </a:xfrm>
          <a:prstGeom prst="roundRect">
            <a:avLst>
              <a:gd name="adj" fmla="val 4000"/>
            </a:avLst>
          </a:prstGeom>
          <a:solidFill>
            <a:srgbClr val="0D9488"/>
          </a:solidFill>
          <a:ln w="12700">
            <a:solidFill>
              <a:srgbClr val="0D9488"/>
            </a:solidFill>
            <a:prstDash val="solid"/>
          </a:ln>
          <a:effectLst>
            <a:outerShdw sx="100000" sy="100000" kx="0" ky="0" algn="bl" rotWithShape="0" blurRad="50800" dist="25400" dir="5400000">
              <a:srgbClr val="0B2545">
                <a:alpha val="10000"/>
              </a:srgbClr>
            </a:outerShdw>
          </a:effectLst>
        </p:spPr>
      </p:sp>
      <p:sp>
        <p:nvSpPr>
          <p:cNvPr id="27" name="Text 25"/>
          <p:cNvSpPr/>
          <p:nvPr/>
        </p:nvSpPr>
        <p:spPr>
          <a:xfrm>
            <a:off x="8357616" y="4892040"/>
            <a:ext cx="3154680" cy="365760"/>
          </a:xfrm>
          <a:prstGeom prst="rect">
            <a:avLst/>
          </a:prstGeom>
          <a:noFill/>
          <a:ln/>
        </p:spPr>
        <p:txBody>
          <a:bodyPr wrap="square" rtlCol="0" anchor="ctr"/>
          <a:lstStyle/>
          <a:p>
            <a:pPr indent="0" marL="0">
              <a:buNone/>
            </a:pPr>
            <a:r>
              <a:rPr lang="en-US" sz="1450" b="1" dirty="0">
                <a:solidFill>
                  <a:srgbClr val="FFFFFF"/>
                </a:solidFill>
                <a:latin typeface="Segoe UI" pitchFamily="34" charset="0"/>
                <a:ea typeface="Segoe UI" pitchFamily="34" charset="-122"/>
                <a:cs typeface="Segoe UI" pitchFamily="34" charset="-120"/>
              </a:rPr>
              <a:t>Proof-based resolution</a:t>
            </a:r>
            <a:endParaRPr lang="en-US" sz="1450" dirty="0"/>
          </a:p>
        </p:txBody>
      </p:sp>
      <p:sp>
        <p:nvSpPr>
          <p:cNvPr id="28" name="Text 26"/>
          <p:cNvSpPr/>
          <p:nvPr/>
        </p:nvSpPr>
        <p:spPr>
          <a:xfrm>
            <a:off x="8357616" y="5285232"/>
            <a:ext cx="3154680" cy="731520"/>
          </a:xfrm>
          <a:prstGeom prst="rect">
            <a:avLst/>
          </a:prstGeom>
          <a:noFill/>
          <a:ln/>
        </p:spPr>
        <p:txBody>
          <a:bodyPr wrap="square" rtlCol="0" anchor="ctr"/>
          <a:lstStyle/>
          <a:p>
            <a:pPr indent="0" marL="0">
              <a:lnSpc>
                <a:spcPts val="1500"/>
              </a:lnSpc>
              <a:buNone/>
            </a:pPr>
            <a:r>
              <a:rPr lang="en-US" sz="1100" dirty="0">
                <a:solidFill>
                  <a:srgbClr val="E6F7F4"/>
                </a:solidFill>
                <a:latin typeface="Segoe UI" pitchFamily="34" charset="0"/>
                <a:ea typeface="Segoe UI" pitchFamily="34" charset="-122"/>
                <a:cs typeface="Segoe UI" pitchFamily="34" charset="-120"/>
              </a:rPr>
              <a:t>v1.1.0 mandates a resolution photo before closing (enforced at the backend).</a:t>
            </a:r>
            <a:endParaRPr lang="en-US" sz="1100" dirty="0"/>
          </a:p>
        </p:txBody>
      </p:sp>
      <p:sp>
        <p:nvSpPr>
          <p:cNvPr id="29" name="Text 27"/>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WHAT THE PLATFORM DOES</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Key features</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Built for four roles — Citizen, Authority/Admin, Field Officer and the general public.</a:t>
            </a:r>
            <a:endParaRPr lang="en-US" sz="1250" dirty="0"/>
          </a:p>
        </p:txBody>
      </p:sp>
      <p:sp>
        <p:nvSpPr>
          <p:cNvPr id="6" name="Shape 4"/>
          <p:cNvSpPr/>
          <p:nvPr/>
        </p:nvSpPr>
        <p:spPr>
          <a:xfrm>
            <a:off x="411480" y="1572768"/>
            <a:ext cx="5486400" cy="1417320"/>
          </a:xfrm>
          <a:prstGeom prst="roundRect">
            <a:avLst>
              <a:gd name="adj" fmla="val 3871"/>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7" name="Shape 5"/>
          <p:cNvSpPr/>
          <p:nvPr/>
        </p:nvSpPr>
        <p:spPr>
          <a:xfrm>
            <a:off x="612648" y="1847088"/>
            <a:ext cx="868680" cy="868680"/>
          </a:xfrm>
          <a:prstGeom prst="roundRect">
            <a:avLst>
              <a:gd name="adj" fmla="val 12632"/>
            </a:avLst>
          </a:prstGeom>
          <a:solidFill>
            <a:srgbClr val="E6F4F2"/>
          </a:solidFill>
          <a:ln w="12700">
            <a:solidFill>
              <a:srgbClr val="E6F4F2"/>
            </a:solidFill>
            <a:prstDash val="solid"/>
          </a:ln>
        </p:spPr>
      </p:sp>
      <p:sp>
        <p:nvSpPr>
          <p:cNvPr id="8" name="Text 6"/>
          <p:cNvSpPr/>
          <p:nvPr/>
        </p:nvSpPr>
        <p:spPr>
          <a:xfrm>
            <a:off x="612648" y="1847088"/>
            <a:ext cx="868680" cy="8686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1645920" y="1773936"/>
            <a:ext cx="4114800" cy="365760"/>
          </a:xfrm>
          <a:prstGeom prst="rect">
            <a:avLst/>
          </a:prstGeom>
          <a:noFill/>
          <a:ln/>
        </p:spPr>
        <p:txBody>
          <a:bodyPr wrap="square" rtlCol="0" anchor="ctr"/>
          <a:lstStyle/>
          <a:p>
            <a:pPr indent="0" marL="0">
              <a:buNone/>
            </a:pPr>
            <a:r>
              <a:rPr lang="en-US" sz="1450" b="1" dirty="0">
                <a:solidFill>
                  <a:srgbClr val="0B2545"/>
                </a:solidFill>
                <a:latin typeface="Segoe UI" pitchFamily="34" charset="0"/>
                <a:ea typeface="Segoe UI" pitchFamily="34" charset="-122"/>
                <a:cs typeface="Segoe UI" pitchFamily="34" charset="-120"/>
              </a:rPr>
              <a:t>Report with photo &amp; GPS</a:t>
            </a:r>
            <a:endParaRPr lang="en-US" sz="1450" dirty="0"/>
          </a:p>
        </p:txBody>
      </p:sp>
      <p:sp>
        <p:nvSpPr>
          <p:cNvPr id="10" name="Text 8"/>
          <p:cNvSpPr/>
          <p:nvPr/>
        </p:nvSpPr>
        <p:spPr>
          <a:xfrm>
            <a:off x="1645920" y="2176272"/>
            <a:ext cx="4114800" cy="685800"/>
          </a:xfrm>
          <a:prstGeom prst="rect">
            <a:avLst/>
          </a:prstGeom>
          <a:noFill/>
          <a:ln/>
        </p:spPr>
        <p:txBody>
          <a:bodyPr wrap="square" rtlCol="0" anchor="ctr"/>
          <a:lstStyle/>
          <a:p>
            <a:pPr indent="0" marL="0">
              <a:lnSpc>
                <a:spcPts val="1500"/>
              </a:lnSpc>
              <a:buNone/>
            </a:pPr>
            <a:r>
              <a:rPr lang="en-US" sz="1100" dirty="0">
                <a:solidFill>
                  <a:srgbClr val="5B6B7C"/>
                </a:solidFill>
                <a:latin typeface="Segoe UI" pitchFamily="34" charset="0"/>
                <a:ea typeface="Segoe UI" pitchFamily="34" charset="-122"/>
                <a:cs typeface="Segoe UI" pitchFamily="34" charset="-120"/>
              </a:rPr>
              <a:t>Compressed JPG uploads to Cloudinary; only URLs stored.</a:t>
            </a:r>
            <a:endParaRPr lang="en-US" sz="1100" dirty="0"/>
          </a:p>
        </p:txBody>
      </p:sp>
      <p:sp>
        <p:nvSpPr>
          <p:cNvPr id="11" name="Shape 9"/>
          <p:cNvSpPr/>
          <p:nvPr/>
        </p:nvSpPr>
        <p:spPr>
          <a:xfrm>
            <a:off x="6126480" y="1572768"/>
            <a:ext cx="5486400" cy="1417320"/>
          </a:xfrm>
          <a:prstGeom prst="roundRect">
            <a:avLst>
              <a:gd name="adj" fmla="val 3871"/>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2" name="Shape 10"/>
          <p:cNvSpPr/>
          <p:nvPr/>
        </p:nvSpPr>
        <p:spPr>
          <a:xfrm>
            <a:off x="6327648" y="1847088"/>
            <a:ext cx="868680" cy="868680"/>
          </a:xfrm>
          <a:prstGeom prst="roundRect">
            <a:avLst>
              <a:gd name="adj" fmla="val 12632"/>
            </a:avLst>
          </a:prstGeom>
          <a:solidFill>
            <a:srgbClr val="E6F4F2"/>
          </a:solidFill>
          <a:ln w="12700">
            <a:solidFill>
              <a:srgbClr val="E6F4F2"/>
            </a:solidFill>
            <a:prstDash val="solid"/>
          </a:ln>
        </p:spPr>
      </p:sp>
      <p:sp>
        <p:nvSpPr>
          <p:cNvPr id="13" name="Text 11"/>
          <p:cNvSpPr/>
          <p:nvPr/>
        </p:nvSpPr>
        <p:spPr>
          <a:xfrm>
            <a:off x="6327648" y="1847088"/>
            <a:ext cx="868680" cy="8686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7360920" y="1773936"/>
            <a:ext cx="4114800" cy="365760"/>
          </a:xfrm>
          <a:prstGeom prst="rect">
            <a:avLst/>
          </a:prstGeom>
          <a:noFill/>
          <a:ln/>
        </p:spPr>
        <p:txBody>
          <a:bodyPr wrap="square" rtlCol="0" anchor="ctr"/>
          <a:lstStyle/>
          <a:p>
            <a:pPr indent="0" marL="0">
              <a:buNone/>
            </a:pPr>
            <a:r>
              <a:rPr lang="en-US" sz="1450" b="1" dirty="0">
                <a:solidFill>
                  <a:srgbClr val="0B2545"/>
                </a:solidFill>
                <a:latin typeface="Segoe UI" pitchFamily="34" charset="0"/>
                <a:ea typeface="Segoe UI" pitchFamily="34" charset="-122"/>
                <a:cs typeface="Segoe UI" pitchFamily="34" charset="-120"/>
              </a:rPr>
              <a:t>Hotspot heatmap</a:t>
            </a:r>
            <a:endParaRPr lang="en-US" sz="1450" dirty="0"/>
          </a:p>
        </p:txBody>
      </p:sp>
      <p:sp>
        <p:nvSpPr>
          <p:cNvPr id="15" name="Text 13"/>
          <p:cNvSpPr/>
          <p:nvPr/>
        </p:nvSpPr>
        <p:spPr>
          <a:xfrm>
            <a:off x="7360920" y="2176272"/>
            <a:ext cx="4114800" cy="685800"/>
          </a:xfrm>
          <a:prstGeom prst="rect">
            <a:avLst/>
          </a:prstGeom>
          <a:noFill/>
          <a:ln/>
        </p:spPr>
        <p:txBody>
          <a:bodyPr wrap="square" rtlCol="0" anchor="ctr"/>
          <a:lstStyle/>
          <a:p>
            <a:pPr indent="0" marL="0">
              <a:lnSpc>
                <a:spcPts val="1500"/>
              </a:lnSpc>
              <a:buNone/>
            </a:pPr>
            <a:r>
              <a:rPr lang="en-US" sz="1100" dirty="0">
                <a:solidFill>
                  <a:srgbClr val="5B6B7C"/>
                </a:solidFill>
                <a:latin typeface="Segoe UI" pitchFamily="34" charset="0"/>
                <a:ea typeface="Segoe UI" pitchFamily="34" charset="-122"/>
                <a:cs typeface="Segoe UI" pitchFamily="34" charset="-120"/>
              </a:rPr>
              <a:t>Admin analytics over complaint density, status and priority.</a:t>
            </a:r>
            <a:endParaRPr lang="en-US" sz="1100" dirty="0"/>
          </a:p>
        </p:txBody>
      </p:sp>
      <p:sp>
        <p:nvSpPr>
          <p:cNvPr id="16" name="Shape 14"/>
          <p:cNvSpPr/>
          <p:nvPr/>
        </p:nvSpPr>
        <p:spPr>
          <a:xfrm>
            <a:off x="411480" y="3200400"/>
            <a:ext cx="5486400" cy="1417320"/>
          </a:xfrm>
          <a:prstGeom prst="roundRect">
            <a:avLst>
              <a:gd name="adj" fmla="val 3871"/>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7" name="Shape 15"/>
          <p:cNvSpPr/>
          <p:nvPr/>
        </p:nvSpPr>
        <p:spPr>
          <a:xfrm>
            <a:off x="612648" y="3474720"/>
            <a:ext cx="868680" cy="868680"/>
          </a:xfrm>
          <a:prstGeom prst="roundRect">
            <a:avLst>
              <a:gd name="adj" fmla="val 12632"/>
            </a:avLst>
          </a:prstGeom>
          <a:solidFill>
            <a:srgbClr val="E6F4F2"/>
          </a:solidFill>
          <a:ln w="12700">
            <a:solidFill>
              <a:srgbClr val="E6F4F2"/>
            </a:solidFill>
            <a:prstDash val="solid"/>
          </a:ln>
        </p:spPr>
      </p:sp>
      <p:sp>
        <p:nvSpPr>
          <p:cNvPr id="18" name="Text 16"/>
          <p:cNvSpPr/>
          <p:nvPr/>
        </p:nvSpPr>
        <p:spPr>
          <a:xfrm>
            <a:off x="612648" y="3474720"/>
            <a:ext cx="868680" cy="8686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1645920" y="3401568"/>
            <a:ext cx="4114800" cy="365760"/>
          </a:xfrm>
          <a:prstGeom prst="rect">
            <a:avLst/>
          </a:prstGeom>
          <a:noFill/>
          <a:ln/>
        </p:spPr>
        <p:txBody>
          <a:bodyPr wrap="square" rtlCol="0" anchor="ctr"/>
          <a:lstStyle/>
          <a:p>
            <a:pPr indent="0" marL="0">
              <a:buNone/>
            </a:pPr>
            <a:r>
              <a:rPr lang="en-US" sz="1450" b="1" dirty="0">
                <a:solidFill>
                  <a:srgbClr val="0B2545"/>
                </a:solidFill>
                <a:latin typeface="Segoe UI" pitchFamily="34" charset="0"/>
                <a:ea typeface="Segoe UI" pitchFamily="34" charset="-122"/>
                <a:cs typeface="Segoe UI" pitchFamily="34" charset="-120"/>
              </a:rPr>
              <a:t>Assign to field officers</a:t>
            </a:r>
            <a:endParaRPr lang="en-US" sz="1450" dirty="0"/>
          </a:p>
        </p:txBody>
      </p:sp>
      <p:sp>
        <p:nvSpPr>
          <p:cNvPr id="20" name="Text 18"/>
          <p:cNvSpPr/>
          <p:nvPr/>
        </p:nvSpPr>
        <p:spPr>
          <a:xfrm>
            <a:off x="1645920" y="3803904"/>
            <a:ext cx="4114800" cy="685800"/>
          </a:xfrm>
          <a:prstGeom prst="rect">
            <a:avLst/>
          </a:prstGeom>
          <a:noFill/>
          <a:ln/>
        </p:spPr>
        <p:txBody>
          <a:bodyPr wrap="square" rtlCol="0" anchor="ctr"/>
          <a:lstStyle/>
          <a:p>
            <a:pPr indent="0" marL="0">
              <a:lnSpc>
                <a:spcPts val="1500"/>
              </a:lnSpc>
              <a:buNone/>
            </a:pPr>
            <a:r>
              <a:rPr lang="en-US" sz="1100" dirty="0">
                <a:solidFill>
                  <a:srgbClr val="5B6B7C"/>
                </a:solidFill>
                <a:latin typeface="Segoe UI" pitchFamily="34" charset="0"/>
                <a:ea typeface="Segoe UI" pitchFamily="34" charset="-122"/>
                <a:cs typeface="Segoe UI" pitchFamily="34" charset="-120"/>
              </a:rPr>
              <a:t>Admin assigns; officers see only their own queue.</a:t>
            </a:r>
            <a:endParaRPr lang="en-US" sz="1100" dirty="0"/>
          </a:p>
        </p:txBody>
      </p:sp>
      <p:sp>
        <p:nvSpPr>
          <p:cNvPr id="21" name="Shape 19"/>
          <p:cNvSpPr/>
          <p:nvPr/>
        </p:nvSpPr>
        <p:spPr>
          <a:xfrm>
            <a:off x="6126480" y="3200400"/>
            <a:ext cx="5486400" cy="1417320"/>
          </a:xfrm>
          <a:prstGeom prst="roundRect">
            <a:avLst>
              <a:gd name="adj" fmla="val 3871"/>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2" name="Shape 20"/>
          <p:cNvSpPr/>
          <p:nvPr/>
        </p:nvSpPr>
        <p:spPr>
          <a:xfrm>
            <a:off x="6327648" y="3474720"/>
            <a:ext cx="868680" cy="868680"/>
          </a:xfrm>
          <a:prstGeom prst="roundRect">
            <a:avLst>
              <a:gd name="adj" fmla="val 12632"/>
            </a:avLst>
          </a:prstGeom>
          <a:solidFill>
            <a:srgbClr val="E6F4F2"/>
          </a:solidFill>
          <a:ln w="12700">
            <a:solidFill>
              <a:srgbClr val="E6F4F2"/>
            </a:solidFill>
            <a:prstDash val="solid"/>
          </a:ln>
        </p:spPr>
      </p:sp>
      <p:sp>
        <p:nvSpPr>
          <p:cNvPr id="23" name="Text 21"/>
          <p:cNvSpPr/>
          <p:nvPr/>
        </p:nvSpPr>
        <p:spPr>
          <a:xfrm>
            <a:off x="6327648" y="3474720"/>
            <a:ext cx="868680" cy="8686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4" name="Text 22"/>
          <p:cNvSpPr/>
          <p:nvPr/>
        </p:nvSpPr>
        <p:spPr>
          <a:xfrm>
            <a:off x="7360920" y="3401568"/>
            <a:ext cx="4114800" cy="365760"/>
          </a:xfrm>
          <a:prstGeom prst="rect">
            <a:avLst/>
          </a:prstGeom>
          <a:noFill/>
          <a:ln/>
        </p:spPr>
        <p:txBody>
          <a:bodyPr wrap="square" rtlCol="0" anchor="ctr"/>
          <a:lstStyle/>
          <a:p>
            <a:pPr indent="0" marL="0">
              <a:buNone/>
            </a:pPr>
            <a:r>
              <a:rPr lang="en-US" sz="1450" b="1" dirty="0">
                <a:solidFill>
                  <a:srgbClr val="0B2545"/>
                </a:solidFill>
                <a:latin typeface="Segoe UI" pitchFamily="34" charset="0"/>
                <a:ea typeface="Segoe UI" pitchFamily="34" charset="-122"/>
                <a:cs typeface="Segoe UI" pitchFamily="34" charset="-120"/>
              </a:rPr>
              <a:t>Resolution proof (v1.1.0)</a:t>
            </a:r>
            <a:endParaRPr lang="en-US" sz="1450" dirty="0"/>
          </a:p>
        </p:txBody>
      </p:sp>
      <p:sp>
        <p:nvSpPr>
          <p:cNvPr id="25" name="Text 23"/>
          <p:cNvSpPr/>
          <p:nvPr/>
        </p:nvSpPr>
        <p:spPr>
          <a:xfrm>
            <a:off x="7360920" y="3803904"/>
            <a:ext cx="4114800" cy="685800"/>
          </a:xfrm>
          <a:prstGeom prst="rect">
            <a:avLst/>
          </a:prstGeom>
          <a:noFill/>
          <a:ln/>
        </p:spPr>
        <p:txBody>
          <a:bodyPr wrap="square" rtlCol="0" anchor="ctr"/>
          <a:lstStyle/>
          <a:p>
            <a:pPr indent="0" marL="0">
              <a:lnSpc>
                <a:spcPts val="1500"/>
              </a:lnSpc>
              <a:buNone/>
            </a:pPr>
            <a:r>
              <a:rPr lang="en-US" sz="1100" dirty="0">
                <a:solidFill>
                  <a:srgbClr val="5B6B7C"/>
                </a:solidFill>
                <a:latin typeface="Segoe UI" pitchFamily="34" charset="0"/>
                <a:ea typeface="Segoe UI" pitchFamily="34" charset="-122"/>
                <a:cs typeface="Segoe UI" pitchFamily="34" charset="-120"/>
              </a:rPr>
              <a:t>Mandatory proof photo before a complaint is RESOLVED.</a:t>
            </a:r>
            <a:endParaRPr lang="en-US" sz="1100" dirty="0"/>
          </a:p>
        </p:txBody>
      </p:sp>
      <p:sp>
        <p:nvSpPr>
          <p:cNvPr id="26" name="Shape 24"/>
          <p:cNvSpPr/>
          <p:nvPr/>
        </p:nvSpPr>
        <p:spPr>
          <a:xfrm>
            <a:off x="411480" y="4828032"/>
            <a:ext cx="5486400" cy="1417320"/>
          </a:xfrm>
          <a:prstGeom prst="roundRect">
            <a:avLst>
              <a:gd name="adj" fmla="val 3871"/>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7" name="Shape 25"/>
          <p:cNvSpPr/>
          <p:nvPr/>
        </p:nvSpPr>
        <p:spPr>
          <a:xfrm>
            <a:off x="612648" y="5102352"/>
            <a:ext cx="868680" cy="868680"/>
          </a:xfrm>
          <a:prstGeom prst="roundRect">
            <a:avLst>
              <a:gd name="adj" fmla="val 12632"/>
            </a:avLst>
          </a:prstGeom>
          <a:solidFill>
            <a:srgbClr val="E6F4F2"/>
          </a:solidFill>
          <a:ln w="12700">
            <a:solidFill>
              <a:srgbClr val="E6F4F2"/>
            </a:solidFill>
            <a:prstDash val="solid"/>
          </a:ln>
        </p:spPr>
      </p:sp>
      <p:sp>
        <p:nvSpPr>
          <p:cNvPr id="28" name="Text 26"/>
          <p:cNvSpPr/>
          <p:nvPr/>
        </p:nvSpPr>
        <p:spPr>
          <a:xfrm>
            <a:off x="612648" y="5102352"/>
            <a:ext cx="868680" cy="8686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9" name="Text 27"/>
          <p:cNvSpPr/>
          <p:nvPr/>
        </p:nvSpPr>
        <p:spPr>
          <a:xfrm>
            <a:off x="1645920" y="5029200"/>
            <a:ext cx="4114800" cy="365760"/>
          </a:xfrm>
          <a:prstGeom prst="rect">
            <a:avLst/>
          </a:prstGeom>
          <a:noFill/>
          <a:ln/>
        </p:spPr>
        <p:txBody>
          <a:bodyPr wrap="square" rtlCol="0" anchor="ctr"/>
          <a:lstStyle/>
          <a:p>
            <a:pPr indent="0" marL="0">
              <a:buNone/>
            </a:pPr>
            <a:r>
              <a:rPr lang="en-US" sz="1450" b="1" dirty="0">
                <a:solidFill>
                  <a:srgbClr val="0B2545"/>
                </a:solidFill>
                <a:latin typeface="Segoe UI" pitchFamily="34" charset="0"/>
                <a:ea typeface="Segoe UI" pitchFamily="34" charset="-122"/>
                <a:cs typeface="Segoe UI" pitchFamily="34" charset="-120"/>
              </a:rPr>
              <a:t>Event-driven notifications</a:t>
            </a:r>
            <a:endParaRPr lang="en-US" sz="1450" dirty="0"/>
          </a:p>
        </p:txBody>
      </p:sp>
      <p:sp>
        <p:nvSpPr>
          <p:cNvPr id="30" name="Text 28"/>
          <p:cNvSpPr/>
          <p:nvPr/>
        </p:nvSpPr>
        <p:spPr>
          <a:xfrm>
            <a:off x="1645920" y="5431536"/>
            <a:ext cx="4114800" cy="685800"/>
          </a:xfrm>
          <a:prstGeom prst="rect">
            <a:avLst/>
          </a:prstGeom>
          <a:noFill/>
          <a:ln/>
        </p:spPr>
        <p:txBody>
          <a:bodyPr wrap="square" rtlCol="0" anchor="ctr"/>
          <a:lstStyle/>
          <a:p>
            <a:pPr indent="0" marL="0">
              <a:lnSpc>
                <a:spcPts val="1500"/>
              </a:lnSpc>
              <a:buNone/>
            </a:pPr>
            <a:r>
              <a:rPr lang="en-US" sz="1100" dirty="0">
                <a:solidFill>
                  <a:srgbClr val="5B6B7C"/>
                </a:solidFill>
                <a:latin typeface="Segoe UI" pitchFamily="34" charset="0"/>
                <a:ea typeface="Segoe UI" pitchFamily="34" charset="-122"/>
                <a:cs typeface="Segoe UI" pitchFamily="34" charset="-120"/>
              </a:rPr>
              <a:t>RabbitMQ → in-app notifications + EmailJS emails.</a:t>
            </a:r>
            <a:endParaRPr lang="en-US" sz="1100" dirty="0"/>
          </a:p>
        </p:txBody>
      </p:sp>
      <p:sp>
        <p:nvSpPr>
          <p:cNvPr id="31" name="Shape 29"/>
          <p:cNvSpPr/>
          <p:nvPr/>
        </p:nvSpPr>
        <p:spPr>
          <a:xfrm>
            <a:off x="6126480" y="4828032"/>
            <a:ext cx="5486400" cy="1417320"/>
          </a:xfrm>
          <a:prstGeom prst="roundRect">
            <a:avLst>
              <a:gd name="adj" fmla="val 3871"/>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32" name="Shape 30"/>
          <p:cNvSpPr/>
          <p:nvPr/>
        </p:nvSpPr>
        <p:spPr>
          <a:xfrm>
            <a:off x="6327648" y="5102352"/>
            <a:ext cx="868680" cy="868680"/>
          </a:xfrm>
          <a:prstGeom prst="roundRect">
            <a:avLst>
              <a:gd name="adj" fmla="val 12632"/>
            </a:avLst>
          </a:prstGeom>
          <a:solidFill>
            <a:srgbClr val="E6F4F2"/>
          </a:solidFill>
          <a:ln w="12700">
            <a:solidFill>
              <a:srgbClr val="E6F4F2"/>
            </a:solidFill>
            <a:prstDash val="solid"/>
          </a:ln>
        </p:spPr>
      </p:sp>
      <p:sp>
        <p:nvSpPr>
          <p:cNvPr id="33" name="Text 31"/>
          <p:cNvSpPr/>
          <p:nvPr/>
        </p:nvSpPr>
        <p:spPr>
          <a:xfrm>
            <a:off x="6327648" y="5102352"/>
            <a:ext cx="868680" cy="8686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4" name="Text 32"/>
          <p:cNvSpPr/>
          <p:nvPr/>
        </p:nvSpPr>
        <p:spPr>
          <a:xfrm>
            <a:off x="7360920" y="5029200"/>
            <a:ext cx="4114800" cy="365760"/>
          </a:xfrm>
          <a:prstGeom prst="rect">
            <a:avLst/>
          </a:prstGeom>
          <a:noFill/>
          <a:ln/>
        </p:spPr>
        <p:txBody>
          <a:bodyPr wrap="square" rtlCol="0" anchor="ctr"/>
          <a:lstStyle/>
          <a:p>
            <a:pPr indent="0" marL="0">
              <a:buNone/>
            </a:pPr>
            <a:r>
              <a:rPr lang="en-US" sz="1450" b="1" dirty="0">
                <a:solidFill>
                  <a:srgbClr val="0B2545"/>
                </a:solidFill>
                <a:latin typeface="Segoe UI" pitchFamily="34" charset="0"/>
                <a:ea typeface="Segoe UI" pitchFamily="34" charset="-122"/>
                <a:cs typeface="Segoe UI" pitchFamily="34" charset="-120"/>
              </a:rPr>
              <a:t>Community &amp; awareness</a:t>
            </a:r>
            <a:endParaRPr lang="en-US" sz="1450" dirty="0"/>
          </a:p>
        </p:txBody>
      </p:sp>
      <p:sp>
        <p:nvSpPr>
          <p:cNvPr id="35" name="Text 33"/>
          <p:cNvSpPr/>
          <p:nvPr/>
        </p:nvSpPr>
        <p:spPr>
          <a:xfrm>
            <a:off x="7360920" y="5431536"/>
            <a:ext cx="4114800" cy="685800"/>
          </a:xfrm>
          <a:prstGeom prst="rect">
            <a:avLst/>
          </a:prstGeom>
          <a:noFill/>
          <a:ln/>
        </p:spPr>
        <p:txBody>
          <a:bodyPr wrap="square" rtlCol="0" anchor="ctr"/>
          <a:lstStyle/>
          <a:p>
            <a:pPr indent="0" marL="0">
              <a:lnSpc>
                <a:spcPts val="1500"/>
              </a:lnSpc>
              <a:buNone/>
            </a:pPr>
            <a:r>
              <a:rPr lang="en-US" sz="1100" dirty="0">
                <a:solidFill>
                  <a:srgbClr val="5B6B7C"/>
                </a:solidFill>
                <a:latin typeface="Segoe UI" pitchFamily="34" charset="0"/>
                <a:ea typeface="Segoe UI" pitchFamily="34" charset="-122"/>
                <a:cs typeface="Segoe UI" pitchFamily="34" charset="-120"/>
              </a:rPr>
              <a:t>Events, articles, NGOs, lakes, STPs &amp; pipelines.</a:t>
            </a:r>
            <a:endParaRPr lang="en-US" sz="1100" dirty="0"/>
          </a:p>
        </p:txBody>
      </p:sp>
      <p:sp>
        <p:nvSpPr>
          <p:cNvPr id="36" name="Text 34"/>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HOW IT FITS TOGETHER</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System architecture</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Microservices behind a single API Gateway, with per-service databases and an event bus.</a:t>
            </a:r>
            <a:endParaRPr lang="en-US" sz="1250" dirty="0"/>
          </a:p>
        </p:txBody>
      </p:sp>
      <p:sp>
        <p:nvSpPr>
          <p:cNvPr id="6" name="Shape 4"/>
          <p:cNvSpPr/>
          <p:nvPr/>
        </p:nvSpPr>
        <p:spPr>
          <a:xfrm>
            <a:off x="2743200" y="1417320"/>
            <a:ext cx="6675120" cy="566928"/>
          </a:xfrm>
          <a:prstGeom prst="roundRect">
            <a:avLst>
              <a:gd name="adj" fmla="val 9677"/>
            </a:avLst>
          </a:prstGeom>
          <a:solidFill>
            <a:srgbClr val="0B2545"/>
          </a:solidFill>
          <a:ln w="12700">
            <a:solidFill>
              <a:srgbClr val="0B2545"/>
            </a:solidFill>
            <a:prstDash val="solid"/>
          </a:ln>
          <a:effectLst>
            <a:outerShdw sx="100000" sy="100000" kx="0" ky="0" algn="bl" rotWithShape="0" blurRad="50800" dist="25400" dir="5400000">
              <a:srgbClr val="0B2545">
                <a:alpha val="10000"/>
              </a:srgbClr>
            </a:outerShdw>
          </a:effectLst>
        </p:spPr>
      </p:sp>
      <p:sp>
        <p:nvSpPr>
          <p:cNvPr id="7" name="Text 5"/>
          <p:cNvSpPr/>
          <p:nvPr/>
        </p:nvSpPr>
        <p:spPr>
          <a:xfrm>
            <a:off x="2743200" y="1417320"/>
            <a:ext cx="4937760" cy="566928"/>
          </a:xfrm>
          <a:prstGeom prst="rect">
            <a:avLst/>
          </a:prstGeom>
          <a:noFill/>
          <a:ln/>
        </p:spPr>
        <p:txBody>
          <a:bodyPr wrap="square" rtlCol="0" anchor="ctr"/>
          <a:lstStyle/>
          <a:p>
            <a:pPr algn="ctr" indent="0" marL="0">
              <a:buNone/>
            </a:pPr>
            <a:r>
              <a:rPr lang="en-US" sz="1350" b="1" dirty="0">
                <a:solidFill>
                  <a:srgbClr val="FFFFFF"/>
                </a:solidFill>
                <a:latin typeface="Segoe UI" pitchFamily="34" charset="0"/>
                <a:ea typeface="Segoe UI" pitchFamily="34" charset="-122"/>
                <a:cs typeface="Segoe UI" pitchFamily="34" charset="-120"/>
              </a:rPr>
              <a:t>React + TypeScript Frontend</a:t>
            </a:r>
            <a:endParaRPr lang="en-US" sz="1350" dirty="0"/>
          </a:p>
        </p:txBody>
      </p:sp>
      <p:sp>
        <p:nvSpPr>
          <p:cNvPr id="8" name="Text 6"/>
          <p:cNvSpPr/>
          <p:nvPr/>
        </p:nvSpPr>
        <p:spPr>
          <a:xfrm>
            <a:off x="6537960" y="1417320"/>
            <a:ext cx="2788920" cy="566928"/>
          </a:xfrm>
          <a:prstGeom prst="rect">
            <a:avLst/>
          </a:prstGeom>
          <a:noFill/>
          <a:ln/>
        </p:spPr>
        <p:txBody>
          <a:bodyPr wrap="square" rtlCol="0" anchor="ctr"/>
          <a:lstStyle/>
          <a:p>
            <a:pPr algn="ctr" indent="0" marL="0">
              <a:buNone/>
            </a:pPr>
            <a:r>
              <a:rPr lang="en-US" sz="1050" dirty="0">
                <a:solidFill>
                  <a:srgbClr val="BFE3DD"/>
                </a:solidFill>
                <a:latin typeface="Segoe UI" pitchFamily="34" charset="0"/>
                <a:ea typeface="Segoe UI" pitchFamily="34" charset="-122"/>
                <a:cs typeface="Segoe UI" pitchFamily="34" charset="-120"/>
              </a:rPr>
              <a:t>Vercel · /api proxied to gateway</a:t>
            </a:r>
            <a:endParaRPr lang="en-US" sz="1050" dirty="0"/>
          </a:p>
        </p:txBody>
      </p:sp>
      <p:sp>
        <p:nvSpPr>
          <p:cNvPr id="9" name="Shape 7"/>
          <p:cNvSpPr/>
          <p:nvPr/>
        </p:nvSpPr>
        <p:spPr>
          <a:xfrm>
            <a:off x="5971032" y="2029968"/>
            <a:ext cx="256032" cy="310896"/>
          </a:xfrm>
          <a:prstGeom prst="downArrow">
            <a:avLst/>
          </a:prstGeom>
          <a:solidFill>
            <a:srgbClr val="0D9488"/>
          </a:solidFill>
          <a:ln w="12700">
            <a:solidFill>
              <a:srgbClr val="0D9488"/>
            </a:solidFill>
            <a:prstDash val="solid"/>
          </a:ln>
        </p:spPr>
      </p:sp>
      <p:sp>
        <p:nvSpPr>
          <p:cNvPr id="10" name="Shape 8"/>
          <p:cNvSpPr/>
          <p:nvPr/>
        </p:nvSpPr>
        <p:spPr>
          <a:xfrm>
            <a:off x="2011680" y="2377440"/>
            <a:ext cx="4572000" cy="566928"/>
          </a:xfrm>
          <a:prstGeom prst="roundRect">
            <a:avLst>
              <a:gd name="adj" fmla="val 9677"/>
            </a:avLst>
          </a:prstGeom>
          <a:solidFill>
            <a:srgbClr val="0D9488"/>
          </a:solidFill>
          <a:ln w="12700">
            <a:solidFill>
              <a:srgbClr val="0D9488"/>
            </a:solidFill>
            <a:prstDash val="solid"/>
          </a:ln>
          <a:effectLst>
            <a:outerShdw sx="100000" sy="100000" kx="0" ky="0" algn="bl" rotWithShape="0" blurRad="50800" dist="25400" dir="5400000">
              <a:srgbClr val="0B2545">
                <a:alpha val="10000"/>
              </a:srgbClr>
            </a:outerShdw>
          </a:effectLst>
        </p:spPr>
      </p:sp>
      <p:sp>
        <p:nvSpPr>
          <p:cNvPr id="11" name="Text 9"/>
          <p:cNvSpPr/>
          <p:nvPr/>
        </p:nvSpPr>
        <p:spPr>
          <a:xfrm>
            <a:off x="2011680" y="2377440"/>
            <a:ext cx="4572000" cy="566928"/>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Spring Cloud API Gateway  :8080</a:t>
            </a:r>
            <a:endParaRPr lang="en-US" sz="1300" dirty="0"/>
          </a:p>
        </p:txBody>
      </p:sp>
      <p:sp>
        <p:nvSpPr>
          <p:cNvPr id="12" name="Text 10"/>
          <p:cNvSpPr/>
          <p:nvPr/>
        </p:nvSpPr>
        <p:spPr>
          <a:xfrm>
            <a:off x="6720840" y="2377440"/>
            <a:ext cx="4754880" cy="566928"/>
          </a:xfrm>
          <a:prstGeom prst="rect">
            <a:avLst/>
          </a:prstGeom>
          <a:noFill/>
          <a:ln/>
        </p:spPr>
        <p:txBody>
          <a:bodyPr wrap="square" rtlCol="0" anchor="ctr"/>
          <a:lstStyle/>
          <a:p>
            <a:pPr indent="0" marL="0">
              <a:buNone/>
            </a:pPr>
            <a:r>
              <a:rPr lang="en-US" sz="1050" dirty="0">
                <a:solidFill>
                  <a:srgbClr val="5B6B7C"/>
                </a:solidFill>
                <a:latin typeface="Segoe UI" pitchFamily="34" charset="0"/>
                <a:ea typeface="Segoe UI" pitchFamily="34" charset="-122"/>
                <a:cs typeface="Segoe UI" pitchFamily="34" charset="-120"/>
              </a:rPr>
              <a:t>routes /api/v1/** · forwards JWT headers</a:t>
            </a:r>
            <a:endParaRPr lang="en-US" sz="1050" dirty="0"/>
          </a:p>
        </p:txBody>
      </p:sp>
      <p:sp>
        <p:nvSpPr>
          <p:cNvPr id="13" name="Shape 11"/>
          <p:cNvSpPr/>
          <p:nvPr/>
        </p:nvSpPr>
        <p:spPr>
          <a:xfrm>
            <a:off x="411480" y="3246120"/>
            <a:ext cx="2148840" cy="868680"/>
          </a:xfrm>
          <a:prstGeom prst="roundRect">
            <a:avLst>
              <a:gd name="adj" fmla="val 6316"/>
            </a:avLst>
          </a:prstGeom>
          <a:solidFill>
            <a:srgbClr val="FFF7E6"/>
          </a:solidFill>
          <a:ln w="12700">
            <a:solidFill>
              <a:srgbClr val="F0D9A8"/>
            </a:solidFill>
            <a:prstDash val="solid"/>
          </a:ln>
          <a:effectLst>
            <a:outerShdw sx="100000" sy="100000" kx="0" ky="0" algn="bl" rotWithShape="0" blurRad="50800" dist="25400" dir="5400000">
              <a:srgbClr val="0B2545">
                <a:alpha val="10000"/>
              </a:srgbClr>
            </a:outerShdw>
          </a:effectLst>
        </p:spPr>
      </p:sp>
      <p:sp>
        <p:nvSpPr>
          <p:cNvPr id="14" name="Text 12"/>
          <p:cNvSpPr/>
          <p:nvPr/>
        </p:nvSpPr>
        <p:spPr>
          <a:xfrm>
            <a:off x="411480" y="3346704"/>
            <a:ext cx="2148840" cy="320040"/>
          </a:xfrm>
          <a:prstGeom prst="rect">
            <a:avLst/>
          </a:prstGeom>
          <a:noFill/>
          <a:ln/>
        </p:spPr>
        <p:txBody>
          <a:bodyPr wrap="square" rtlCol="0" anchor="ctr"/>
          <a:lstStyle/>
          <a:p>
            <a:pPr algn="ctr" indent="0" marL="0">
              <a:buNone/>
            </a:pPr>
            <a:r>
              <a:rPr lang="en-US" sz="1200" b="1" dirty="0">
                <a:solidFill>
                  <a:srgbClr val="92600A"/>
                </a:solidFill>
                <a:latin typeface="Segoe UI" pitchFamily="34" charset="0"/>
                <a:ea typeface="Segoe UI" pitchFamily="34" charset="-122"/>
                <a:cs typeface="Segoe UI" pitchFamily="34" charset="-120"/>
              </a:rPr>
              <a:t>Eureka Discovery</a:t>
            </a:r>
            <a:endParaRPr lang="en-US" sz="1200" dirty="0"/>
          </a:p>
        </p:txBody>
      </p:sp>
      <p:sp>
        <p:nvSpPr>
          <p:cNvPr id="15" name="Text 13"/>
          <p:cNvSpPr/>
          <p:nvPr/>
        </p:nvSpPr>
        <p:spPr>
          <a:xfrm>
            <a:off x="411480" y="3657600"/>
            <a:ext cx="2148840" cy="320040"/>
          </a:xfrm>
          <a:prstGeom prst="rect">
            <a:avLst/>
          </a:prstGeom>
          <a:noFill/>
          <a:ln/>
        </p:spPr>
        <p:txBody>
          <a:bodyPr wrap="square" rtlCol="0" anchor="ctr"/>
          <a:lstStyle/>
          <a:p>
            <a:pPr algn="ctr" indent="0" marL="0">
              <a:buNone/>
            </a:pPr>
            <a:r>
              <a:rPr lang="en-US" sz="1000" dirty="0">
                <a:solidFill>
                  <a:srgbClr val="92600A"/>
                </a:solidFill>
                <a:latin typeface="Segoe UI" pitchFamily="34" charset="0"/>
                <a:ea typeface="Segoe UI" pitchFamily="34" charset="-122"/>
                <a:cs typeface="Segoe UI" pitchFamily="34" charset="-120"/>
              </a:rPr>
              <a:t>:8761 · service registry</a:t>
            </a:r>
            <a:endParaRPr lang="en-US" sz="1000" dirty="0"/>
          </a:p>
        </p:txBody>
      </p:sp>
      <p:sp>
        <p:nvSpPr>
          <p:cNvPr id="16" name="Shape 14"/>
          <p:cNvSpPr/>
          <p:nvPr/>
        </p:nvSpPr>
        <p:spPr>
          <a:xfrm>
            <a:off x="411480" y="3246120"/>
            <a:ext cx="2148840" cy="868680"/>
          </a:xfrm>
          <a:prstGeom prst="roundRect">
            <a:avLst>
              <a:gd name="adj" fmla="val 6316"/>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7" name="Text 15"/>
          <p:cNvSpPr/>
          <p:nvPr/>
        </p:nvSpPr>
        <p:spPr>
          <a:xfrm>
            <a:off x="411480" y="3346704"/>
            <a:ext cx="2148840" cy="320040"/>
          </a:xfrm>
          <a:prstGeom prst="rect">
            <a:avLst/>
          </a:prstGeom>
          <a:noFill/>
          <a:ln/>
        </p:spPr>
        <p:txBody>
          <a:bodyPr wrap="square" rtlCol="0" anchor="ctr"/>
          <a:lstStyle/>
          <a:p>
            <a:pPr algn="ctr" indent="0" marL="0">
              <a:buNone/>
            </a:pPr>
            <a:r>
              <a:rPr lang="en-US" sz="1200" b="1" dirty="0">
                <a:solidFill>
                  <a:srgbClr val="0B2545"/>
                </a:solidFill>
                <a:latin typeface="Segoe UI" pitchFamily="34" charset="0"/>
                <a:ea typeface="Segoe UI" pitchFamily="34" charset="-122"/>
                <a:cs typeface="Segoe UI" pitchFamily="34" charset="-120"/>
              </a:rPr>
              <a:t>Auth Service</a:t>
            </a:r>
            <a:endParaRPr lang="en-US" sz="1200" dirty="0"/>
          </a:p>
        </p:txBody>
      </p:sp>
      <p:sp>
        <p:nvSpPr>
          <p:cNvPr id="18" name="Text 16"/>
          <p:cNvSpPr/>
          <p:nvPr/>
        </p:nvSpPr>
        <p:spPr>
          <a:xfrm>
            <a:off x="411480" y="3657600"/>
            <a:ext cx="2148840" cy="320040"/>
          </a:xfrm>
          <a:prstGeom prst="rect">
            <a:avLst/>
          </a:prstGeom>
          <a:noFill/>
          <a:ln/>
        </p:spPr>
        <p:txBody>
          <a:bodyPr wrap="square" rtlCol="0" anchor="ctr"/>
          <a:lstStyle/>
          <a:p>
            <a:pPr algn="ctr" indent="0" marL="0">
              <a:buNone/>
            </a:pPr>
            <a:r>
              <a:rPr lang="en-US" sz="950" dirty="0">
                <a:solidFill>
                  <a:srgbClr val="5B6B7C"/>
                </a:solidFill>
                <a:latin typeface="Segoe UI" pitchFamily="34" charset="0"/>
                <a:ea typeface="Segoe UI" pitchFamily="34" charset="-122"/>
                <a:cs typeface="Segoe UI" pitchFamily="34" charset="-120"/>
              </a:rPr>
              <a:t>:8081  ·  JWT · OTP · roles</a:t>
            </a:r>
            <a:endParaRPr lang="en-US" sz="950" dirty="0"/>
          </a:p>
        </p:txBody>
      </p:sp>
      <p:sp>
        <p:nvSpPr>
          <p:cNvPr id="19" name="Shape 17"/>
          <p:cNvSpPr/>
          <p:nvPr/>
        </p:nvSpPr>
        <p:spPr>
          <a:xfrm>
            <a:off x="2587752" y="3593592"/>
            <a:ext cx="146304" cy="237744"/>
          </a:xfrm>
          <a:prstGeom prst="rightArrow">
            <a:avLst/>
          </a:prstGeom>
          <a:solidFill>
            <a:srgbClr val="B9C9D4"/>
          </a:solidFill>
          <a:ln w="12700">
            <a:solidFill>
              <a:srgbClr val="B9C9D4"/>
            </a:solidFill>
            <a:prstDash val="solid"/>
          </a:ln>
        </p:spPr>
      </p:sp>
      <p:sp>
        <p:nvSpPr>
          <p:cNvPr id="20" name="Shape 18"/>
          <p:cNvSpPr/>
          <p:nvPr/>
        </p:nvSpPr>
        <p:spPr>
          <a:xfrm>
            <a:off x="2743200" y="3246120"/>
            <a:ext cx="2148840" cy="868680"/>
          </a:xfrm>
          <a:prstGeom prst="roundRect">
            <a:avLst>
              <a:gd name="adj" fmla="val 6316"/>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1" name="Text 19"/>
          <p:cNvSpPr/>
          <p:nvPr/>
        </p:nvSpPr>
        <p:spPr>
          <a:xfrm>
            <a:off x="2743200" y="3346704"/>
            <a:ext cx="2148840" cy="320040"/>
          </a:xfrm>
          <a:prstGeom prst="rect">
            <a:avLst/>
          </a:prstGeom>
          <a:noFill/>
          <a:ln/>
        </p:spPr>
        <p:txBody>
          <a:bodyPr wrap="square" rtlCol="0" anchor="ctr"/>
          <a:lstStyle/>
          <a:p>
            <a:pPr algn="ctr" indent="0" marL="0">
              <a:buNone/>
            </a:pPr>
            <a:r>
              <a:rPr lang="en-US" sz="1200" b="1" dirty="0">
                <a:solidFill>
                  <a:srgbClr val="0B2545"/>
                </a:solidFill>
                <a:latin typeface="Segoe UI" pitchFamily="34" charset="0"/>
                <a:ea typeface="Segoe UI" pitchFamily="34" charset="-122"/>
                <a:cs typeface="Segoe UI" pitchFamily="34" charset="-120"/>
              </a:rPr>
              <a:t>User Service</a:t>
            </a:r>
            <a:endParaRPr lang="en-US" sz="1200" dirty="0"/>
          </a:p>
        </p:txBody>
      </p:sp>
      <p:sp>
        <p:nvSpPr>
          <p:cNvPr id="22" name="Text 20"/>
          <p:cNvSpPr/>
          <p:nvPr/>
        </p:nvSpPr>
        <p:spPr>
          <a:xfrm>
            <a:off x="2743200" y="3657600"/>
            <a:ext cx="2148840" cy="320040"/>
          </a:xfrm>
          <a:prstGeom prst="rect">
            <a:avLst/>
          </a:prstGeom>
          <a:noFill/>
          <a:ln/>
        </p:spPr>
        <p:txBody>
          <a:bodyPr wrap="square" rtlCol="0" anchor="ctr"/>
          <a:lstStyle/>
          <a:p>
            <a:pPr algn="ctr" indent="0" marL="0">
              <a:buNone/>
            </a:pPr>
            <a:r>
              <a:rPr lang="en-US" sz="950" dirty="0">
                <a:solidFill>
                  <a:srgbClr val="5B6B7C"/>
                </a:solidFill>
                <a:latin typeface="Segoe UI" pitchFamily="34" charset="0"/>
                <a:ea typeface="Segoe UI" pitchFamily="34" charset="-122"/>
                <a:cs typeface="Segoe UI" pitchFamily="34" charset="-120"/>
              </a:rPr>
              <a:t>:8082  ·  profiles</a:t>
            </a:r>
            <a:endParaRPr lang="en-US" sz="950" dirty="0"/>
          </a:p>
        </p:txBody>
      </p:sp>
      <p:sp>
        <p:nvSpPr>
          <p:cNvPr id="23" name="Shape 21"/>
          <p:cNvSpPr/>
          <p:nvPr/>
        </p:nvSpPr>
        <p:spPr>
          <a:xfrm>
            <a:off x="4919472" y="3593592"/>
            <a:ext cx="146304" cy="237744"/>
          </a:xfrm>
          <a:prstGeom prst="rightArrow">
            <a:avLst/>
          </a:prstGeom>
          <a:solidFill>
            <a:srgbClr val="B9C9D4"/>
          </a:solidFill>
          <a:ln w="12700">
            <a:solidFill>
              <a:srgbClr val="B9C9D4"/>
            </a:solidFill>
            <a:prstDash val="solid"/>
          </a:ln>
        </p:spPr>
      </p:sp>
      <p:sp>
        <p:nvSpPr>
          <p:cNvPr id="24" name="Shape 22"/>
          <p:cNvSpPr/>
          <p:nvPr/>
        </p:nvSpPr>
        <p:spPr>
          <a:xfrm>
            <a:off x="5074920" y="3246120"/>
            <a:ext cx="2148840" cy="868680"/>
          </a:xfrm>
          <a:prstGeom prst="roundRect">
            <a:avLst>
              <a:gd name="adj" fmla="val 6316"/>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5" name="Text 23"/>
          <p:cNvSpPr/>
          <p:nvPr/>
        </p:nvSpPr>
        <p:spPr>
          <a:xfrm>
            <a:off x="5074920" y="3346704"/>
            <a:ext cx="2148840" cy="320040"/>
          </a:xfrm>
          <a:prstGeom prst="rect">
            <a:avLst/>
          </a:prstGeom>
          <a:noFill/>
          <a:ln/>
        </p:spPr>
        <p:txBody>
          <a:bodyPr wrap="square" rtlCol="0" anchor="ctr"/>
          <a:lstStyle/>
          <a:p>
            <a:pPr algn="ctr" indent="0" marL="0">
              <a:buNone/>
            </a:pPr>
            <a:r>
              <a:rPr lang="en-US" sz="1200" b="1" dirty="0">
                <a:solidFill>
                  <a:srgbClr val="0B2545"/>
                </a:solidFill>
                <a:latin typeface="Segoe UI" pitchFamily="34" charset="0"/>
                <a:ea typeface="Segoe UI" pitchFamily="34" charset="-122"/>
                <a:cs typeface="Segoe UI" pitchFamily="34" charset="-120"/>
              </a:rPr>
              <a:t>Complaint Service</a:t>
            </a:r>
            <a:endParaRPr lang="en-US" sz="1200" dirty="0"/>
          </a:p>
        </p:txBody>
      </p:sp>
      <p:sp>
        <p:nvSpPr>
          <p:cNvPr id="26" name="Text 24"/>
          <p:cNvSpPr/>
          <p:nvPr/>
        </p:nvSpPr>
        <p:spPr>
          <a:xfrm>
            <a:off x="5074920" y="3657600"/>
            <a:ext cx="2148840" cy="320040"/>
          </a:xfrm>
          <a:prstGeom prst="rect">
            <a:avLst/>
          </a:prstGeom>
          <a:noFill/>
          <a:ln/>
        </p:spPr>
        <p:txBody>
          <a:bodyPr wrap="square" rtlCol="0" anchor="ctr"/>
          <a:lstStyle/>
          <a:p>
            <a:pPr algn="ctr" indent="0" marL="0">
              <a:buNone/>
            </a:pPr>
            <a:r>
              <a:rPr lang="en-US" sz="950" dirty="0">
                <a:solidFill>
                  <a:srgbClr val="5B6B7C"/>
                </a:solidFill>
                <a:latin typeface="Segoe UI" pitchFamily="34" charset="0"/>
                <a:ea typeface="Segoe UI" pitchFamily="34" charset="-122"/>
                <a:cs typeface="Segoe UI" pitchFamily="34" charset="-120"/>
              </a:rPr>
              <a:t>:8083  ·  complaints · images · proof</a:t>
            </a:r>
            <a:endParaRPr lang="en-US" sz="950" dirty="0"/>
          </a:p>
        </p:txBody>
      </p:sp>
      <p:sp>
        <p:nvSpPr>
          <p:cNvPr id="27" name="Shape 25"/>
          <p:cNvSpPr/>
          <p:nvPr/>
        </p:nvSpPr>
        <p:spPr>
          <a:xfrm>
            <a:off x="7251192" y="3593592"/>
            <a:ext cx="146304" cy="237744"/>
          </a:xfrm>
          <a:prstGeom prst="rightArrow">
            <a:avLst/>
          </a:prstGeom>
          <a:solidFill>
            <a:srgbClr val="B9C9D4"/>
          </a:solidFill>
          <a:ln w="12700">
            <a:solidFill>
              <a:srgbClr val="B9C9D4"/>
            </a:solidFill>
            <a:prstDash val="solid"/>
          </a:ln>
        </p:spPr>
      </p:sp>
      <p:sp>
        <p:nvSpPr>
          <p:cNvPr id="28" name="Shape 26"/>
          <p:cNvSpPr/>
          <p:nvPr/>
        </p:nvSpPr>
        <p:spPr>
          <a:xfrm>
            <a:off x="7406640" y="3246120"/>
            <a:ext cx="2148840" cy="868680"/>
          </a:xfrm>
          <a:prstGeom prst="roundRect">
            <a:avLst>
              <a:gd name="adj" fmla="val 6316"/>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9" name="Text 27"/>
          <p:cNvSpPr/>
          <p:nvPr/>
        </p:nvSpPr>
        <p:spPr>
          <a:xfrm>
            <a:off x="7406640" y="3346704"/>
            <a:ext cx="2148840" cy="320040"/>
          </a:xfrm>
          <a:prstGeom prst="rect">
            <a:avLst/>
          </a:prstGeom>
          <a:noFill/>
          <a:ln/>
        </p:spPr>
        <p:txBody>
          <a:bodyPr wrap="square" rtlCol="0" anchor="ctr"/>
          <a:lstStyle/>
          <a:p>
            <a:pPr algn="ctr" indent="0" marL="0">
              <a:buNone/>
            </a:pPr>
            <a:r>
              <a:rPr lang="en-US" sz="1200" b="1" dirty="0">
                <a:solidFill>
                  <a:srgbClr val="0B2545"/>
                </a:solidFill>
                <a:latin typeface="Segoe UI" pitchFamily="34" charset="0"/>
                <a:ea typeface="Segoe UI" pitchFamily="34" charset="-122"/>
                <a:cs typeface="Segoe UI" pitchFamily="34" charset="-120"/>
              </a:rPr>
              <a:t>Community Service</a:t>
            </a:r>
            <a:endParaRPr lang="en-US" sz="1200" dirty="0"/>
          </a:p>
        </p:txBody>
      </p:sp>
      <p:sp>
        <p:nvSpPr>
          <p:cNvPr id="30" name="Text 28"/>
          <p:cNvSpPr/>
          <p:nvPr/>
        </p:nvSpPr>
        <p:spPr>
          <a:xfrm>
            <a:off x="7406640" y="3657600"/>
            <a:ext cx="2148840" cy="320040"/>
          </a:xfrm>
          <a:prstGeom prst="rect">
            <a:avLst/>
          </a:prstGeom>
          <a:noFill/>
          <a:ln/>
        </p:spPr>
        <p:txBody>
          <a:bodyPr wrap="square" rtlCol="0" anchor="ctr"/>
          <a:lstStyle/>
          <a:p>
            <a:pPr algn="ctr" indent="0" marL="0">
              <a:buNone/>
            </a:pPr>
            <a:r>
              <a:rPr lang="en-US" sz="950" dirty="0">
                <a:solidFill>
                  <a:srgbClr val="5B6B7C"/>
                </a:solidFill>
                <a:latin typeface="Segoe UI" pitchFamily="34" charset="0"/>
                <a:ea typeface="Segoe UI" pitchFamily="34" charset="-122"/>
                <a:cs typeface="Segoe UI" pitchFamily="34" charset="-120"/>
              </a:rPr>
              <a:t>:8084  ·  events · articles · data</a:t>
            </a:r>
            <a:endParaRPr lang="en-US" sz="950" dirty="0"/>
          </a:p>
        </p:txBody>
      </p:sp>
      <p:sp>
        <p:nvSpPr>
          <p:cNvPr id="31" name="Shape 29"/>
          <p:cNvSpPr/>
          <p:nvPr/>
        </p:nvSpPr>
        <p:spPr>
          <a:xfrm>
            <a:off x="9582912" y="3593592"/>
            <a:ext cx="146304" cy="237744"/>
          </a:xfrm>
          <a:prstGeom prst="rightArrow">
            <a:avLst/>
          </a:prstGeom>
          <a:solidFill>
            <a:srgbClr val="B9C9D4"/>
          </a:solidFill>
          <a:ln w="12700">
            <a:solidFill>
              <a:srgbClr val="B9C9D4"/>
            </a:solidFill>
            <a:prstDash val="solid"/>
          </a:ln>
        </p:spPr>
      </p:sp>
      <p:sp>
        <p:nvSpPr>
          <p:cNvPr id="32" name="Shape 30"/>
          <p:cNvSpPr/>
          <p:nvPr/>
        </p:nvSpPr>
        <p:spPr>
          <a:xfrm>
            <a:off x="9738360" y="3246120"/>
            <a:ext cx="2148840" cy="868680"/>
          </a:xfrm>
          <a:prstGeom prst="roundRect">
            <a:avLst>
              <a:gd name="adj" fmla="val 6316"/>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33" name="Text 31"/>
          <p:cNvSpPr/>
          <p:nvPr/>
        </p:nvSpPr>
        <p:spPr>
          <a:xfrm>
            <a:off x="9738360" y="3346704"/>
            <a:ext cx="2148840" cy="320040"/>
          </a:xfrm>
          <a:prstGeom prst="rect">
            <a:avLst/>
          </a:prstGeom>
          <a:noFill/>
          <a:ln/>
        </p:spPr>
        <p:txBody>
          <a:bodyPr wrap="square" rtlCol="0" anchor="ctr"/>
          <a:lstStyle/>
          <a:p>
            <a:pPr algn="ctr" indent="0" marL="0">
              <a:buNone/>
            </a:pPr>
            <a:r>
              <a:rPr lang="en-US" sz="1200" b="1" dirty="0">
                <a:solidFill>
                  <a:srgbClr val="0B2545"/>
                </a:solidFill>
                <a:latin typeface="Segoe UI" pitchFamily="34" charset="0"/>
                <a:ea typeface="Segoe UI" pitchFamily="34" charset="-122"/>
                <a:cs typeface="Segoe UI" pitchFamily="34" charset="-120"/>
              </a:rPr>
              <a:t>Notification Service</a:t>
            </a:r>
            <a:endParaRPr lang="en-US" sz="1200" dirty="0"/>
          </a:p>
        </p:txBody>
      </p:sp>
      <p:sp>
        <p:nvSpPr>
          <p:cNvPr id="34" name="Text 32"/>
          <p:cNvSpPr/>
          <p:nvPr/>
        </p:nvSpPr>
        <p:spPr>
          <a:xfrm>
            <a:off x="9738360" y="3657600"/>
            <a:ext cx="2148840" cy="320040"/>
          </a:xfrm>
          <a:prstGeom prst="rect">
            <a:avLst/>
          </a:prstGeom>
          <a:noFill/>
          <a:ln/>
        </p:spPr>
        <p:txBody>
          <a:bodyPr wrap="square" rtlCol="0" anchor="ctr"/>
          <a:lstStyle/>
          <a:p>
            <a:pPr algn="ctr" indent="0" marL="0">
              <a:buNone/>
            </a:pPr>
            <a:r>
              <a:rPr lang="en-US" sz="950" dirty="0">
                <a:solidFill>
                  <a:srgbClr val="5B6B7C"/>
                </a:solidFill>
                <a:latin typeface="Segoe UI" pitchFamily="34" charset="0"/>
                <a:ea typeface="Segoe UI" pitchFamily="34" charset="-122"/>
                <a:cs typeface="Segoe UI" pitchFamily="34" charset="-120"/>
              </a:rPr>
              <a:t>:8085  ·  in-app + email</a:t>
            </a:r>
            <a:endParaRPr lang="en-US" sz="950" dirty="0"/>
          </a:p>
        </p:txBody>
      </p:sp>
      <p:sp>
        <p:nvSpPr>
          <p:cNvPr id="35" name="Text 33"/>
          <p:cNvSpPr/>
          <p:nvPr/>
        </p:nvSpPr>
        <p:spPr>
          <a:xfrm>
            <a:off x="2651760" y="4160520"/>
            <a:ext cx="6949440" cy="274320"/>
          </a:xfrm>
          <a:prstGeom prst="rect">
            <a:avLst/>
          </a:prstGeom>
          <a:noFill/>
          <a:ln/>
        </p:spPr>
        <p:txBody>
          <a:bodyPr wrap="square" rtlCol="0" anchor="ctr"/>
          <a:lstStyle/>
          <a:p>
            <a:pPr algn="ctr" indent="0" marL="0">
              <a:buNone/>
            </a:pPr>
            <a:r>
              <a:rPr lang="en-US" sz="950" i="1" dirty="0">
                <a:solidFill>
                  <a:srgbClr val="5B6B7C"/>
                </a:solidFill>
                <a:latin typeface="Segoe UI" pitchFamily="34" charset="0"/>
                <a:ea typeface="Segoe UI" pitchFamily="34" charset="-122"/>
                <a:cs typeface="Segoe UI" pitchFamily="34" charset="-120"/>
              </a:rPr>
              <a:t>OpenFeign sync calls · Eureka discovery</a:t>
            </a:r>
            <a:endParaRPr lang="en-US" sz="950" dirty="0"/>
          </a:p>
        </p:txBody>
      </p:sp>
      <p:sp>
        <p:nvSpPr>
          <p:cNvPr id="36" name="Shape 34"/>
          <p:cNvSpPr/>
          <p:nvPr/>
        </p:nvSpPr>
        <p:spPr>
          <a:xfrm>
            <a:off x="5971032" y="4480560"/>
            <a:ext cx="256032" cy="310896"/>
          </a:xfrm>
          <a:prstGeom prst="downArrow">
            <a:avLst/>
          </a:prstGeom>
          <a:solidFill>
            <a:srgbClr val="0D9488"/>
          </a:solidFill>
          <a:ln w="12700">
            <a:solidFill>
              <a:srgbClr val="0D9488"/>
            </a:solidFill>
            <a:prstDash val="solid"/>
          </a:ln>
        </p:spPr>
      </p:sp>
      <p:sp>
        <p:nvSpPr>
          <p:cNvPr id="37" name="Shape 35"/>
          <p:cNvSpPr/>
          <p:nvPr/>
        </p:nvSpPr>
        <p:spPr>
          <a:xfrm>
            <a:off x="411480" y="4846320"/>
            <a:ext cx="3611880" cy="868680"/>
          </a:xfrm>
          <a:prstGeom prst="roundRect">
            <a:avLst>
              <a:gd name="adj" fmla="val 6316"/>
            </a:avLst>
          </a:prstGeom>
          <a:solidFill>
            <a:srgbClr val="EAF4F3"/>
          </a:solidFill>
          <a:ln w="12700">
            <a:solidFill>
              <a:srgbClr val="BFDED9"/>
            </a:solidFill>
            <a:prstDash val="solid"/>
          </a:ln>
          <a:effectLst>
            <a:outerShdw sx="100000" sy="100000" kx="0" ky="0" algn="bl" rotWithShape="0" blurRad="50800" dist="25400" dir="5400000">
              <a:srgbClr val="0B2545">
                <a:alpha val="10000"/>
              </a:srgbClr>
            </a:outerShdw>
          </a:effectLst>
        </p:spPr>
      </p:sp>
      <p:sp>
        <p:nvSpPr>
          <p:cNvPr id="38" name="Text 36"/>
          <p:cNvSpPr/>
          <p:nvPr/>
        </p:nvSpPr>
        <p:spPr>
          <a:xfrm>
            <a:off x="411480" y="4956048"/>
            <a:ext cx="3611880" cy="320040"/>
          </a:xfrm>
          <a:prstGeom prst="rect">
            <a:avLst/>
          </a:prstGeom>
          <a:noFill/>
          <a:ln/>
        </p:spPr>
        <p:txBody>
          <a:bodyPr wrap="square" rtlCol="0" anchor="ctr"/>
          <a:lstStyle/>
          <a:p>
            <a:pPr algn="ctr" indent="0" marL="0">
              <a:buNone/>
            </a:pPr>
            <a:r>
              <a:rPr lang="en-US" sz="1250" b="1" dirty="0">
                <a:solidFill>
                  <a:srgbClr val="0B5B52"/>
                </a:solidFill>
                <a:latin typeface="Segoe UI" pitchFamily="34" charset="0"/>
                <a:ea typeface="Segoe UI" pitchFamily="34" charset="-122"/>
                <a:cs typeface="Segoe UI" pitchFamily="34" charset="-120"/>
              </a:rPr>
              <a:t>RabbitMQ  notification.exchange</a:t>
            </a:r>
            <a:endParaRPr lang="en-US" sz="1250" dirty="0"/>
          </a:p>
        </p:txBody>
      </p:sp>
      <p:sp>
        <p:nvSpPr>
          <p:cNvPr id="39" name="Text 37"/>
          <p:cNvSpPr/>
          <p:nvPr/>
        </p:nvSpPr>
        <p:spPr>
          <a:xfrm>
            <a:off x="411480" y="5285232"/>
            <a:ext cx="3611880" cy="274320"/>
          </a:xfrm>
          <a:prstGeom prst="rect">
            <a:avLst/>
          </a:prstGeom>
          <a:noFill/>
          <a:ln/>
        </p:spPr>
        <p:txBody>
          <a:bodyPr wrap="square" rtlCol="0" anchor="ctr"/>
          <a:lstStyle/>
          <a:p>
            <a:pPr algn="ctr" indent="0" marL="0">
              <a:buNone/>
            </a:pPr>
            <a:r>
              <a:rPr lang="en-US" sz="1000" dirty="0">
                <a:solidFill>
                  <a:srgbClr val="3E7A72"/>
                </a:solidFill>
                <a:latin typeface="Segoe UI" pitchFamily="34" charset="0"/>
                <a:ea typeface="Segoe UI" pitchFamily="34" charset="-122"/>
                <a:cs typeface="Segoe UI" pitchFamily="34" charset="-120"/>
              </a:rPr>
              <a:t>topic · DLQ · retries</a:t>
            </a:r>
            <a:endParaRPr lang="en-US" sz="1000" dirty="0"/>
          </a:p>
        </p:txBody>
      </p:sp>
      <p:sp>
        <p:nvSpPr>
          <p:cNvPr id="40" name="Shape 38"/>
          <p:cNvSpPr/>
          <p:nvPr/>
        </p:nvSpPr>
        <p:spPr>
          <a:xfrm>
            <a:off x="4270248" y="4846320"/>
            <a:ext cx="3611880" cy="868680"/>
          </a:xfrm>
          <a:prstGeom prst="roundRect">
            <a:avLst>
              <a:gd name="adj" fmla="val 6316"/>
            </a:avLst>
          </a:prstGeom>
          <a:solidFill>
            <a:srgbClr val="EAF4F3"/>
          </a:solidFill>
          <a:ln w="12700">
            <a:solidFill>
              <a:srgbClr val="BFDED9"/>
            </a:solidFill>
            <a:prstDash val="solid"/>
          </a:ln>
          <a:effectLst>
            <a:outerShdw sx="100000" sy="100000" kx="0" ky="0" algn="bl" rotWithShape="0" blurRad="50800" dist="25400" dir="5400000">
              <a:srgbClr val="0B2545">
                <a:alpha val="10000"/>
              </a:srgbClr>
            </a:outerShdw>
          </a:effectLst>
        </p:spPr>
      </p:sp>
      <p:sp>
        <p:nvSpPr>
          <p:cNvPr id="41" name="Text 39"/>
          <p:cNvSpPr/>
          <p:nvPr/>
        </p:nvSpPr>
        <p:spPr>
          <a:xfrm>
            <a:off x="4270248" y="4956048"/>
            <a:ext cx="3611880" cy="320040"/>
          </a:xfrm>
          <a:prstGeom prst="rect">
            <a:avLst/>
          </a:prstGeom>
          <a:noFill/>
          <a:ln/>
        </p:spPr>
        <p:txBody>
          <a:bodyPr wrap="square" rtlCol="0" anchor="ctr"/>
          <a:lstStyle/>
          <a:p>
            <a:pPr algn="ctr" indent="0" marL="0">
              <a:buNone/>
            </a:pPr>
            <a:r>
              <a:rPr lang="en-US" sz="1250" b="1" dirty="0">
                <a:solidFill>
                  <a:srgbClr val="0B5B52"/>
                </a:solidFill>
                <a:latin typeface="Segoe UI" pitchFamily="34" charset="0"/>
                <a:ea typeface="Segoe UI" pitchFamily="34" charset="-122"/>
                <a:cs typeface="Segoe UI" pitchFamily="34" charset="-120"/>
              </a:rPr>
              <a:t>MySQL (5 schemas)</a:t>
            </a:r>
            <a:endParaRPr lang="en-US" sz="1250" dirty="0"/>
          </a:p>
        </p:txBody>
      </p:sp>
      <p:sp>
        <p:nvSpPr>
          <p:cNvPr id="42" name="Text 40"/>
          <p:cNvSpPr/>
          <p:nvPr/>
        </p:nvSpPr>
        <p:spPr>
          <a:xfrm>
            <a:off x="4270248" y="5285232"/>
            <a:ext cx="3611880" cy="274320"/>
          </a:xfrm>
          <a:prstGeom prst="rect">
            <a:avLst/>
          </a:prstGeom>
          <a:noFill/>
          <a:ln/>
        </p:spPr>
        <p:txBody>
          <a:bodyPr wrap="square" rtlCol="0" anchor="ctr"/>
          <a:lstStyle/>
          <a:p>
            <a:pPr algn="ctr" indent="0" marL="0">
              <a:buNone/>
            </a:pPr>
            <a:r>
              <a:rPr lang="en-US" sz="1000" dirty="0">
                <a:solidFill>
                  <a:srgbClr val="3E7A72"/>
                </a:solidFill>
                <a:latin typeface="Segoe UI" pitchFamily="34" charset="0"/>
                <a:ea typeface="Segoe UI" pitchFamily="34" charset="-122"/>
                <a:cs typeface="Segoe UI" pitchFamily="34" charset="-120"/>
              </a:rPr>
              <a:t>one database per service</a:t>
            </a:r>
            <a:endParaRPr lang="en-US" sz="1000" dirty="0"/>
          </a:p>
        </p:txBody>
      </p:sp>
      <p:sp>
        <p:nvSpPr>
          <p:cNvPr id="43" name="Shape 41"/>
          <p:cNvSpPr/>
          <p:nvPr/>
        </p:nvSpPr>
        <p:spPr>
          <a:xfrm>
            <a:off x="8129016" y="4846320"/>
            <a:ext cx="3611880" cy="868680"/>
          </a:xfrm>
          <a:prstGeom prst="roundRect">
            <a:avLst>
              <a:gd name="adj" fmla="val 6316"/>
            </a:avLst>
          </a:prstGeom>
          <a:solidFill>
            <a:srgbClr val="EAF4F3"/>
          </a:solidFill>
          <a:ln w="12700">
            <a:solidFill>
              <a:srgbClr val="BFDED9"/>
            </a:solidFill>
            <a:prstDash val="solid"/>
          </a:ln>
          <a:effectLst>
            <a:outerShdw sx="100000" sy="100000" kx="0" ky="0" algn="bl" rotWithShape="0" blurRad="50800" dist="25400" dir="5400000">
              <a:srgbClr val="0B2545">
                <a:alpha val="10000"/>
              </a:srgbClr>
            </a:outerShdw>
          </a:effectLst>
        </p:spPr>
      </p:sp>
      <p:sp>
        <p:nvSpPr>
          <p:cNvPr id="44" name="Text 42"/>
          <p:cNvSpPr/>
          <p:nvPr/>
        </p:nvSpPr>
        <p:spPr>
          <a:xfrm>
            <a:off x="8129016" y="4956048"/>
            <a:ext cx="3611880" cy="320040"/>
          </a:xfrm>
          <a:prstGeom prst="rect">
            <a:avLst/>
          </a:prstGeom>
          <a:noFill/>
          <a:ln/>
        </p:spPr>
        <p:txBody>
          <a:bodyPr wrap="square" rtlCol="0" anchor="ctr"/>
          <a:lstStyle/>
          <a:p>
            <a:pPr algn="ctr" indent="0" marL="0">
              <a:buNone/>
            </a:pPr>
            <a:r>
              <a:rPr lang="en-US" sz="1250" b="1" dirty="0">
                <a:solidFill>
                  <a:srgbClr val="0B5B52"/>
                </a:solidFill>
                <a:latin typeface="Segoe UI" pitchFamily="34" charset="0"/>
                <a:ea typeface="Segoe UI" pitchFamily="34" charset="-122"/>
                <a:cs typeface="Segoe UI" pitchFamily="34" charset="-120"/>
              </a:rPr>
              <a:t>Cloudinary · EmailJS</a:t>
            </a:r>
            <a:endParaRPr lang="en-US" sz="1250" dirty="0"/>
          </a:p>
        </p:txBody>
      </p:sp>
      <p:sp>
        <p:nvSpPr>
          <p:cNvPr id="45" name="Text 43"/>
          <p:cNvSpPr/>
          <p:nvPr/>
        </p:nvSpPr>
        <p:spPr>
          <a:xfrm>
            <a:off x="8129016" y="5285232"/>
            <a:ext cx="3611880" cy="274320"/>
          </a:xfrm>
          <a:prstGeom prst="rect">
            <a:avLst/>
          </a:prstGeom>
          <a:noFill/>
          <a:ln/>
        </p:spPr>
        <p:txBody>
          <a:bodyPr wrap="square" rtlCol="0" anchor="ctr"/>
          <a:lstStyle/>
          <a:p>
            <a:pPr algn="ctr" indent="0" marL="0">
              <a:buNone/>
            </a:pPr>
            <a:r>
              <a:rPr lang="en-US" sz="1000" dirty="0">
                <a:solidFill>
                  <a:srgbClr val="3E7A72"/>
                </a:solidFill>
                <a:latin typeface="Segoe UI" pitchFamily="34" charset="0"/>
                <a:ea typeface="Segoe UI" pitchFamily="34" charset="-122"/>
                <a:cs typeface="Segoe UI" pitchFamily="34" charset="-120"/>
              </a:rPr>
              <a:t>images · verification/welcome mail</a:t>
            </a:r>
            <a:endParaRPr lang="en-US" sz="1000" dirty="0"/>
          </a:p>
        </p:txBody>
      </p:sp>
      <p:sp>
        <p:nvSpPr>
          <p:cNvPr id="46" name="Text 44"/>
          <p:cNvSpPr/>
          <p:nvPr/>
        </p:nvSpPr>
        <p:spPr>
          <a:xfrm>
            <a:off x="411480" y="5897880"/>
            <a:ext cx="11338560" cy="365760"/>
          </a:xfrm>
          <a:prstGeom prst="rect">
            <a:avLst/>
          </a:prstGeom>
          <a:noFill/>
          <a:ln/>
        </p:spPr>
        <p:txBody>
          <a:bodyPr wrap="square" rtlCol="0" anchor="ctr"/>
          <a:lstStyle/>
          <a:p>
            <a:pPr algn="ctr" indent="0" marL="0">
              <a:buNone/>
            </a:pPr>
            <a:r>
              <a:rPr lang="en-US" sz="1050" i="1" dirty="0">
                <a:solidFill>
                  <a:srgbClr val="5B6B7C"/>
                </a:solidFill>
                <a:latin typeface="Segoe UI" pitchFamily="34" charset="0"/>
                <a:ea typeface="Segoe UI" pitchFamily="34" charset="-122"/>
                <a:cs typeface="Segoe UI" pitchFamily="34" charset="-120"/>
              </a:rPr>
              <a:t>Microservice boundaries are enforced with per-service databases and OpenFeign inter-service calls — no shared schema, no hidden coupling.</a:t>
            </a:r>
            <a:endParaRPr lang="en-US" sz="1050" dirty="0"/>
          </a:p>
        </p:txBody>
      </p:sp>
      <p:sp>
        <p:nvSpPr>
          <p:cNvPr id="47" name="Text 45"/>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WHAT IT IS BUILT WITH</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Technology stack</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Proven, mainstream technologies chosen for team familiarity and operational simplicity.</a:t>
            </a:r>
            <a:endParaRPr lang="en-US" sz="1250" dirty="0"/>
          </a:p>
        </p:txBody>
      </p:sp>
      <p:sp>
        <p:nvSpPr>
          <p:cNvPr id="6" name="Shape 4"/>
          <p:cNvSpPr/>
          <p:nvPr/>
        </p:nvSpPr>
        <p:spPr>
          <a:xfrm>
            <a:off x="411480" y="1554480"/>
            <a:ext cx="3611880" cy="4709160"/>
          </a:xfrm>
          <a:prstGeom prst="roundRect">
            <a:avLst>
              <a:gd name="adj" fmla="val 1519"/>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7" name="Shape 5"/>
          <p:cNvSpPr/>
          <p:nvPr/>
        </p:nvSpPr>
        <p:spPr>
          <a:xfrm>
            <a:off x="612648" y="1755648"/>
            <a:ext cx="1463040" cy="384048"/>
          </a:xfrm>
          <a:prstGeom prst="roundRect">
            <a:avLst>
              <a:gd name="adj" fmla="val 119048"/>
            </a:avLst>
          </a:prstGeom>
          <a:solidFill>
            <a:srgbClr val="0D9488"/>
          </a:solidFill>
          <a:ln w="12700">
            <a:solidFill>
              <a:srgbClr val="0D9488"/>
            </a:solidFill>
            <a:prstDash val="solid"/>
          </a:ln>
        </p:spPr>
      </p:sp>
      <p:sp>
        <p:nvSpPr>
          <p:cNvPr id="8" name="Text 6"/>
          <p:cNvSpPr/>
          <p:nvPr/>
        </p:nvSpPr>
        <p:spPr>
          <a:xfrm>
            <a:off x="612648" y="1755648"/>
            <a:ext cx="1463040" cy="384048"/>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Backend</a:t>
            </a:r>
            <a:endParaRPr lang="en-US" sz="1150" dirty="0"/>
          </a:p>
        </p:txBody>
      </p:sp>
      <p:sp>
        <p:nvSpPr>
          <p:cNvPr id="9" name="Text 7"/>
          <p:cNvSpPr/>
          <p:nvPr/>
        </p:nvSpPr>
        <p:spPr>
          <a:xfrm>
            <a:off x="640080" y="2331720"/>
            <a:ext cx="228600" cy="274320"/>
          </a:xfrm>
          <a:prstGeom prst="rect">
            <a:avLst/>
          </a:prstGeom>
          <a:noFill/>
          <a:ln/>
        </p:spPr>
        <p:txBody>
          <a:bodyPr wrap="square" rtlCol="0" anchor="ctr"/>
          <a:lstStyle/>
          <a:p>
            <a:pPr algn="l" indent="0" marL="0">
              <a:buNone/>
            </a:pPr>
            <a:r>
              <a:rPr lang="en-US" sz="800" dirty="0">
                <a:solidFill>
                  <a:srgbClr val="0D9488"/>
                </a:solidFill>
                <a:latin typeface="Segoe UI" pitchFamily="34" charset="0"/>
                <a:ea typeface="Segoe UI" pitchFamily="34" charset="-122"/>
                <a:cs typeface="Segoe UI" pitchFamily="34" charset="-120"/>
              </a:rPr>
              <a:t>●</a:t>
            </a:r>
            <a:endParaRPr lang="en-US" sz="800" dirty="0"/>
          </a:p>
        </p:txBody>
      </p:sp>
      <p:sp>
        <p:nvSpPr>
          <p:cNvPr id="10" name="Text 8"/>
          <p:cNvSpPr/>
          <p:nvPr/>
        </p:nvSpPr>
        <p:spPr>
          <a:xfrm>
            <a:off x="886968" y="2331720"/>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Java 25 · Spring Boot</a:t>
            </a:r>
            <a:endParaRPr lang="en-US" sz="1150" dirty="0"/>
          </a:p>
        </p:txBody>
      </p:sp>
      <p:sp>
        <p:nvSpPr>
          <p:cNvPr id="11" name="Text 9"/>
          <p:cNvSpPr/>
          <p:nvPr/>
        </p:nvSpPr>
        <p:spPr>
          <a:xfrm>
            <a:off x="886968" y="2587752"/>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microservices runtime</a:t>
            </a:r>
            <a:endParaRPr lang="en-US" sz="950" dirty="0"/>
          </a:p>
        </p:txBody>
      </p:sp>
      <p:sp>
        <p:nvSpPr>
          <p:cNvPr id="12" name="Text 10"/>
          <p:cNvSpPr/>
          <p:nvPr/>
        </p:nvSpPr>
        <p:spPr>
          <a:xfrm>
            <a:off x="640080" y="2898648"/>
            <a:ext cx="228600" cy="274320"/>
          </a:xfrm>
          <a:prstGeom prst="rect">
            <a:avLst/>
          </a:prstGeom>
          <a:noFill/>
          <a:ln/>
        </p:spPr>
        <p:txBody>
          <a:bodyPr wrap="square" rtlCol="0" anchor="ctr"/>
          <a:lstStyle/>
          <a:p>
            <a:pPr algn="l" indent="0" marL="0">
              <a:buNone/>
            </a:pPr>
            <a:r>
              <a:rPr lang="en-US" sz="800" dirty="0">
                <a:solidFill>
                  <a:srgbClr val="0D9488"/>
                </a:solidFill>
                <a:latin typeface="Segoe UI" pitchFamily="34" charset="0"/>
                <a:ea typeface="Segoe UI" pitchFamily="34" charset="-122"/>
                <a:cs typeface="Segoe UI" pitchFamily="34" charset="-120"/>
              </a:rPr>
              <a:t>●</a:t>
            </a:r>
            <a:endParaRPr lang="en-US" sz="800" dirty="0"/>
          </a:p>
        </p:txBody>
      </p:sp>
      <p:sp>
        <p:nvSpPr>
          <p:cNvPr id="13" name="Text 11"/>
          <p:cNvSpPr/>
          <p:nvPr/>
        </p:nvSpPr>
        <p:spPr>
          <a:xfrm>
            <a:off x="886968" y="2898648"/>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Spring Security + JWT</a:t>
            </a:r>
            <a:endParaRPr lang="en-US" sz="1150" dirty="0"/>
          </a:p>
        </p:txBody>
      </p:sp>
      <p:sp>
        <p:nvSpPr>
          <p:cNvPr id="14" name="Text 12"/>
          <p:cNvSpPr/>
          <p:nvPr/>
        </p:nvSpPr>
        <p:spPr>
          <a:xfrm>
            <a:off x="886968" y="3154680"/>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stateless auth, BCrypt</a:t>
            </a:r>
            <a:endParaRPr lang="en-US" sz="950" dirty="0"/>
          </a:p>
        </p:txBody>
      </p:sp>
      <p:sp>
        <p:nvSpPr>
          <p:cNvPr id="15" name="Text 13"/>
          <p:cNvSpPr/>
          <p:nvPr/>
        </p:nvSpPr>
        <p:spPr>
          <a:xfrm>
            <a:off x="640080" y="3465576"/>
            <a:ext cx="228600" cy="274320"/>
          </a:xfrm>
          <a:prstGeom prst="rect">
            <a:avLst/>
          </a:prstGeom>
          <a:noFill/>
          <a:ln/>
        </p:spPr>
        <p:txBody>
          <a:bodyPr wrap="square" rtlCol="0" anchor="ctr"/>
          <a:lstStyle/>
          <a:p>
            <a:pPr algn="l" indent="0" marL="0">
              <a:buNone/>
            </a:pPr>
            <a:r>
              <a:rPr lang="en-US" sz="800" dirty="0">
                <a:solidFill>
                  <a:srgbClr val="0D9488"/>
                </a:solidFill>
                <a:latin typeface="Segoe UI" pitchFamily="34" charset="0"/>
                <a:ea typeface="Segoe UI" pitchFamily="34" charset="-122"/>
                <a:cs typeface="Segoe UI" pitchFamily="34" charset="-120"/>
              </a:rPr>
              <a:t>●</a:t>
            </a:r>
            <a:endParaRPr lang="en-US" sz="800" dirty="0"/>
          </a:p>
        </p:txBody>
      </p:sp>
      <p:sp>
        <p:nvSpPr>
          <p:cNvPr id="16" name="Text 14"/>
          <p:cNvSpPr/>
          <p:nvPr/>
        </p:nvSpPr>
        <p:spPr>
          <a:xfrm>
            <a:off x="886968" y="3465576"/>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Spring Data JPA / Hibernate</a:t>
            </a:r>
            <a:endParaRPr lang="en-US" sz="1150" dirty="0"/>
          </a:p>
        </p:txBody>
      </p:sp>
      <p:sp>
        <p:nvSpPr>
          <p:cNvPr id="17" name="Text 15"/>
          <p:cNvSpPr/>
          <p:nvPr/>
        </p:nvSpPr>
        <p:spPr>
          <a:xfrm>
            <a:off x="886968" y="3721608"/>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persistence, ddl-auto:update</a:t>
            </a:r>
            <a:endParaRPr lang="en-US" sz="950" dirty="0"/>
          </a:p>
        </p:txBody>
      </p:sp>
      <p:sp>
        <p:nvSpPr>
          <p:cNvPr id="18" name="Text 16"/>
          <p:cNvSpPr/>
          <p:nvPr/>
        </p:nvSpPr>
        <p:spPr>
          <a:xfrm>
            <a:off x="640080" y="4032504"/>
            <a:ext cx="228600" cy="274320"/>
          </a:xfrm>
          <a:prstGeom prst="rect">
            <a:avLst/>
          </a:prstGeom>
          <a:noFill/>
          <a:ln/>
        </p:spPr>
        <p:txBody>
          <a:bodyPr wrap="square" rtlCol="0" anchor="ctr"/>
          <a:lstStyle/>
          <a:p>
            <a:pPr algn="l" indent="0" marL="0">
              <a:buNone/>
            </a:pPr>
            <a:r>
              <a:rPr lang="en-US" sz="800" dirty="0">
                <a:solidFill>
                  <a:srgbClr val="0D9488"/>
                </a:solidFill>
                <a:latin typeface="Segoe UI" pitchFamily="34" charset="0"/>
                <a:ea typeface="Segoe UI" pitchFamily="34" charset="-122"/>
                <a:cs typeface="Segoe UI" pitchFamily="34" charset="-120"/>
              </a:rPr>
              <a:t>●</a:t>
            </a:r>
            <a:endParaRPr lang="en-US" sz="800" dirty="0"/>
          </a:p>
        </p:txBody>
      </p:sp>
      <p:sp>
        <p:nvSpPr>
          <p:cNvPr id="19" name="Text 17"/>
          <p:cNvSpPr/>
          <p:nvPr/>
        </p:nvSpPr>
        <p:spPr>
          <a:xfrm>
            <a:off x="886968" y="4032504"/>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Spring Cloud Gateway + Eureka</a:t>
            </a:r>
            <a:endParaRPr lang="en-US" sz="1150" dirty="0"/>
          </a:p>
        </p:txBody>
      </p:sp>
      <p:sp>
        <p:nvSpPr>
          <p:cNvPr id="20" name="Text 18"/>
          <p:cNvSpPr/>
          <p:nvPr/>
        </p:nvSpPr>
        <p:spPr>
          <a:xfrm>
            <a:off x="886968" y="4288536"/>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routing &amp; discovery</a:t>
            </a:r>
            <a:endParaRPr lang="en-US" sz="950" dirty="0"/>
          </a:p>
        </p:txBody>
      </p:sp>
      <p:sp>
        <p:nvSpPr>
          <p:cNvPr id="21" name="Text 19"/>
          <p:cNvSpPr/>
          <p:nvPr/>
        </p:nvSpPr>
        <p:spPr>
          <a:xfrm>
            <a:off x="640080" y="4599432"/>
            <a:ext cx="228600" cy="274320"/>
          </a:xfrm>
          <a:prstGeom prst="rect">
            <a:avLst/>
          </a:prstGeom>
          <a:noFill/>
          <a:ln/>
        </p:spPr>
        <p:txBody>
          <a:bodyPr wrap="square" rtlCol="0" anchor="ctr"/>
          <a:lstStyle/>
          <a:p>
            <a:pPr algn="l" indent="0" marL="0">
              <a:buNone/>
            </a:pPr>
            <a:r>
              <a:rPr lang="en-US" sz="800" dirty="0">
                <a:solidFill>
                  <a:srgbClr val="0D9488"/>
                </a:solidFill>
                <a:latin typeface="Segoe UI" pitchFamily="34" charset="0"/>
                <a:ea typeface="Segoe UI" pitchFamily="34" charset="-122"/>
                <a:cs typeface="Segoe UI" pitchFamily="34" charset="-120"/>
              </a:rPr>
              <a:t>●</a:t>
            </a:r>
            <a:endParaRPr lang="en-US" sz="800" dirty="0"/>
          </a:p>
        </p:txBody>
      </p:sp>
      <p:sp>
        <p:nvSpPr>
          <p:cNvPr id="22" name="Text 20"/>
          <p:cNvSpPr/>
          <p:nvPr/>
        </p:nvSpPr>
        <p:spPr>
          <a:xfrm>
            <a:off x="886968" y="4599432"/>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OpenFeign</a:t>
            </a:r>
            <a:endParaRPr lang="en-US" sz="1150" dirty="0"/>
          </a:p>
        </p:txBody>
      </p:sp>
      <p:sp>
        <p:nvSpPr>
          <p:cNvPr id="23" name="Text 21"/>
          <p:cNvSpPr/>
          <p:nvPr/>
        </p:nvSpPr>
        <p:spPr>
          <a:xfrm>
            <a:off x="886968" y="4855464"/>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sync service-to-service calls</a:t>
            </a:r>
            <a:endParaRPr lang="en-US" sz="950" dirty="0"/>
          </a:p>
        </p:txBody>
      </p:sp>
      <p:sp>
        <p:nvSpPr>
          <p:cNvPr id="24" name="Text 22"/>
          <p:cNvSpPr/>
          <p:nvPr/>
        </p:nvSpPr>
        <p:spPr>
          <a:xfrm>
            <a:off x="640080" y="5166360"/>
            <a:ext cx="228600" cy="274320"/>
          </a:xfrm>
          <a:prstGeom prst="rect">
            <a:avLst/>
          </a:prstGeom>
          <a:noFill/>
          <a:ln/>
        </p:spPr>
        <p:txBody>
          <a:bodyPr wrap="square" rtlCol="0" anchor="ctr"/>
          <a:lstStyle/>
          <a:p>
            <a:pPr algn="l" indent="0" marL="0">
              <a:buNone/>
            </a:pPr>
            <a:r>
              <a:rPr lang="en-US" sz="800" dirty="0">
                <a:solidFill>
                  <a:srgbClr val="0D9488"/>
                </a:solidFill>
                <a:latin typeface="Segoe UI" pitchFamily="34" charset="0"/>
                <a:ea typeface="Segoe UI" pitchFamily="34" charset="-122"/>
                <a:cs typeface="Segoe UI" pitchFamily="34" charset="-120"/>
              </a:rPr>
              <a:t>●</a:t>
            </a:r>
            <a:endParaRPr lang="en-US" sz="800" dirty="0"/>
          </a:p>
        </p:txBody>
      </p:sp>
      <p:sp>
        <p:nvSpPr>
          <p:cNvPr id="25" name="Text 23"/>
          <p:cNvSpPr/>
          <p:nvPr/>
        </p:nvSpPr>
        <p:spPr>
          <a:xfrm>
            <a:off x="886968" y="5166360"/>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RabbitMQ (Spring AMQP)</a:t>
            </a:r>
            <a:endParaRPr lang="en-US" sz="1150" dirty="0"/>
          </a:p>
        </p:txBody>
      </p:sp>
      <p:sp>
        <p:nvSpPr>
          <p:cNvPr id="26" name="Text 24"/>
          <p:cNvSpPr/>
          <p:nvPr/>
        </p:nvSpPr>
        <p:spPr>
          <a:xfrm>
            <a:off x="886968" y="5422392"/>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async event bus + DLQ</a:t>
            </a:r>
            <a:endParaRPr lang="en-US" sz="950" dirty="0"/>
          </a:p>
        </p:txBody>
      </p:sp>
      <p:sp>
        <p:nvSpPr>
          <p:cNvPr id="27" name="Text 25"/>
          <p:cNvSpPr/>
          <p:nvPr/>
        </p:nvSpPr>
        <p:spPr>
          <a:xfrm>
            <a:off x="640080" y="5733288"/>
            <a:ext cx="228600" cy="274320"/>
          </a:xfrm>
          <a:prstGeom prst="rect">
            <a:avLst/>
          </a:prstGeom>
          <a:noFill/>
          <a:ln/>
        </p:spPr>
        <p:txBody>
          <a:bodyPr wrap="square" rtlCol="0" anchor="ctr"/>
          <a:lstStyle/>
          <a:p>
            <a:pPr algn="l" indent="0" marL="0">
              <a:buNone/>
            </a:pPr>
            <a:r>
              <a:rPr lang="en-US" sz="800" dirty="0">
                <a:solidFill>
                  <a:srgbClr val="0D9488"/>
                </a:solidFill>
                <a:latin typeface="Segoe UI" pitchFamily="34" charset="0"/>
                <a:ea typeface="Segoe UI" pitchFamily="34" charset="-122"/>
                <a:cs typeface="Segoe UI" pitchFamily="34" charset="-120"/>
              </a:rPr>
              <a:t>●</a:t>
            </a:r>
            <a:endParaRPr lang="en-US" sz="800" dirty="0"/>
          </a:p>
        </p:txBody>
      </p:sp>
      <p:sp>
        <p:nvSpPr>
          <p:cNvPr id="28" name="Text 26"/>
          <p:cNvSpPr/>
          <p:nvPr/>
        </p:nvSpPr>
        <p:spPr>
          <a:xfrm>
            <a:off x="886968" y="5733288"/>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MySQL 8 / H2</a:t>
            </a:r>
            <a:endParaRPr lang="en-US" sz="1150" dirty="0"/>
          </a:p>
        </p:txBody>
      </p:sp>
      <p:sp>
        <p:nvSpPr>
          <p:cNvPr id="29" name="Text 27"/>
          <p:cNvSpPr/>
          <p:nvPr/>
        </p:nvSpPr>
        <p:spPr>
          <a:xfrm>
            <a:off x="886968" y="5989320"/>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per-service databases</a:t>
            </a:r>
            <a:endParaRPr lang="en-US" sz="950" dirty="0"/>
          </a:p>
        </p:txBody>
      </p:sp>
      <p:sp>
        <p:nvSpPr>
          <p:cNvPr id="30" name="Shape 28"/>
          <p:cNvSpPr/>
          <p:nvPr/>
        </p:nvSpPr>
        <p:spPr>
          <a:xfrm>
            <a:off x="4270248" y="1554480"/>
            <a:ext cx="3611880" cy="4709160"/>
          </a:xfrm>
          <a:prstGeom prst="roundRect">
            <a:avLst>
              <a:gd name="adj" fmla="val 1519"/>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31" name="Shape 29"/>
          <p:cNvSpPr/>
          <p:nvPr/>
        </p:nvSpPr>
        <p:spPr>
          <a:xfrm>
            <a:off x="4471416" y="1755648"/>
            <a:ext cx="1463040" cy="384048"/>
          </a:xfrm>
          <a:prstGeom prst="roundRect">
            <a:avLst>
              <a:gd name="adj" fmla="val 119048"/>
            </a:avLst>
          </a:prstGeom>
          <a:solidFill>
            <a:srgbClr val="38BDF8"/>
          </a:solidFill>
          <a:ln w="12700">
            <a:solidFill>
              <a:srgbClr val="38BDF8"/>
            </a:solidFill>
            <a:prstDash val="solid"/>
          </a:ln>
        </p:spPr>
      </p:sp>
      <p:sp>
        <p:nvSpPr>
          <p:cNvPr id="32" name="Text 30"/>
          <p:cNvSpPr/>
          <p:nvPr/>
        </p:nvSpPr>
        <p:spPr>
          <a:xfrm>
            <a:off x="4471416" y="1755648"/>
            <a:ext cx="1463040" cy="384048"/>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Frontend</a:t>
            </a:r>
            <a:endParaRPr lang="en-US" sz="1150" dirty="0"/>
          </a:p>
        </p:txBody>
      </p:sp>
      <p:sp>
        <p:nvSpPr>
          <p:cNvPr id="33" name="Text 31"/>
          <p:cNvSpPr/>
          <p:nvPr/>
        </p:nvSpPr>
        <p:spPr>
          <a:xfrm>
            <a:off x="4498848" y="2331720"/>
            <a:ext cx="228600" cy="274320"/>
          </a:xfrm>
          <a:prstGeom prst="rect">
            <a:avLst/>
          </a:prstGeom>
          <a:noFill/>
          <a:ln/>
        </p:spPr>
        <p:txBody>
          <a:bodyPr wrap="square" rtlCol="0" anchor="ctr"/>
          <a:lstStyle/>
          <a:p>
            <a:pPr algn="l" indent="0" marL="0">
              <a:buNone/>
            </a:pPr>
            <a:r>
              <a:rPr lang="en-US" sz="800" dirty="0">
                <a:solidFill>
                  <a:srgbClr val="38BDF8"/>
                </a:solidFill>
                <a:latin typeface="Segoe UI" pitchFamily="34" charset="0"/>
                <a:ea typeface="Segoe UI" pitchFamily="34" charset="-122"/>
                <a:cs typeface="Segoe UI" pitchFamily="34" charset="-120"/>
              </a:rPr>
              <a:t>●</a:t>
            </a:r>
            <a:endParaRPr lang="en-US" sz="800" dirty="0"/>
          </a:p>
        </p:txBody>
      </p:sp>
      <p:sp>
        <p:nvSpPr>
          <p:cNvPr id="34" name="Text 32"/>
          <p:cNvSpPr/>
          <p:nvPr/>
        </p:nvSpPr>
        <p:spPr>
          <a:xfrm>
            <a:off x="4745736" y="2331720"/>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React 18 + TypeScript</a:t>
            </a:r>
            <a:endParaRPr lang="en-US" sz="1150" dirty="0"/>
          </a:p>
        </p:txBody>
      </p:sp>
      <p:sp>
        <p:nvSpPr>
          <p:cNvPr id="35" name="Text 33"/>
          <p:cNvSpPr/>
          <p:nvPr/>
        </p:nvSpPr>
        <p:spPr>
          <a:xfrm>
            <a:off x="4745736" y="2587752"/>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typed UI components</a:t>
            </a:r>
            <a:endParaRPr lang="en-US" sz="950" dirty="0"/>
          </a:p>
        </p:txBody>
      </p:sp>
      <p:sp>
        <p:nvSpPr>
          <p:cNvPr id="36" name="Text 34"/>
          <p:cNvSpPr/>
          <p:nvPr/>
        </p:nvSpPr>
        <p:spPr>
          <a:xfrm>
            <a:off x="4498848" y="2898648"/>
            <a:ext cx="228600" cy="274320"/>
          </a:xfrm>
          <a:prstGeom prst="rect">
            <a:avLst/>
          </a:prstGeom>
          <a:noFill/>
          <a:ln/>
        </p:spPr>
        <p:txBody>
          <a:bodyPr wrap="square" rtlCol="0" anchor="ctr"/>
          <a:lstStyle/>
          <a:p>
            <a:pPr algn="l" indent="0" marL="0">
              <a:buNone/>
            </a:pPr>
            <a:r>
              <a:rPr lang="en-US" sz="800" dirty="0">
                <a:solidFill>
                  <a:srgbClr val="38BDF8"/>
                </a:solidFill>
                <a:latin typeface="Segoe UI" pitchFamily="34" charset="0"/>
                <a:ea typeface="Segoe UI" pitchFamily="34" charset="-122"/>
                <a:cs typeface="Segoe UI" pitchFamily="34" charset="-120"/>
              </a:rPr>
              <a:t>●</a:t>
            </a:r>
            <a:endParaRPr lang="en-US" sz="800" dirty="0"/>
          </a:p>
        </p:txBody>
      </p:sp>
      <p:sp>
        <p:nvSpPr>
          <p:cNvPr id="37" name="Text 35"/>
          <p:cNvSpPr/>
          <p:nvPr/>
        </p:nvSpPr>
        <p:spPr>
          <a:xfrm>
            <a:off x="4745736" y="2898648"/>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Vite</a:t>
            </a:r>
            <a:endParaRPr lang="en-US" sz="1150" dirty="0"/>
          </a:p>
        </p:txBody>
      </p:sp>
      <p:sp>
        <p:nvSpPr>
          <p:cNvPr id="38" name="Text 36"/>
          <p:cNvSpPr/>
          <p:nvPr/>
        </p:nvSpPr>
        <p:spPr>
          <a:xfrm>
            <a:off x="4745736" y="3154680"/>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fast dev + builds</a:t>
            </a:r>
            <a:endParaRPr lang="en-US" sz="950" dirty="0"/>
          </a:p>
        </p:txBody>
      </p:sp>
      <p:sp>
        <p:nvSpPr>
          <p:cNvPr id="39" name="Text 37"/>
          <p:cNvSpPr/>
          <p:nvPr/>
        </p:nvSpPr>
        <p:spPr>
          <a:xfrm>
            <a:off x="4498848" y="3465576"/>
            <a:ext cx="228600" cy="274320"/>
          </a:xfrm>
          <a:prstGeom prst="rect">
            <a:avLst/>
          </a:prstGeom>
          <a:noFill/>
          <a:ln/>
        </p:spPr>
        <p:txBody>
          <a:bodyPr wrap="square" rtlCol="0" anchor="ctr"/>
          <a:lstStyle/>
          <a:p>
            <a:pPr algn="l" indent="0" marL="0">
              <a:buNone/>
            </a:pPr>
            <a:r>
              <a:rPr lang="en-US" sz="800" dirty="0">
                <a:solidFill>
                  <a:srgbClr val="38BDF8"/>
                </a:solidFill>
                <a:latin typeface="Segoe UI" pitchFamily="34" charset="0"/>
                <a:ea typeface="Segoe UI" pitchFamily="34" charset="-122"/>
                <a:cs typeface="Segoe UI" pitchFamily="34" charset="-120"/>
              </a:rPr>
              <a:t>●</a:t>
            </a:r>
            <a:endParaRPr lang="en-US" sz="800" dirty="0"/>
          </a:p>
        </p:txBody>
      </p:sp>
      <p:sp>
        <p:nvSpPr>
          <p:cNvPr id="40" name="Text 38"/>
          <p:cNvSpPr/>
          <p:nvPr/>
        </p:nvSpPr>
        <p:spPr>
          <a:xfrm>
            <a:off x="4745736" y="3465576"/>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Tailwind CSS</a:t>
            </a:r>
            <a:endParaRPr lang="en-US" sz="1150" dirty="0"/>
          </a:p>
        </p:txBody>
      </p:sp>
      <p:sp>
        <p:nvSpPr>
          <p:cNvPr id="41" name="Text 39"/>
          <p:cNvSpPr/>
          <p:nvPr/>
        </p:nvSpPr>
        <p:spPr>
          <a:xfrm>
            <a:off x="4745736" y="3721608"/>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design-token styling</a:t>
            </a:r>
            <a:endParaRPr lang="en-US" sz="950" dirty="0"/>
          </a:p>
        </p:txBody>
      </p:sp>
      <p:sp>
        <p:nvSpPr>
          <p:cNvPr id="42" name="Text 40"/>
          <p:cNvSpPr/>
          <p:nvPr/>
        </p:nvSpPr>
        <p:spPr>
          <a:xfrm>
            <a:off x="4498848" y="4032504"/>
            <a:ext cx="228600" cy="274320"/>
          </a:xfrm>
          <a:prstGeom prst="rect">
            <a:avLst/>
          </a:prstGeom>
          <a:noFill/>
          <a:ln/>
        </p:spPr>
        <p:txBody>
          <a:bodyPr wrap="square" rtlCol="0" anchor="ctr"/>
          <a:lstStyle/>
          <a:p>
            <a:pPr algn="l" indent="0" marL="0">
              <a:buNone/>
            </a:pPr>
            <a:r>
              <a:rPr lang="en-US" sz="800" dirty="0">
                <a:solidFill>
                  <a:srgbClr val="38BDF8"/>
                </a:solidFill>
                <a:latin typeface="Segoe UI" pitchFamily="34" charset="0"/>
                <a:ea typeface="Segoe UI" pitchFamily="34" charset="-122"/>
                <a:cs typeface="Segoe UI" pitchFamily="34" charset="-120"/>
              </a:rPr>
              <a:t>●</a:t>
            </a:r>
            <a:endParaRPr lang="en-US" sz="800" dirty="0"/>
          </a:p>
        </p:txBody>
      </p:sp>
      <p:sp>
        <p:nvSpPr>
          <p:cNvPr id="43" name="Text 41"/>
          <p:cNvSpPr/>
          <p:nvPr/>
        </p:nvSpPr>
        <p:spPr>
          <a:xfrm>
            <a:off x="4745736" y="4032504"/>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React Router 6</a:t>
            </a:r>
            <a:endParaRPr lang="en-US" sz="1150" dirty="0"/>
          </a:p>
        </p:txBody>
      </p:sp>
      <p:sp>
        <p:nvSpPr>
          <p:cNvPr id="44" name="Text 42"/>
          <p:cNvSpPr/>
          <p:nvPr/>
        </p:nvSpPr>
        <p:spPr>
          <a:xfrm>
            <a:off x="4745736" y="4288536"/>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role-based routes</a:t>
            </a:r>
            <a:endParaRPr lang="en-US" sz="950" dirty="0"/>
          </a:p>
        </p:txBody>
      </p:sp>
      <p:sp>
        <p:nvSpPr>
          <p:cNvPr id="45" name="Text 43"/>
          <p:cNvSpPr/>
          <p:nvPr/>
        </p:nvSpPr>
        <p:spPr>
          <a:xfrm>
            <a:off x="4498848" y="4599432"/>
            <a:ext cx="228600" cy="274320"/>
          </a:xfrm>
          <a:prstGeom prst="rect">
            <a:avLst/>
          </a:prstGeom>
          <a:noFill/>
          <a:ln/>
        </p:spPr>
        <p:txBody>
          <a:bodyPr wrap="square" rtlCol="0" anchor="ctr"/>
          <a:lstStyle/>
          <a:p>
            <a:pPr algn="l" indent="0" marL="0">
              <a:buNone/>
            </a:pPr>
            <a:r>
              <a:rPr lang="en-US" sz="800" dirty="0">
                <a:solidFill>
                  <a:srgbClr val="38BDF8"/>
                </a:solidFill>
                <a:latin typeface="Segoe UI" pitchFamily="34" charset="0"/>
                <a:ea typeface="Segoe UI" pitchFamily="34" charset="-122"/>
                <a:cs typeface="Segoe UI" pitchFamily="34" charset="-120"/>
              </a:rPr>
              <a:t>●</a:t>
            </a:r>
            <a:endParaRPr lang="en-US" sz="800" dirty="0"/>
          </a:p>
        </p:txBody>
      </p:sp>
      <p:sp>
        <p:nvSpPr>
          <p:cNvPr id="46" name="Text 44"/>
          <p:cNvSpPr/>
          <p:nvPr/>
        </p:nvSpPr>
        <p:spPr>
          <a:xfrm>
            <a:off x="4745736" y="4599432"/>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Recharts</a:t>
            </a:r>
            <a:endParaRPr lang="en-US" sz="1150" dirty="0"/>
          </a:p>
        </p:txBody>
      </p:sp>
      <p:sp>
        <p:nvSpPr>
          <p:cNvPr id="47" name="Text 45"/>
          <p:cNvSpPr/>
          <p:nvPr/>
        </p:nvSpPr>
        <p:spPr>
          <a:xfrm>
            <a:off x="4745736" y="4855464"/>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admin analytics</a:t>
            </a:r>
            <a:endParaRPr lang="en-US" sz="950" dirty="0"/>
          </a:p>
        </p:txBody>
      </p:sp>
      <p:sp>
        <p:nvSpPr>
          <p:cNvPr id="48" name="Text 46"/>
          <p:cNvSpPr/>
          <p:nvPr/>
        </p:nvSpPr>
        <p:spPr>
          <a:xfrm>
            <a:off x="4498848" y="5166360"/>
            <a:ext cx="228600" cy="274320"/>
          </a:xfrm>
          <a:prstGeom prst="rect">
            <a:avLst/>
          </a:prstGeom>
          <a:noFill/>
          <a:ln/>
        </p:spPr>
        <p:txBody>
          <a:bodyPr wrap="square" rtlCol="0" anchor="ctr"/>
          <a:lstStyle/>
          <a:p>
            <a:pPr algn="l" indent="0" marL="0">
              <a:buNone/>
            </a:pPr>
            <a:r>
              <a:rPr lang="en-US" sz="800" dirty="0">
                <a:solidFill>
                  <a:srgbClr val="38BDF8"/>
                </a:solidFill>
                <a:latin typeface="Segoe UI" pitchFamily="34" charset="0"/>
                <a:ea typeface="Segoe UI" pitchFamily="34" charset="-122"/>
                <a:cs typeface="Segoe UI" pitchFamily="34" charset="-120"/>
              </a:rPr>
              <a:t>●</a:t>
            </a:r>
            <a:endParaRPr lang="en-US" sz="800" dirty="0"/>
          </a:p>
        </p:txBody>
      </p:sp>
      <p:sp>
        <p:nvSpPr>
          <p:cNvPr id="49" name="Text 47"/>
          <p:cNvSpPr/>
          <p:nvPr/>
        </p:nvSpPr>
        <p:spPr>
          <a:xfrm>
            <a:off x="4745736" y="5166360"/>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Leaflet + react-leaflet</a:t>
            </a:r>
            <a:endParaRPr lang="en-US" sz="1150" dirty="0"/>
          </a:p>
        </p:txBody>
      </p:sp>
      <p:sp>
        <p:nvSpPr>
          <p:cNvPr id="50" name="Text 48"/>
          <p:cNvSpPr/>
          <p:nvPr/>
        </p:nvSpPr>
        <p:spPr>
          <a:xfrm>
            <a:off x="4745736" y="5422392"/>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hotspot heatmaps</a:t>
            </a:r>
            <a:endParaRPr lang="en-US" sz="950" dirty="0"/>
          </a:p>
        </p:txBody>
      </p:sp>
      <p:sp>
        <p:nvSpPr>
          <p:cNvPr id="51" name="Text 49"/>
          <p:cNvSpPr/>
          <p:nvPr/>
        </p:nvSpPr>
        <p:spPr>
          <a:xfrm>
            <a:off x="4498848" y="5733288"/>
            <a:ext cx="228600" cy="274320"/>
          </a:xfrm>
          <a:prstGeom prst="rect">
            <a:avLst/>
          </a:prstGeom>
          <a:noFill/>
          <a:ln/>
        </p:spPr>
        <p:txBody>
          <a:bodyPr wrap="square" rtlCol="0" anchor="ctr"/>
          <a:lstStyle/>
          <a:p>
            <a:pPr algn="l" indent="0" marL="0">
              <a:buNone/>
            </a:pPr>
            <a:r>
              <a:rPr lang="en-US" sz="800" dirty="0">
                <a:solidFill>
                  <a:srgbClr val="38BDF8"/>
                </a:solidFill>
                <a:latin typeface="Segoe UI" pitchFamily="34" charset="0"/>
                <a:ea typeface="Segoe UI" pitchFamily="34" charset="-122"/>
                <a:cs typeface="Segoe UI" pitchFamily="34" charset="-120"/>
              </a:rPr>
              <a:t>●</a:t>
            </a:r>
            <a:endParaRPr lang="en-US" sz="800" dirty="0"/>
          </a:p>
        </p:txBody>
      </p:sp>
      <p:sp>
        <p:nvSpPr>
          <p:cNvPr id="52" name="Text 50"/>
          <p:cNvSpPr/>
          <p:nvPr/>
        </p:nvSpPr>
        <p:spPr>
          <a:xfrm>
            <a:off x="4745736" y="5733288"/>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Lucide icons</a:t>
            </a:r>
            <a:endParaRPr lang="en-US" sz="1150" dirty="0"/>
          </a:p>
        </p:txBody>
      </p:sp>
      <p:sp>
        <p:nvSpPr>
          <p:cNvPr id="53" name="Text 51"/>
          <p:cNvSpPr/>
          <p:nvPr/>
        </p:nvSpPr>
        <p:spPr>
          <a:xfrm>
            <a:off x="4745736" y="5989320"/>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consistent iconography</a:t>
            </a:r>
            <a:endParaRPr lang="en-US" sz="950" dirty="0"/>
          </a:p>
        </p:txBody>
      </p:sp>
      <p:sp>
        <p:nvSpPr>
          <p:cNvPr id="54" name="Shape 52"/>
          <p:cNvSpPr/>
          <p:nvPr/>
        </p:nvSpPr>
        <p:spPr>
          <a:xfrm>
            <a:off x="8129016" y="1554480"/>
            <a:ext cx="3611880" cy="4709160"/>
          </a:xfrm>
          <a:prstGeom prst="roundRect">
            <a:avLst>
              <a:gd name="adj" fmla="val 1519"/>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55" name="Shape 53"/>
          <p:cNvSpPr/>
          <p:nvPr/>
        </p:nvSpPr>
        <p:spPr>
          <a:xfrm>
            <a:off x="8330184" y="1755648"/>
            <a:ext cx="1463040" cy="384048"/>
          </a:xfrm>
          <a:prstGeom prst="roundRect">
            <a:avLst>
              <a:gd name="adj" fmla="val 119048"/>
            </a:avLst>
          </a:prstGeom>
          <a:solidFill>
            <a:srgbClr val="F59E0B"/>
          </a:solidFill>
          <a:ln w="12700">
            <a:solidFill>
              <a:srgbClr val="F59E0B"/>
            </a:solidFill>
            <a:prstDash val="solid"/>
          </a:ln>
        </p:spPr>
      </p:sp>
      <p:sp>
        <p:nvSpPr>
          <p:cNvPr id="56" name="Text 54"/>
          <p:cNvSpPr/>
          <p:nvPr/>
        </p:nvSpPr>
        <p:spPr>
          <a:xfrm>
            <a:off x="8330184" y="1755648"/>
            <a:ext cx="1463040" cy="384048"/>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DevOps &amp; Integrations</a:t>
            </a:r>
            <a:endParaRPr lang="en-US" sz="1150" dirty="0"/>
          </a:p>
        </p:txBody>
      </p:sp>
      <p:sp>
        <p:nvSpPr>
          <p:cNvPr id="57" name="Text 55"/>
          <p:cNvSpPr/>
          <p:nvPr/>
        </p:nvSpPr>
        <p:spPr>
          <a:xfrm>
            <a:off x="8357616" y="2331720"/>
            <a:ext cx="228600" cy="274320"/>
          </a:xfrm>
          <a:prstGeom prst="rect">
            <a:avLst/>
          </a:prstGeom>
          <a:noFill/>
          <a:ln/>
        </p:spPr>
        <p:txBody>
          <a:bodyPr wrap="square" rtlCol="0" anchor="ctr"/>
          <a:lstStyle/>
          <a:p>
            <a:pPr algn="l" indent="0" marL="0">
              <a:buNone/>
            </a:pPr>
            <a:r>
              <a:rPr lang="en-US" sz="800" dirty="0">
                <a:solidFill>
                  <a:srgbClr val="F59E0B"/>
                </a:solidFill>
                <a:latin typeface="Segoe UI" pitchFamily="34" charset="0"/>
                <a:ea typeface="Segoe UI" pitchFamily="34" charset="-122"/>
                <a:cs typeface="Segoe UI" pitchFamily="34" charset="-120"/>
              </a:rPr>
              <a:t>●</a:t>
            </a:r>
            <a:endParaRPr lang="en-US" sz="800" dirty="0"/>
          </a:p>
        </p:txBody>
      </p:sp>
      <p:sp>
        <p:nvSpPr>
          <p:cNvPr id="58" name="Text 56"/>
          <p:cNvSpPr/>
          <p:nvPr/>
        </p:nvSpPr>
        <p:spPr>
          <a:xfrm>
            <a:off x="8604504" y="2331720"/>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Docker + Docker Compose</a:t>
            </a:r>
            <a:endParaRPr lang="en-US" sz="1150" dirty="0"/>
          </a:p>
        </p:txBody>
      </p:sp>
      <p:sp>
        <p:nvSpPr>
          <p:cNvPr id="59" name="Text 57"/>
          <p:cNvSpPr/>
          <p:nvPr/>
        </p:nvSpPr>
        <p:spPr>
          <a:xfrm>
            <a:off x="8604504" y="2587752"/>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7 services + MySQL + RabbitMQ</a:t>
            </a:r>
            <a:endParaRPr lang="en-US" sz="950" dirty="0"/>
          </a:p>
        </p:txBody>
      </p:sp>
      <p:sp>
        <p:nvSpPr>
          <p:cNvPr id="60" name="Text 58"/>
          <p:cNvSpPr/>
          <p:nvPr/>
        </p:nvSpPr>
        <p:spPr>
          <a:xfrm>
            <a:off x="8357616" y="2898648"/>
            <a:ext cx="228600" cy="274320"/>
          </a:xfrm>
          <a:prstGeom prst="rect">
            <a:avLst/>
          </a:prstGeom>
          <a:noFill/>
          <a:ln/>
        </p:spPr>
        <p:txBody>
          <a:bodyPr wrap="square" rtlCol="0" anchor="ctr"/>
          <a:lstStyle/>
          <a:p>
            <a:pPr algn="l" indent="0" marL="0">
              <a:buNone/>
            </a:pPr>
            <a:r>
              <a:rPr lang="en-US" sz="800" dirty="0">
                <a:solidFill>
                  <a:srgbClr val="F59E0B"/>
                </a:solidFill>
                <a:latin typeface="Segoe UI" pitchFamily="34" charset="0"/>
                <a:ea typeface="Segoe UI" pitchFamily="34" charset="-122"/>
                <a:cs typeface="Segoe UI" pitchFamily="34" charset="-120"/>
              </a:rPr>
              <a:t>●</a:t>
            </a:r>
            <a:endParaRPr lang="en-US" sz="800" dirty="0"/>
          </a:p>
        </p:txBody>
      </p:sp>
      <p:sp>
        <p:nvSpPr>
          <p:cNvPr id="61" name="Text 59"/>
          <p:cNvSpPr/>
          <p:nvPr/>
        </p:nvSpPr>
        <p:spPr>
          <a:xfrm>
            <a:off x="8604504" y="2898648"/>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GitHub Actions</a:t>
            </a:r>
            <a:endParaRPr lang="en-US" sz="1150" dirty="0"/>
          </a:p>
        </p:txBody>
      </p:sp>
      <p:sp>
        <p:nvSpPr>
          <p:cNvPr id="62" name="Text 60"/>
          <p:cNvSpPr/>
          <p:nvPr/>
        </p:nvSpPr>
        <p:spPr>
          <a:xfrm>
            <a:off x="8604504" y="3154680"/>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backend/frontend CI + image push</a:t>
            </a:r>
            <a:endParaRPr lang="en-US" sz="950" dirty="0"/>
          </a:p>
        </p:txBody>
      </p:sp>
      <p:sp>
        <p:nvSpPr>
          <p:cNvPr id="63" name="Text 61"/>
          <p:cNvSpPr/>
          <p:nvPr/>
        </p:nvSpPr>
        <p:spPr>
          <a:xfrm>
            <a:off x="8357616" y="3465576"/>
            <a:ext cx="228600" cy="274320"/>
          </a:xfrm>
          <a:prstGeom prst="rect">
            <a:avLst/>
          </a:prstGeom>
          <a:noFill/>
          <a:ln/>
        </p:spPr>
        <p:txBody>
          <a:bodyPr wrap="square" rtlCol="0" anchor="ctr"/>
          <a:lstStyle/>
          <a:p>
            <a:pPr algn="l" indent="0" marL="0">
              <a:buNone/>
            </a:pPr>
            <a:r>
              <a:rPr lang="en-US" sz="800" dirty="0">
                <a:solidFill>
                  <a:srgbClr val="F59E0B"/>
                </a:solidFill>
                <a:latin typeface="Segoe UI" pitchFamily="34" charset="0"/>
                <a:ea typeface="Segoe UI" pitchFamily="34" charset="-122"/>
                <a:cs typeface="Segoe UI" pitchFamily="34" charset="-120"/>
              </a:rPr>
              <a:t>●</a:t>
            </a:r>
            <a:endParaRPr lang="en-US" sz="800" dirty="0"/>
          </a:p>
        </p:txBody>
      </p:sp>
      <p:sp>
        <p:nvSpPr>
          <p:cNvPr id="64" name="Text 62"/>
          <p:cNvSpPr/>
          <p:nvPr/>
        </p:nvSpPr>
        <p:spPr>
          <a:xfrm>
            <a:off x="8604504" y="3465576"/>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Docker Hub</a:t>
            </a:r>
            <a:endParaRPr lang="en-US" sz="1150" dirty="0"/>
          </a:p>
        </p:txBody>
      </p:sp>
      <p:sp>
        <p:nvSpPr>
          <p:cNvPr id="65" name="Text 63"/>
          <p:cNvSpPr/>
          <p:nvPr/>
        </p:nvSpPr>
        <p:spPr>
          <a:xfrm>
            <a:off x="8604504" y="3721608"/>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image registry</a:t>
            </a:r>
            <a:endParaRPr lang="en-US" sz="950" dirty="0"/>
          </a:p>
        </p:txBody>
      </p:sp>
      <p:sp>
        <p:nvSpPr>
          <p:cNvPr id="66" name="Text 64"/>
          <p:cNvSpPr/>
          <p:nvPr/>
        </p:nvSpPr>
        <p:spPr>
          <a:xfrm>
            <a:off x="8357616" y="4032504"/>
            <a:ext cx="228600" cy="274320"/>
          </a:xfrm>
          <a:prstGeom prst="rect">
            <a:avLst/>
          </a:prstGeom>
          <a:noFill/>
          <a:ln/>
        </p:spPr>
        <p:txBody>
          <a:bodyPr wrap="square" rtlCol="0" anchor="ctr"/>
          <a:lstStyle/>
          <a:p>
            <a:pPr algn="l" indent="0" marL="0">
              <a:buNone/>
            </a:pPr>
            <a:r>
              <a:rPr lang="en-US" sz="800" dirty="0">
                <a:solidFill>
                  <a:srgbClr val="F59E0B"/>
                </a:solidFill>
                <a:latin typeface="Segoe UI" pitchFamily="34" charset="0"/>
                <a:ea typeface="Segoe UI" pitchFamily="34" charset="-122"/>
                <a:cs typeface="Segoe UI" pitchFamily="34" charset="-120"/>
              </a:rPr>
              <a:t>●</a:t>
            </a:r>
            <a:endParaRPr lang="en-US" sz="800" dirty="0"/>
          </a:p>
        </p:txBody>
      </p:sp>
      <p:sp>
        <p:nvSpPr>
          <p:cNvPr id="67" name="Text 65"/>
          <p:cNvSpPr/>
          <p:nvPr/>
        </p:nvSpPr>
        <p:spPr>
          <a:xfrm>
            <a:off x="8604504" y="4032504"/>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AWS EC2</a:t>
            </a:r>
            <a:endParaRPr lang="en-US" sz="1150" dirty="0"/>
          </a:p>
        </p:txBody>
      </p:sp>
      <p:sp>
        <p:nvSpPr>
          <p:cNvPr id="68" name="Text 66"/>
          <p:cNvSpPr/>
          <p:nvPr/>
        </p:nvSpPr>
        <p:spPr>
          <a:xfrm>
            <a:off x="8604504" y="4288536"/>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backend hosting</a:t>
            </a:r>
            <a:endParaRPr lang="en-US" sz="950" dirty="0"/>
          </a:p>
        </p:txBody>
      </p:sp>
      <p:sp>
        <p:nvSpPr>
          <p:cNvPr id="69" name="Text 67"/>
          <p:cNvSpPr/>
          <p:nvPr/>
        </p:nvSpPr>
        <p:spPr>
          <a:xfrm>
            <a:off x="8357616" y="4599432"/>
            <a:ext cx="228600" cy="274320"/>
          </a:xfrm>
          <a:prstGeom prst="rect">
            <a:avLst/>
          </a:prstGeom>
          <a:noFill/>
          <a:ln/>
        </p:spPr>
        <p:txBody>
          <a:bodyPr wrap="square" rtlCol="0" anchor="ctr"/>
          <a:lstStyle/>
          <a:p>
            <a:pPr algn="l" indent="0" marL="0">
              <a:buNone/>
            </a:pPr>
            <a:r>
              <a:rPr lang="en-US" sz="800" dirty="0">
                <a:solidFill>
                  <a:srgbClr val="F59E0B"/>
                </a:solidFill>
                <a:latin typeface="Segoe UI" pitchFamily="34" charset="0"/>
                <a:ea typeface="Segoe UI" pitchFamily="34" charset="-122"/>
                <a:cs typeface="Segoe UI" pitchFamily="34" charset="-120"/>
              </a:rPr>
              <a:t>●</a:t>
            </a:r>
            <a:endParaRPr lang="en-US" sz="800" dirty="0"/>
          </a:p>
        </p:txBody>
      </p:sp>
      <p:sp>
        <p:nvSpPr>
          <p:cNvPr id="70" name="Text 68"/>
          <p:cNvSpPr/>
          <p:nvPr/>
        </p:nvSpPr>
        <p:spPr>
          <a:xfrm>
            <a:off x="8604504" y="4599432"/>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Vercel</a:t>
            </a:r>
            <a:endParaRPr lang="en-US" sz="1150" dirty="0"/>
          </a:p>
        </p:txBody>
      </p:sp>
      <p:sp>
        <p:nvSpPr>
          <p:cNvPr id="71" name="Text 69"/>
          <p:cNvSpPr/>
          <p:nvPr/>
        </p:nvSpPr>
        <p:spPr>
          <a:xfrm>
            <a:off x="8604504" y="4855464"/>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frontend hosting (SPA)</a:t>
            </a:r>
            <a:endParaRPr lang="en-US" sz="950" dirty="0"/>
          </a:p>
        </p:txBody>
      </p:sp>
      <p:sp>
        <p:nvSpPr>
          <p:cNvPr id="72" name="Text 70"/>
          <p:cNvSpPr/>
          <p:nvPr/>
        </p:nvSpPr>
        <p:spPr>
          <a:xfrm>
            <a:off x="8357616" y="5166360"/>
            <a:ext cx="228600" cy="274320"/>
          </a:xfrm>
          <a:prstGeom prst="rect">
            <a:avLst/>
          </a:prstGeom>
          <a:noFill/>
          <a:ln/>
        </p:spPr>
        <p:txBody>
          <a:bodyPr wrap="square" rtlCol="0" anchor="ctr"/>
          <a:lstStyle/>
          <a:p>
            <a:pPr algn="l" indent="0" marL="0">
              <a:buNone/>
            </a:pPr>
            <a:r>
              <a:rPr lang="en-US" sz="800" dirty="0">
                <a:solidFill>
                  <a:srgbClr val="F59E0B"/>
                </a:solidFill>
                <a:latin typeface="Segoe UI" pitchFamily="34" charset="0"/>
                <a:ea typeface="Segoe UI" pitchFamily="34" charset="-122"/>
                <a:cs typeface="Segoe UI" pitchFamily="34" charset="-120"/>
              </a:rPr>
              <a:t>●</a:t>
            </a:r>
            <a:endParaRPr lang="en-US" sz="800" dirty="0"/>
          </a:p>
        </p:txBody>
      </p:sp>
      <p:sp>
        <p:nvSpPr>
          <p:cNvPr id="73" name="Text 71"/>
          <p:cNvSpPr/>
          <p:nvPr/>
        </p:nvSpPr>
        <p:spPr>
          <a:xfrm>
            <a:off x="8604504" y="5166360"/>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Cloudinary</a:t>
            </a:r>
            <a:endParaRPr lang="en-US" sz="1150" dirty="0"/>
          </a:p>
        </p:txBody>
      </p:sp>
      <p:sp>
        <p:nvSpPr>
          <p:cNvPr id="74" name="Text 72"/>
          <p:cNvSpPr/>
          <p:nvPr/>
        </p:nvSpPr>
        <p:spPr>
          <a:xfrm>
            <a:off x="8604504" y="5422392"/>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object storage for images</a:t>
            </a:r>
            <a:endParaRPr lang="en-US" sz="950" dirty="0"/>
          </a:p>
        </p:txBody>
      </p:sp>
      <p:sp>
        <p:nvSpPr>
          <p:cNvPr id="75" name="Text 73"/>
          <p:cNvSpPr/>
          <p:nvPr/>
        </p:nvSpPr>
        <p:spPr>
          <a:xfrm>
            <a:off x="8357616" y="5733288"/>
            <a:ext cx="228600" cy="274320"/>
          </a:xfrm>
          <a:prstGeom prst="rect">
            <a:avLst/>
          </a:prstGeom>
          <a:noFill/>
          <a:ln/>
        </p:spPr>
        <p:txBody>
          <a:bodyPr wrap="square" rtlCol="0" anchor="ctr"/>
          <a:lstStyle/>
          <a:p>
            <a:pPr algn="l" indent="0" marL="0">
              <a:buNone/>
            </a:pPr>
            <a:r>
              <a:rPr lang="en-US" sz="800" dirty="0">
                <a:solidFill>
                  <a:srgbClr val="F59E0B"/>
                </a:solidFill>
                <a:latin typeface="Segoe UI" pitchFamily="34" charset="0"/>
                <a:ea typeface="Segoe UI" pitchFamily="34" charset="-122"/>
                <a:cs typeface="Segoe UI" pitchFamily="34" charset="-120"/>
              </a:rPr>
              <a:t>●</a:t>
            </a:r>
            <a:endParaRPr lang="en-US" sz="800" dirty="0"/>
          </a:p>
        </p:txBody>
      </p:sp>
      <p:sp>
        <p:nvSpPr>
          <p:cNvPr id="76" name="Text 74"/>
          <p:cNvSpPr/>
          <p:nvPr/>
        </p:nvSpPr>
        <p:spPr>
          <a:xfrm>
            <a:off x="8604504" y="5733288"/>
            <a:ext cx="2926080" cy="274320"/>
          </a:xfrm>
          <a:prstGeom prst="rect">
            <a:avLst/>
          </a:prstGeom>
          <a:noFill/>
          <a:ln/>
        </p:spPr>
        <p:txBody>
          <a:bodyPr wrap="square" rtlCol="0" anchor="ctr"/>
          <a:lstStyle/>
          <a:p>
            <a:pPr algn="l" indent="0" marL="0">
              <a:buNone/>
            </a:pPr>
            <a:r>
              <a:rPr lang="en-US" sz="1150" b="1" dirty="0">
                <a:solidFill>
                  <a:srgbClr val="0B2545"/>
                </a:solidFill>
                <a:latin typeface="Segoe UI" pitchFamily="34" charset="0"/>
                <a:ea typeface="Segoe UI" pitchFamily="34" charset="-122"/>
                <a:cs typeface="Segoe UI" pitchFamily="34" charset="-120"/>
              </a:rPr>
              <a:t>EmailJS</a:t>
            </a:r>
            <a:endParaRPr lang="en-US" sz="1150" dirty="0"/>
          </a:p>
        </p:txBody>
      </p:sp>
      <p:sp>
        <p:nvSpPr>
          <p:cNvPr id="77" name="Text 75"/>
          <p:cNvSpPr/>
          <p:nvPr/>
        </p:nvSpPr>
        <p:spPr>
          <a:xfrm>
            <a:off x="8604504" y="5989320"/>
            <a:ext cx="2926080" cy="256032"/>
          </a:xfrm>
          <a:prstGeom prst="rect">
            <a:avLst/>
          </a:prstGeom>
          <a:noFill/>
          <a:ln/>
        </p:spPr>
        <p:txBody>
          <a:bodyPr wrap="square" rtlCol="0" anchor="ctr"/>
          <a:lstStyle/>
          <a:p>
            <a:pPr algn="l" indent="0" marL="0">
              <a:buNone/>
            </a:pPr>
            <a:r>
              <a:rPr lang="en-US" sz="950" dirty="0">
                <a:solidFill>
                  <a:srgbClr val="5B6B7C"/>
                </a:solidFill>
                <a:latin typeface="Segoe UI" pitchFamily="34" charset="0"/>
                <a:ea typeface="Segoe UI" pitchFamily="34" charset="-122"/>
                <a:cs typeface="Segoe UI" pitchFamily="34" charset="-120"/>
              </a:rPr>
              <a:t>verification &amp; welcome email</a:t>
            </a:r>
            <a:endParaRPr lang="en-US" sz="950" dirty="0"/>
          </a:p>
        </p:txBody>
      </p:sp>
      <p:sp>
        <p:nvSpPr>
          <p:cNvPr id="78" name="Text 76"/>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SEVEN DEPLOYABLE UNITS, ONE PRODUCT</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Microservices at a glance</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Each service owns its domain, its database and its public contract.</a:t>
            </a:r>
            <a:endParaRPr lang="en-US" sz="1250" dirty="0"/>
          </a:p>
        </p:txBody>
      </p:sp>
      <p:sp>
        <p:nvSpPr>
          <p:cNvPr id="6" name="Shape 4"/>
          <p:cNvSpPr/>
          <p:nvPr/>
        </p:nvSpPr>
        <p:spPr>
          <a:xfrm>
            <a:off x="411480" y="1554480"/>
            <a:ext cx="11384280" cy="566928"/>
          </a:xfrm>
          <a:prstGeom prst="roundRect">
            <a:avLst>
              <a:gd name="adj" fmla="val 9677"/>
            </a:avLst>
          </a:prstGeom>
          <a:solidFill>
            <a:srgbClr val="FFFFFF"/>
          </a:solidFill>
          <a:ln w="12700">
            <a:solidFill>
              <a:srgbClr val="E4EDF2"/>
            </a:solidFill>
            <a:prstDash val="solid"/>
          </a:ln>
          <a:effectLst>
            <a:outerShdw sx="100000" sy="100000" kx="0" ky="0" algn="bl" rotWithShape="0" blurRad="50800" dist="25400" dir="5400000">
              <a:srgbClr val="0B2545">
                <a:alpha val="10000"/>
              </a:srgbClr>
            </a:outerShdw>
          </a:effectLst>
        </p:spPr>
      </p:sp>
      <p:sp>
        <p:nvSpPr>
          <p:cNvPr id="7" name="Text 5"/>
          <p:cNvSpPr/>
          <p:nvPr/>
        </p:nvSpPr>
        <p:spPr>
          <a:xfrm>
            <a:off x="594360" y="1554480"/>
            <a:ext cx="2377440" cy="56692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Auth Service</a:t>
            </a:r>
            <a:endParaRPr lang="en-US" sz="1250" dirty="0"/>
          </a:p>
        </p:txBody>
      </p:sp>
      <p:sp>
        <p:nvSpPr>
          <p:cNvPr id="8" name="Text 6"/>
          <p:cNvSpPr/>
          <p:nvPr/>
        </p:nvSpPr>
        <p:spPr>
          <a:xfrm>
            <a:off x="2971800" y="1554480"/>
            <a:ext cx="777240" cy="566928"/>
          </a:xfrm>
          <a:prstGeom prst="rect">
            <a:avLst/>
          </a:prstGeom>
          <a:noFill/>
          <a:ln/>
        </p:spPr>
        <p:txBody>
          <a:bodyPr wrap="square" rtlCol="0" anchor="ctr"/>
          <a:lstStyle/>
          <a:p>
            <a:pPr algn="ctr" indent="0" marL="0">
              <a:buNone/>
            </a:pPr>
            <a:r>
              <a:rPr lang="en-US" sz="1100" b="1" dirty="0">
                <a:solidFill>
                  <a:srgbClr val="0D9488"/>
                </a:solidFill>
                <a:latin typeface="Segoe UI" pitchFamily="34" charset="0"/>
                <a:ea typeface="Segoe UI" pitchFamily="34" charset="-122"/>
                <a:cs typeface="Segoe UI" pitchFamily="34" charset="-120"/>
              </a:rPr>
              <a:t>:8081</a:t>
            </a:r>
            <a:endParaRPr lang="en-US" sz="1100" dirty="0"/>
          </a:p>
        </p:txBody>
      </p:sp>
      <p:sp>
        <p:nvSpPr>
          <p:cNvPr id="9" name="Text 7"/>
          <p:cNvSpPr/>
          <p:nvPr/>
        </p:nvSpPr>
        <p:spPr>
          <a:xfrm>
            <a:off x="3886200" y="1554480"/>
            <a:ext cx="2103120" cy="566928"/>
          </a:xfrm>
          <a:prstGeom prst="rect">
            <a:avLst/>
          </a:prstGeom>
          <a:noFill/>
          <a:ln/>
        </p:spPr>
        <p:txBody>
          <a:bodyPr wrap="square"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sewagealert_auth</a:t>
            </a:r>
            <a:endParaRPr lang="en-US" sz="950" dirty="0"/>
          </a:p>
        </p:txBody>
      </p:sp>
      <p:sp>
        <p:nvSpPr>
          <p:cNvPr id="10" name="Text 8"/>
          <p:cNvSpPr/>
          <p:nvPr/>
        </p:nvSpPr>
        <p:spPr>
          <a:xfrm>
            <a:off x="6172200" y="1554480"/>
            <a:ext cx="5486400" cy="566928"/>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Register, login, JWT issuance, OTP email verification, role lookup.</a:t>
            </a:r>
            <a:endParaRPr lang="en-US" sz="1050" dirty="0"/>
          </a:p>
        </p:txBody>
      </p:sp>
      <p:sp>
        <p:nvSpPr>
          <p:cNvPr id="11" name="Shape 9"/>
          <p:cNvSpPr/>
          <p:nvPr/>
        </p:nvSpPr>
        <p:spPr>
          <a:xfrm>
            <a:off x="411480" y="2212848"/>
            <a:ext cx="11384280" cy="566928"/>
          </a:xfrm>
          <a:prstGeom prst="roundRect">
            <a:avLst>
              <a:gd name="adj" fmla="val 9677"/>
            </a:avLst>
          </a:prstGeom>
          <a:solidFill>
            <a:srgbClr val="F0F6F8"/>
          </a:solidFill>
          <a:ln w="12700">
            <a:solidFill>
              <a:srgbClr val="E4EDF2"/>
            </a:solidFill>
            <a:prstDash val="solid"/>
          </a:ln>
          <a:effectLst>
            <a:outerShdw sx="100000" sy="100000" kx="0" ky="0" algn="bl" rotWithShape="0" blurRad="50800" dist="25400" dir="5400000">
              <a:srgbClr val="0B2545">
                <a:alpha val="10000"/>
              </a:srgbClr>
            </a:outerShdw>
          </a:effectLst>
        </p:spPr>
      </p:sp>
      <p:sp>
        <p:nvSpPr>
          <p:cNvPr id="12" name="Text 10"/>
          <p:cNvSpPr/>
          <p:nvPr/>
        </p:nvSpPr>
        <p:spPr>
          <a:xfrm>
            <a:off x="594360" y="2212848"/>
            <a:ext cx="2377440" cy="56692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User Service</a:t>
            </a:r>
            <a:endParaRPr lang="en-US" sz="1250" dirty="0"/>
          </a:p>
        </p:txBody>
      </p:sp>
      <p:sp>
        <p:nvSpPr>
          <p:cNvPr id="13" name="Text 11"/>
          <p:cNvSpPr/>
          <p:nvPr/>
        </p:nvSpPr>
        <p:spPr>
          <a:xfrm>
            <a:off x="2971800" y="2212848"/>
            <a:ext cx="777240" cy="566928"/>
          </a:xfrm>
          <a:prstGeom prst="rect">
            <a:avLst/>
          </a:prstGeom>
          <a:noFill/>
          <a:ln/>
        </p:spPr>
        <p:txBody>
          <a:bodyPr wrap="square" rtlCol="0" anchor="ctr"/>
          <a:lstStyle/>
          <a:p>
            <a:pPr algn="ctr" indent="0" marL="0">
              <a:buNone/>
            </a:pPr>
            <a:r>
              <a:rPr lang="en-US" sz="1100" b="1" dirty="0">
                <a:solidFill>
                  <a:srgbClr val="0D9488"/>
                </a:solidFill>
                <a:latin typeface="Segoe UI" pitchFamily="34" charset="0"/>
                <a:ea typeface="Segoe UI" pitchFamily="34" charset="-122"/>
                <a:cs typeface="Segoe UI" pitchFamily="34" charset="-120"/>
              </a:rPr>
              <a:t>:8082</a:t>
            </a:r>
            <a:endParaRPr lang="en-US" sz="1100" dirty="0"/>
          </a:p>
        </p:txBody>
      </p:sp>
      <p:sp>
        <p:nvSpPr>
          <p:cNvPr id="14" name="Text 12"/>
          <p:cNvSpPr/>
          <p:nvPr/>
        </p:nvSpPr>
        <p:spPr>
          <a:xfrm>
            <a:off x="3886200" y="2212848"/>
            <a:ext cx="2103120" cy="566928"/>
          </a:xfrm>
          <a:prstGeom prst="rect">
            <a:avLst/>
          </a:prstGeom>
          <a:noFill/>
          <a:ln/>
        </p:spPr>
        <p:txBody>
          <a:bodyPr wrap="square"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sewagealert_users</a:t>
            </a:r>
            <a:endParaRPr lang="en-US" sz="950" dirty="0"/>
          </a:p>
        </p:txBody>
      </p:sp>
      <p:sp>
        <p:nvSpPr>
          <p:cNvPr id="15" name="Text 13"/>
          <p:cNvSpPr/>
          <p:nvPr/>
        </p:nvSpPr>
        <p:spPr>
          <a:xfrm>
            <a:off x="6172200" y="2212848"/>
            <a:ext cx="5486400" cy="566928"/>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Citizen profile CRUD; consumed via OpenFeign by other services.</a:t>
            </a:r>
            <a:endParaRPr lang="en-US" sz="1050" dirty="0"/>
          </a:p>
        </p:txBody>
      </p:sp>
      <p:sp>
        <p:nvSpPr>
          <p:cNvPr id="16" name="Shape 14"/>
          <p:cNvSpPr/>
          <p:nvPr/>
        </p:nvSpPr>
        <p:spPr>
          <a:xfrm>
            <a:off x="411480" y="2871216"/>
            <a:ext cx="11384280" cy="566928"/>
          </a:xfrm>
          <a:prstGeom prst="roundRect">
            <a:avLst>
              <a:gd name="adj" fmla="val 9677"/>
            </a:avLst>
          </a:prstGeom>
          <a:solidFill>
            <a:srgbClr val="FFFFFF"/>
          </a:solidFill>
          <a:ln w="12700">
            <a:solidFill>
              <a:srgbClr val="E4EDF2"/>
            </a:solidFill>
            <a:prstDash val="solid"/>
          </a:ln>
          <a:effectLst>
            <a:outerShdw sx="100000" sy="100000" kx="0" ky="0" algn="bl" rotWithShape="0" blurRad="50800" dist="25400" dir="5400000">
              <a:srgbClr val="0B2545">
                <a:alpha val="10000"/>
              </a:srgbClr>
            </a:outerShdw>
          </a:effectLst>
        </p:spPr>
      </p:sp>
      <p:sp>
        <p:nvSpPr>
          <p:cNvPr id="17" name="Text 15"/>
          <p:cNvSpPr/>
          <p:nvPr/>
        </p:nvSpPr>
        <p:spPr>
          <a:xfrm>
            <a:off x="594360" y="2871216"/>
            <a:ext cx="2377440" cy="56692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Complaint Service</a:t>
            </a:r>
            <a:endParaRPr lang="en-US" sz="1250" dirty="0"/>
          </a:p>
        </p:txBody>
      </p:sp>
      <p:sp>
        <p:nvSpPr>
          <p:cNvPr id="18" name="Text 16"/>
          <p:cNvSpPr/>
          <p:nvPr/>
        </p:nvSpPr>
        <p:spPr>
          <a:xfrm>
            <a:off x="2971800" y="2871216"/>
            <a:ext cx="777240" cy="566928"/>
          </a:xfrm>
          <a:prstGeom prst="rect">
            <a:avLst/>
          </a:prstGeom>
          <a:noFill/>
          <a:ln/>
        </p:spPr>
        <p:txBody>
          <a:bodyPr wrap="square" rtlCol="0" anchor="ctr"/>
          <a:lstStyle/>
          <a:p>
            <a:pPr algn="ctr" indent="0" marL="0">
              <a:buNone/>
            </a:pPr>
            <a:r>
              <a:rPr lang="en-US" sz="1100" b="1" dirty="0">
                <a:solidFill>
                  <a:srgbClr val="0D9488"/>
                </a:solidFill>
                <a:latin typeface="Segoe UI" pitchFamily="34" charset="0"/>
                <a:ea typeface="Segoe UI" pitchFamily="34" charset="-122"/>
                <a:cs typeface="Segoe UI" pitchFamily="34" charset="-120"/>
              </a:rPr>
              <a:t>:8083</a:t>
            </a:r>
            <a:endParaRPr lang="en-US" sz="1100" dirty="0"/>
          </a:p>
        </p:txBody>
      </p:sp>
      <p:sp>
        <p:nvSpPr>
          <p:cNvPr id="19" name="Text 17"/>
          <p:cNvSpPr/>
          <p:nvPr/>
        </p:nvSpPr>
        <p:spPr>
          <a:xfrm>
            <a:off x="3886200" y="2871216"/>
            <a:ext cx="2103120" cy="566928"/>
          </a:xfrm>
          <a:prstGeom prst="rect">
            <a:avLst/>
          </a:prstGeom>
          <a:noFill/>
          <a:ln/>
        </p:spPr>
        <p:txBody>
          <a:bodyPr wrap="square"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sewagealert_complaints</a:t>
            </a:r>
            <a:endParaRPr lang="en-US" sz="950" dirty="0"/>
          </a:p>
        </p:txBody>
      </p:sp>
      <p:sp>
        <p:nvSpPr>
          <p:cNvPr id="20" name="Text 18"/>
          <p:cNvSpPr/>
          <p:nvPr/>
        </p:nvSpPr>
        <p:spPr>
          <a:xfrm>
            <a:off x="6172200" y="2871216"/>
            <a:ext cx="5486400" cy="566928"/>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Complaint lifecycle, Cloudinary images, assignment, status, v1.1.0 resolution proof.</a:t>
            </a:r>
            <a:endParaRPr lang="en-US" sz="1050" dirty="0"/>
          </a:p>
        </p:txBody>
      </p:sp>
      <p:sp>
        <p:nvSpPr>
          <p:cNvPr id="21" name="Shape 19"/>
          <p:cNvSpPr/>
          <p:nvPr/>
        </p:nvSpPr>
        <p:spPr>
          <a:xfrm>
            <a:off x="411480" y="3529584"/>
            <a:ext cx="11384280" cy="566928"/>
          </a:xfrm>
          <a:prstGeom prst="roundRect">
            <a:avLst>
              <a:gd name="adj" fmla="val 9677"/>
            </a:avLst>
          </a:prstGeom>
          <a:solidFill>
            <a:srgbClr val="F0F6F8"/>
          </a:solidFill>
          <a:ln w="12700">
            <a:solidFill>
              <a:srgbClr val="E4EDF2"/>
            </a:solidFill>
            <a:prstDash val="solid"/>
          </a:ln>
          <a:effectLst>
            <a:outerShdw sx="100000" sy="100000" kx="0" ky="0" algn="bl" rotWithShape="0" blurRad="50800" dist="25400" dir="5400000">
              <a:srgbClr val="0B2545">
                <a:alpha val="10000"/>
              </a:srgbClr>
            </a:outerShdw>
          </a:effectLst>
        </p:spPr>
      </p:sp>
      <p:sp>
        <p:nvSpPr>
          <p:cNvPr id="22" name="Text 20"/>
          <p:cNvSpPr/>
          <p:nvPr/>
        </p:nvSpPr>
        <p:spPr>
          <a:xfrm>
            <a:off x="594360" y="3529584"/>
            <a:ext cx="2377440" cy="56692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Community Service</a:t>
            </a:r>
            <a:endParaRPr lang="en-US" sz="1250" dirty="0"/>
          </a:p>
        </p:txBody>
      </p:sp>
      <p:sp>
        <p:nvSpPr>
          <p:cNvPr id="23" name="Text 21"/>
          <p:cNvSpPr/>
          <p:nvPr/>
        </p:nvSpPr>
        <p:spPr>
          <a:xfrm>
            <a:off x="2971800" y="3529584"/>
            <a:ext cx="777240" cy="566928"/>
          </a:xfrm>
          <a:prstGeom prst="rect">
            <a:avLst/>
          </a:prstGeom>
          <a:noFill/>
          <a:ln/>
        </p:spPr>
        <p:txBody>
          <a:bodyPr wrap="square" rtlCol="0" anchor="ctr"/>
          <a:lstStyle/>
          <a:p>
            <a:pPr algn="ctr" indent="0" marL="0">
              <a:buNone/>
            </a:pPr>
            <a:r>
              <a:rPr lang="en-US" sz="1100" b="1" dirty="0">
                <a:solidFill>
                  <a:srgbClr val="0D9488"/>
                </a:solidFill>
                <a:latin typeface="Segoe UI" pitchFamily="34" charset="0"/>
                <a:ea typeface="Segoe UI" pitchFamily="34" charset="-122"/>
                <a:cs typeface="Segoe UI" pitchFamily="34" charset="-120"/>
              </a:rPr>
              <a:t>:8084</a:t>
            </a:r>
            <a:endParaRPr lang="en-US" sz="1100" dirty="0"/>
          </a:p>
        </p:txBody>
      </p:sp>
      <p:sp>
        <p:nvSpPr>
          <p:cNvPr id="24" name="Text 22"/>
          <p:cNvSpPr/>
          <p:nvPr/>
        </p:nvSpPr>
        <p:spPr>
          <a:xfrm>
            <a:off x="3886200" y="3529584"/>
            <a:ext cx="2103120" cy="566928"/>
          </a:xfrm>
          <a:prstGeom prst="rect">
            <a:avLst/>
          </a:prstGeom>
          <a:noFill/>
          <a:ln/>
        </p:spPr>
        <p:txBody>
          <a:bodyPr wrap="square"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sewagealert_community</a:t>
            </a:r>
            <a:endParaRPr lang="en-US" sz="950" dirty="0"/>
          </a:p>
        </p:txBody>
      </p:sp>
      <p:sp>
        <p:nvSpPr>
          <p:cNvPr id="25" name="Text 23"/>
          <p:cNvSpPr/>
          <p:nvPr/>
        </p:nvSpPr>
        <p:spPr>
          <a:xfrm>
            <a:off x="6172200" y="3529584"/>
            <a:ext cx="5486400" cy="566928"/>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Events + registrations, articles, NGOs, lakes, STPs, pipelines; external APIs (GNews, Google Places, Overpass, ArcGIS).</a:t>
            </a:r>
            <a:endParaRPr lang="en-US" sz="1050" dirty="0"/>
          </a:p>
        </p:txBody>
      </p:sp>
      <p:sp>
        <p:nvSpPr>
          <p:cNvPr id="26" name="Shape 24"/>
          <p:cNvSpPr/>
          <p:nvPr/>
        </p:nvSpPr>
        <p:spPr>
          <a:xfrm>
            <a:off x="411480" y="4187952"/>
            <a:ext cx="11384280" cy="566928"/>
          </a:xfrm>
          <a:prstGeom prst="roundRect">
            <a:avLst>
              <a:gd name="adj" fmla="val 9677"/>
            </a:avLst>
          </a:prstGeom>
          <a:solidFill>
            <a:srgbClr val="FFFFFF"/>
          </a:solidFill>
          <a:ln w="12700">
            <a:solidFill>
              <a:srgbClr val="E4EDF2"/>
            </a:solidFill>
            <a:prstDash val="solid"/>
          </a:ln>
          <a:effectLst>
            <a:outerShdw sx="100000" sy="100000" kx="0" ky="0" algn="bl" rotWithShape="0" blurRad="50800" dist="25400" dir="5400000">
              <a:srgbClr val="0B2545">
                <a:alpha val="10000"/>
              </a:srgbClr>
            </a:outerShdw>
          </a:effectLst>
        </p:spPr>
      </p:sp>
      <p:sp>
        <p:nvSpPr>
          <p:cNvPr id="27" name="Text 25"/>
          <p:cNvSpPr/>
          <p:nvPr/>
        </p:nvSpPr>
        <p:spPr>
          <a:xfrm>
            <a:off x="594360" y="4187952"/>
            <a:ext cx="2377440" cy="56692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Notification Service</a:t>
            </a:r>
            <a:endParaRPr lang="en-US" sz="1250" dirty="0"/>
          </a:p>
        </p:txBody>
      </p:sp>
      <p:sp>
        <p:nvSpPr>
          <p:cNvPr id="28" name="Text 26"/>
          <p:cNvSpPr/>
          <p:nvPr/>
        </p:nvSpPr>
        <p:spPr>
          <a:xfrm>
            <a:off x="2971800" y="4187952"/>
            <a:ext cx="777240" cy="566928"/>
          </a:xfrm>
          <a:prstGeom prst="rect">
            <a:avLst/>
          </a:prstGeom>
          <a:noFill/>
          <a:ln/>
        </p:spPr>
        <p:txBody>
          <a:bodyPr wrap="square" rtlCol="0" anchor="ctr"/>
          <a:lstStyle/>
          <a:p>
            <a:pPr algn="ctr" indent="0" marL="0">
              <a:buNone/>
            </a:pPr>
            <a:r>
              <a:rPr lang="en-US" sz="1100" b="1" dirty="0">
                <a:solidFill>
                  <a:srgbClr val="0D9488"/>
                </a:solidFill>
                <a:latin typeface="Segoe UI" pitchFamily="34" charset="0"/>
                <a:ea typeface="Segoe UI" pitchFamily="34" charset="-122"/>
                <a:cs typeface="Segoe UI" pitchFamily="34" charset="-120"/>
              </a:rPr>
              <a:t>:8085</a:t>
            </a:r>
            <a:endParaRPr lang="en-US" sz="1100" dirty="0"/>
          </a:p>
        </p:txBody>
      </p:sp>
      <p:sp>
        <p:nvSpPr>
          <p:cNvPr id="29" name="Text 27"/>
          <p:cNvSpPr/>
          <p:nvPr/>
        </p:nvSpPr>
        <p:spPr>
          <a:xfrm>
            <a:off x="3886200" y="4187952"/>
            <a:ext cx="2103120" cy="566928"/>
          </a:xfrm>
          <a:prstGeom prst="rect">
            <a:avLst/>
          </a:prstGeom>
          <a:noFill/>
          <a:ln/>
        </p:spPr>
        <p:txBody>
          <a:bodyPr wrap="square"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sewagealert_notifications</a:t>
            </a:r>
            <a:endParaRPr lang="en-US" sz="950" dirty="0"/>
          </a:p>
        </p:txBody>
      </p:sp>
      <p:sp>
        <p:nvSpPr>
          <p:cNvPr id="30" name="Text 28"/>
          <p:cNvSpPr/>
          <p:nvPr/>
        </p:nvSpPr>
        <p:spPr>
          <a:xfrm>
            <a:off x="6172200" y="4187952"/>
            <a:ext cx="5486400" cy="566928"/>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RabbitMQ consumer → in-app notifications + EmailJS emails; DLQ observer.</a:t>
            </a:r>
            <a:endParaRPr lang="en-US" sz="1050" dirty="0"/>
          </a:p>
        </p:txBody>
      </p:sp>
      <p:sp>
        <p:nvSpPr>
          <p:cNvPr id="31" name="Shape 29"/>
          <p:cNvSpPr/>
          <p:nvPr/>
        </p:nvSpPr>
        <p:spPr>
          <a:xfrm>
            <a:off x="411480" y="4846320"/>
            <a:ext cx="11384280" cy="566928"/>
          </a:xfrm>
          <a:prstGeom prst="roundRect">
            <a:avLst>
              <a:gd name="adj" fmla="val 9677"/>
            </a:avLst>
          </a:prstGeom>
          <a:solidFill>
            <a:srgbClr val="F0F6F8"/>
          </a:solidFill>
          <a:ln w="12700">
            <a:solidFill>
              <a:srgbClr val="E4EDF2"/>
            </a:solidFill>
            <a:prstDash val="solid"/>
          </a:ln>
          <a:effectLst>
            <a:outerShdw sx="100000" sy="100000" kx="0" ky="0" algn="bl" rotWithShape="0" blurRad="50800" dist="25400" dir="5400000">
              <a:srgbClr val="0B2545">
                <a:alpha val="10000"/>
              </a:srgbClr>
            </a:outerShdw>
          </a:effectLst>
        </p:spPr>
      </p:sp>
      <p:sp>
        <p:nvSpPr>
          <p:cNvPr id="32" name="Text 30"/>
          <p:cNvSpPr/>
          <p:nvPr/>
        </p:nvSpPr>
        <p:spPr>
          <a:xfrm>
            <a:off x="594360" y="4846320"/>
            <a:ext cx="2377440" cy="56692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Eureka Server</a:t>
            </a:r>
            <a:endParaRPr lang="en-US" sz="1250" dirty="0"/>
          </a:p>
        </p:txBody>
      </p:sp>
      <p:sp>
        <p:nvSpPr>
          <p:cNvPr id="33" name="Text 31"/>
          <p:cNvSpPr/>
          <p:nvPr/>
        </p:nvSpPr>
        <p:spPr>
          <a:xfrm>
            <a:off x="2971800" y="4846320"/>
            <a:ext cx="777240" cy="566928"/>
          </a:xfrm>
          <a:prstGeom prst="rect">
            <a:avLst/>
          </a:prstGeom>
          <a:noFill/>
          <a:ln/>
        </p:spPr>
        <p:txBody>
          <a:bodyPr wrap="square" rtlCol="0" anchor="ctr"/>
          <a:lstStyle/>
          <a:p>
            <a:pPr algn="ctr" indent="0" marL="0">
              <a:buNone/>
            </a:pPr>
            <a:r>
              <a:rPr lang="en-US" sz="1100" b="1" dirty="0">
                <a:solidFill>
                  <a:srgbClr val="0D9488"/>
                </a:solidFill>
                <a:latin typeface="Segoe UI" pitchFamily="34" charset="0"/>
                <a:ea typeface="Segoe UI" pitchFamily="34" charset="-122"/>
                <a:cs typeface="Segoe UI" pitchFamily="34" charset="-120"/>
              </a:rPr>
              <a:t>:8761</a:t>
            </a:r>
            <a:endParaRPr lang="en-US" sz="1100" dirty="0"/>
          </a:p>
        </p:txBody>
      </p:sp>
      <p:sp>
        <p:nvSpPr>
          <p:cNvPr id="34" name="Text 32"/>
          <p:cNvSpPr/>
          <p:nvPr/>
        </p:nvSpPr>
        <p:spPr>
          <a:xfrm>
            <a:off x="3886200" y="4846320"/>
            <a:ext cx="2103120" cy="566928"/>
          </a:xfrm>
          <a:prstGeom prst="rect">
            <a:avLst/>
          </a:prstGeom>
          <a:noFill/>
          <a:ln/>
        </p:spPr>
        <p:txBody>
          <a:bodyPr wrap="square"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a:t>
            </a:r>
            <a:endParaRPr lang="en-US" sz="950" dirty="0"/>
          </a:p>
        </p:txBody>
      </p:sp>
      <p:sp>
        <p:nvSpPr>
          <p:cNvPr id="35" name="Text 33"/>
          <p:cNvSpPr/>
          <p:nvPr/>
        </p:nvSpPr>
        <p:spPr>
          <a:xfrm>
            <a:off x="6172200" y="4846320"/>
            <a:ext cx="5486400" cy="566928"/>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Service discovery registry for the gateway and Feign clients.</a:t>
            </a:r>
            <a:endParaRPr lang="en-US" sz="1050" dirty="0"/>
          </a:p>
        </p:txBody>
      </p:sp>
      <p:sp>
        <p:nvSpPr>
          <p:cNvPr id="36" name="Shape 34"/>
          <p:cNvSpPr/>
          <p:nvPr/>
        </p:nvSpPr>
        <p:spPr>
          <a:xfrm>
            <a:off x="411480" y="5504688"/>
            <a:ext cx="11384280" cy="566928"/>
          </a:xfrm>
          <a:prstGeom prst="roundRect">
            <a:avLst>
              <a:gd name="adj" fmla="val 9677"/>
            </a:avLst>
          </a:prstGeom>
          <a:solidFill>
            <a:srgbClr val="FFFFFF"/>
          </a:solidFill>
          <a:ln w="12700">
            <a:solidFill>
              <a:srgbClr val="E4EDF2"/>
            </a:solidFill>
            <a:prstDash val="solid"/>
          </a:ln>
          <a:effectLst>
            <a:outerShdw sx="100000" sy="100000" kx="0" ky="0" algn="bl" rotWithShape="0" blurRad="50800" dist="25400" dir="5400000">
              <a:srgbClr val="0B2545">
                <a:alpha val="10000"/>
              </a:srgbClr>
            </a:outerShdw>
          </a:effectLst>
        </p:spPr>
      </p:sp>
      <p:sp>
        <p:nvSpPr>
          <p:cNvPr id="37" name="Text 35"/>
          <p:cNvSpPr/>
          <p:nvPr/>
        </p:nvSpPr>
        <p:spPr>
          <a:xfrm>
            <a:off x="594360" y="5504688"/>
            <a:ext cx="2377440" cy="56692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API Gateway</a:t>
            </a:r>
            <a:endParaRPr lang="en-US" sz="1250" dirty="0"/>
          </a:p>
        </p:txBody>
      </p:sp>
      <p:sp>
        <p:nvSpPr>
          <p:cNvPr id="38" name="Text 36"/>
          <p:cNvSpPr/>
          <p:nvPr/>
        </p:nvSpPr>
        <p:spPr>
          <a:xfrm>
            <a:off x="2971800" y="5504688"/>
            <a:ext cx="777240" cy="566928"/>
          </a:xfrm>
          <a:prstGeom prst="rect">
            <a:avLst/>
          </a:prstGeom>
          <a:noFill/>
          <a:ln/>
        </p:spPr>
        <p:txBody>
          <a:bodyPr wrap="square" rtlCol="0" anchor="ctr"/>
          <a:lstStyle/>
          <a:p>
            <a:pPr algn="ctr" indent="0" marL="0">
              <a:buNone/>
            </a:pPr>
            <a:r>
              <a:rPr lang="en-US" sz="1100" b="1" dirty="0">
                <a:solidFill>
                  <a:srgbClr val="0D9488"/>
                </a:solidFill>
                <a:latin typeface="Segoe UI" pitchFamily="34" charset="0"/>
                <a:ea typeface="Segoe UI" pitchFamily="34" charset="-122"/>
                <a:cs typeface="Segoe UI" pitchFamily="34" charset="-120"/>
              </a:rPr>
              <a:t>:8080</a:t>
            </a:r>
            <a:endParaRPr lang="en-US" sz="1100" dirty="0"/>
          </a:p>
        </p:txBody>
      </p:sp>
      <p:sp>
        <p:nvSpPr>
          <p:cNvPr id="39" name="Text 37"/>
          <p:cNvSpPr/>
          <p:nvPr/>
        </p:nvSpPr>
        <p:spPr>
          <a:xfrm>
            <a:off x="3886200" y="5504688"/>
            <a:ext cx="2103120" cy="566928"/>
          </a:xfrm>
          <a:prstGeom prst="rect">
            <a:avLst/>
          </a:prstGeom>
          <a:noFill/>
          <a:ln/>
        </p:spPr>
        <p:txBody>
          <a:bodyPr wrap="square"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a:t>
            </a:r>
            <a:endParaRPr lang="en-US" sz="950" dirty="0"/>
          </a:p>
        </p:txBody>
      </p:sp>
      <p:sp>
        <p:nvSpPr>
          <p:cNvPr id="40" name="Text 38"/>
          <p:cNvSpPr/>
          <p:nvPr/>
        </p:nvSpPr>
        <p:spPr>
          <a:xfrm>
            <a:off x="6172200" y="5504688"/>
            <a:ext cx="5486400" cy="566928"/>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Single entry point; routes /api/v1/**; forwards X-Auth-User-Id + JWT.</a:t>
            </a:r>
            <a:endParaRPr lang="en-US" sz="1050" dirty="0"/>
          </a:p>
        </p:txBody>
      </p:sp>
      <p:sp>
        <p:nvSpPr>
          <p:cNvPr id="41" name="Text 39"/>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IDENTITY, TRUST AND AUTHORIZATION</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Authentication &amp; security flow</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Email-verified accounts, stateless JWT, and server-side role checks on every protected action.</a:t>
            </a:r>
            <a:endParaRPr lang="en-US" sz="1250" dirty="0"/>
          </a:p>
        </p:txBody>
      </p:sp>
      <p:sp>
        <p:nvSpPr>
          <p:cNvPr id="6" name="Shape 4"/>
          <p:cNvSpPr/>
          <p:nvPr/>
        </p:nvSpPr>
        <p:spPr>
          <a:xfrm>
            <a:off x="411480" y="1600200"/>
            <a:ext cx="5120640" cy="841248"/>
          </a:xfrm>
          <a:prstGeom prst="roundRect">
            <a:avLst>
              <a:gd name="adj" fmla="val 6522"/>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7" name="Shape 5"/>
          <p:cNvSpPr/>
          <p:nvPr/>
        </p:nvSpPr>
        <p:spPr>
          <a:xfrm>
            <a:off x="566928" y="1792224"/>
            <a:ext cx="457200" cy="457200"/>
          </a:xfrm>
          <a:prstGeom prst="ellipse">
            <a:avLst/>
          </a:prstGeom>
          <a:solidFill>
            <a:srgbClr val="0D9488"/>
          </a:solidFill>
          <a:ln w="12700">
            <a:solidFill>
              <a:srgbClr val="0D9488"/>
            </a:solidFill>
            <a:prstDash val="solid"/>
          </a:ln>
        </p:spPr>
      </p:sp>
      <p:sp>
        <p:nvSpPr>
          <p:cNvPr id="8" name="Text 6"/>
          <p:cNvSpPr/>
          <p:nvPr/>
        </p:nvSpPr>
        <p:spPr>
          <a:xfrm>
            <a:off x="566928" y="1792224"/>
            <a:ext cx="457200" cy="45720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9" name="Text 7"/>
          <p:cNvSpPr/>
          <p:nvPr/>
        </p:nvSpPr>
        <p:spPr>
          <a:xfrm>
            <a:off x="1143000" y="1728216"/>
            <a:ext cx="4297680" cy="29260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1 · Register</a:t>
            </a:r>
            <a:endParaRPr lang="en-US" sz="1250" dirty="0"/>
          </a:p>
        </p:txBody>
      </p:sp>
      <p:sp>
        <p:nvSpPr>
          <p:cNvPr id="10" name="Text 8"/>
          <p:cNvSpPr/>
          <p:nvPr/>
        </p:nvSpPr>
        <p:spPr>
          <a:xfrm>
            <a:off x="1143000" y="2039112"/>
            <a:ext cx="4297680" cy="310896"/>
          </a:xfrm>
          <a:prstGeom prst="rect">
            <a:avLst/>
          </a:prstGeom>
          <a:noFill/>
          <a:ln/>
        </p:spPr>
        <p:txBody>
          <a:bodyPr wrap="square" rtlCol="0" anchor="ctr"/>
          <a:lstStyle/>
          <a:p>
            <a:pPr indent="0" marL="0">
              <a:buNone/>
            </a:pPr>
            <a:r>
              <a:rPr lang="en-US" sz="1000" dirty="0">
                <a:solidFill>
                  <a:srgbClr val="5B6B7C"/>
                </a:solidFill>
                <a:latin typeface="Segoe UI" pitchFamily="34" charset="0"/>
                <a:ea typeface="Segoe UI" pitchFamily="34" charset="-122"/>
                <a:cs typeface="Segoe UI" pitchFamily="34" charset="-120"/>
              </a:rPr>
              <a:t>BCrypt password hash; account created UNVERIFIED.</a:t>
            </a:r>
            <a:endParaRPr lang="en-US" sz="1000" dirty="0"/>
          </a:p>
        </p:txBody>
      </p:sp>
      <p:sp>
        <p:nvSpPr>
          <p:cNvPr id="11" name="Shape 9"/>
          <p:cNvSpPr/>
          <p:nvPr/>
        </p:nvSpPr>
        <p:spPr>
          <a:xfrm>
            <a:off x="411480" y="2569464"/>
            <a:ext cx="5120640" cy="841248"/>
          </a:xfrm>
          <a:prstGeom prst="roundRect">
            <a:avLst>
              <a:gd name="adj" fmla="val 6522"/>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2" name="Shape 10"/>
          <p:cNvSpPr/>
          <p:nvPr/>
        </p:nvSpPr>
        <p:spPr>
          <a:xfrm>
            <a:off x="566928" y="2761488"/>
            <a:ext cx="457200" cy="457200"/>
          </a:xfrm>
          <a:prstGeom prst="ellipse">
            <a:avLst/>
          </a:prstGeom>
          <a:solidFill>
            <a:srgbClr val="0D9488"/>
          </a:solidFill>
          <a:ln w="12700">
            <a:solidFill>
              <a:srgbClr val="0D9488"/>
            </a:solidFill>
            <a:prstDash val="solid"/>
          </a:ln>
        </p:spPr>
      </p:sp>
      <p:sp>
        <p:nvSpPr>
          <p:cNvPr id="13" name="Text 11"/>
          <p:cNvSpPr/>
          <p:nvPr/>
        </p:nvSpPr>
        <p:spPr>
          <a:xfrm>
            <a:off x="566928" y="2761488"/>
            <a:ext cx="457200" cy="45720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4" name="Text 12"/>
          <p:cNvSpPr/>
          <p:nvPr/>
        </p:nvSpPr>
        <p:spPr>
          <a:xfrm>
            <a:off x="1143000" y="2697480"/>
            <a:ext cx="4297680" cy="29260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2 · Verify email</a:t>
            </a:r>
            <a:endParaRPr lang="en-US" sz="1250" dirty="0"/>
          </a:p>
        </p:txBody>
      </p:sp>
      <p:sp>
        <p:nvSpPr>
          <p:cNvPr id="15" name="Text 13"/>
          <p:cNvSpPr/>
          <p:nvPr/>
        </p:nvSpPr>
        <p:spPr>
          <a:xfrm>
            <a:off x="1143000" y="3008376"/>
            <a:ext cx="4297680" cy="310896"/>
          </a:xfrm>
          <a:prstGeom prst="rect">
            <a:avLst/>
          </a:prstGeom>
          <a:noFill/>
          <a:ln/>
        </p:spPr>
        <p:txBody>
          <a:bodyPr wrap="square" rtlCol="0" anchor="ctr"/>
          <a:lstStyle/>
          <a:p>
            <a:pPr indent="0" marL="0">
              <a:buNone/>
            </a:pPr>
            <a:r>
              <a:rPr lang="en-US" sz="1000" dirty="0">
                <a:solidFill>
                  <a:srgbClr val="5B6B7C"/>
                </a:solidFill>
                <a:latin typeface="Segoe UI" pitchFamily="34" charset="0"/>
                <a:ea typeface="Segoe UI" pitchFamily="34" charset="-122"/>
                <a:cs typeface="Segoe UI" pitchFamily="34" charset="-120"/>
              </a:rPr>
              <a:t>6-digit OTP via EmailJS; max 5 attempts + 60s lockout.</a:t>
            </a:r>
            <a:endParaRPr lang="en-US" sz="1000" dirty="0"/>
          </a:p>
        </p:txBody>
      </p:sp>
      <p:sp>
        <p:nvSpPr>
          <p:cNvPr id="16" name="Shape 14"/>
          <p:cNvSpPr/>
          <p:nvPr/>
        </p:nvSpPr>
        <p:spPr>
          <a:xfrm>
            <a:off x="411480" y="3538728"/>
            <a:ext cx="5120640" cy="841248"/>
          </a:xfrm>
          <a:prstGeom prst="roundRect">
            <a:avLst>
              <a:gd name="adj" fmla="val 6522"/>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7" name="Shape 15"/>
          <p:cNvSpPr/>
          <p:nvPr/>
        </p:nvSpPr>
        <p:spPr>
          <a:xfrm>
            <a:off x="566928" y="3730752"/>
            <a:ext cx="457200" cy="457200"/>
          </a:xfrm>
          <a:prstGeom prst="ellipse">
            <a:avLst/>
          </a:prstGeom>
          <a:solidFill>
            <a:srgbClr val="0D9488"/>
          </a:solidFill>
          <a:ln w="12700">
            <a:solidFill>
              <a:srgbClr val="0D9488"/>
            </a:solidFill>
            <a:prstDash val="solid"/>
          </a:ln>
        </p:spPr>
      </p:sp>
      <p:sp>
        <p:nvSpPr>
          <p:cNvPr id="18" name="Text 16"/>
          <p:cNvSpPr/>
          <p:nvPr/>
        </p:nvSpPr>
        <p:spPr>
          <a:xfrm>
            <a:off x="566928" y="3730752"/>
            <a:ext cx="457200" cy="45720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9" name="Text 17"/>
          <p:cNvSpPr/>
          <p:nvPr/>
        </p:nvSpPr>
        <p:spPr>
          <a:xfrm>
            <a:off x="1143000" y="3666744"/>
            <a:ext cx="4297680" cy="29260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3 · Login</a:t>
            </a:r>
            <a:endParaRPr lang="en-US" sz="1250" dirty="0"/>
          </a:p>
        </p:txBody>
      </p:sp>
      <p:sp>
        <p:nvSpPr>
          <p:cNvPr id="20" name="Text 18"/>
          <p:cNvSpPr/>
          <p:nvPr/>
        </p:nvSpPr>
        <p:spPr>
          <a:xfrm>
            <a:off x="1143000" y="3977640"/>
            <a:ext cx="4297680" cy="310896"/>
          </a:xfrm>
          <a:prstGeom prst="rect">
            <a:avLst/>
          </a:prstGeom>
          <a:noFill/>
          <a:ln/>
        </p:spPr>
        <p:txBody>
          <a:bodyPr wrap="square" rtlCol="0" anchor="ctr"/>
          <a:lstStyle/>
          <a:p>
            <a:pPr indent="0" marL="0">
              <a:buNone/>
            </a:pPr>
            <a:r>
              <a:rPr lang="en-US" sz="1000" dirty="0">
                <a:solidFill>
                  <a:srgbClr val="5B6B7C"/>
                </a:solidFill>
                <a:latin typeface="Segoe UI" pitchFamily="34" charset="0"/>
                <a:ea typeface="Segoe UI" pitchFamily="34" charset="-122"/>
                <a:cs typeface="Segoe UI" pitchFamily="34" charset="-120"/>
              </a:rPr>
              <a:t>JWT issued: sub, email, role, iat, exp (24h).</a:t>
            </a:r>
            <a:endParaRPr lang="en-US" sz="1000" dirty="0"/>
          </a:p>
        </p:txBody>
      </p:sp>
      <p:sp>
        <p:nvSpPr>
          <p:cNvPr id="21" name="Shape 19"/>
          <p:cNvSpPr/>
          <p:nvPr/>
        </p:nvSpPr>
        <p:spPr>
          <a:xfrm>
            <a:off x="411480" y="4507992"/>
            <a:ext cx="5120640" cy="841248"/>
          </a:xfrm>
          <a:prstGeom prst="roundRect">
            <a:avLst>
              <a:gd name="adj" fmla="val 6522"/>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2" name="Shape 20"/>
          <p:cNvSpPr/>
          <p:nvPr/>
        </p:nvSpPr>
        <p:spPr>
          <a:xfrm>
            <a:off x="566928" y="4700016"/>
            <a:ext cx="457200" cy="457200"/>
          </a:xfrm>
          <a:prstGeom prst="ellipse">
            <a:avLst/>
          </a:prstGeom>
          <a:solidFill>
            <a:srgbClr val="0D9488"/>
          </a:solidFill>
          <a:ln w="12700">
            <a:solidFill>
              <a:srgbClr val="0D9488"/>
            </a:solidFill>
            <a:prstDash val="solid"/>
          </a:ln>
        </p:spPr>
      </p:sp>
      <p:sp>
        <p:nvSpPr>
          <p:cNvPr id="23" name="Text 21"/>
          <p:cNvSpPr/>
          <p:nvPr/>
        </p:nvSpPr>
        <p:spPr>
          <a:xfrm>
            <a:off x="566928" y="4700016"/>
            <a:ext cx="457200" cy="45720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24" name="Text 22"/>
          <p:cNvSpPr/>
          <p:nvPr/>
        </p:nvSpPr>
        <p:spPr>
          <a:xfrm>
            <a:off x="1143000" y="4636008"/>
            <a:ext cx="4297680" cy="29260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4 · Call APIs</a:t>
            </a:r>
            <a:endParaRPr lang="en-US" sz="1250" dirty="0"/>
          </a:p>
        </p:txBody>
      </p:sp>
      <p:sp>
        <p:nvSpPr>
          <p:cNvPr id="25" name="Text 23"/>
          <p:cNvSpPr/>
          <p:nvPr/>
        </p:nvSpPr>
        <p:spPr>
          <a:xfrm>
            <a:off x="1143000" y="4946904"/>
            <a:ext cx="4297680" cy="310896"/>
          </a:xfrm>
          <a:prstGeom prst="rect">
            <a:avLst/>
          </a:prstGeom>
          <a:noFill/>
          <a:ln/>
        </p:spPr>
        <p:txBody>
          <a:bodyPr wrap="square" rtlCol="0" anchor="ctr"/>
          <a:lstStyle/>
          <a:p>
            <a:pPr indent="0" marL="0">
              <a:buNone/>
            </a:pPr>
            <a:r>
              <a:rPr lang="en-US" sz="1000" dirty="0">
                <a:solidFill>
                  <a:srgbClr val="5B6B7C"/>
                </a:solidFill>
                <a:latin typeface="Segoe UI" pitchFamily="34" charset="0"/>
                <a:ea typeface="Segoe UI" pitchFamily="34" charset="-122"/>
                <a:cs typeface="Segoe UI" pitchFamily="34" charset="-120"/>
              </a:rPr>
              <a:t>Authorization: Bearer &lt;jwt&gt; + X-Auth-User-Id header.</a:t>
            </a:r>
            <a:endParaRPr lang="en-US" sz="1000" dirty="0"/>
          </a:p>
        </p:txBody>
      </p:sp>
      <p:sp>
        <p:nvSpPr>
          <p:cNvPr id="26" name="Shape 24"/>
          <p:cNvSpPr/>
          <p:nvPr/>
        </p:nvSpPr>
        <p:spPr>
          <a:xfrm>
            <a:off x="5806440" y="1600200"/>
            <a:ext cx="5989320" cy="1965960"/>
          </a:xfrm>
          <a:prstGeom prst="roundRect">
            <a:avLst>
              <a:gd name="adj" fmla="val 2791"/>
            </a:avLst>
          </a:prstGeom>
          <a:solidFill>
            <a:srgbClr val="FFF7E6"/>
          </a:solidFill>
          <a:ln w="12700">
            <a:solidFill>
              <a:srgbClr val="F0D9A8"/>
            </a:solidFill>
            <a:prstDash val="solid"/>
          </a:ln>
          <a:effectLst>
            <a:outerShdw sx="100000" sy="100000" kx="0" ky="0" algn="bl" rotWithShape="0" blurRad="50800" dist="25400" dir="5400000">
              <a:srgbClr val="0B2545">
                <a:alpha val="10000"/>
              </a:srgbClr>
            </a:outerShdw>
          </a:effectLst>
        </p:spPr>
      </p:sp>
      <p:sp>
        <p:nvSpPr>
          <p:cNvPr id="27" name="Text 25"/>
          <p:cNvSpPr/>
          <p:nvPr/>
        </p:nvSpPr>
        <p:spPr>
          <a:xfrm>
            <a:off x="5989320" y="1737360"/>
            <a:ext cx="5623560" cy="292608"/>
          </a:xfrm>
          <a:prstGeom prst="rect">
            <a:avLst/>
          </a:prstGeom>
          <a:noFill/>
          <a:ln/>
        </p:spPr>
        <p:txBody>
          <a:bodyPr wrap="square" rtlCol="0" anchor="ctr"/>
          <a:lstStyle/>
          <a:p>
            <a:pPr indent="0" marL="0">
              <a:buNone/>
            </a:pPr>
            <a:r>
              <a:rPr lang="en-US" sz="1250" b="1" dirty="0">
                <a:solidFill>
                  <a:srgbClr val="92600A"/>
                </a:solidFill>
                <a:latin typeface="Segoe UI" pitchFamily="34" charset="0"/>
                <a:ea typeface="Segoe UI" pitchFamily="34" charset="-122"/>
                <a:cs typeface="Segoe UI" pitchFamily="34" charset="-120"/>
              </a:rPr>
              <a:t>JWT payload (claims actually used)</a:t>
            </a:r>
            <a:endParaRPr lang="en-US" sz="1250" dirty="0"/>
          </a:p>
        </p:txBody>
      </p:sp>
      <p:sp>
        <p:nvSpPr>
          <p:cNvPr id="28" name="Text 26"/>
          <p:cNvSpPr/>
          <p:nvPr/>
        </p:nvSpPr>
        <p:spPr>
          <a:xfrm>
            <a:off x="5989320" y="2103120"/>
            <a:ext cx="1234440" cy="292608"/>
          </a:xfrm>
          <a:prstGeom prst="rect">
            <a:avLst/>
          </a:prstGeom>
          <a:noFill/>
          <a:ln/>
        </p:spPr>
        <p:txBody>
          <a:bodyPr wrap="square" rtlCol="0" anchor="ctr"/>
          <a:lstStyle/>
          <a:p>
            <a:pPr indent="0" marL="0">
              <a:buNone/>
            </a:pPr>
            <a:r>
              <a:rPr lang="en-US" sz="1050" b="1" dirty="0">
                <a:solidFill>
                  <a:srgbClr val="0B2545"/>
                </a:solidFill>
                <a:latin typeface="Consolas" pitchFamily="34" charset="0"/>
                <a:ea typeface="Consolas" pitchFamily="34" charset="-122"/>
                <a:cs typeface="Consolas" pitchFamily="34" charset="-120"/>
              </a:rPr>
              <a:t>sub</a:t>
            </a:r>
            <a:endParaRPr lang="en-US" sz="1050" dirty="0"/>
          </a:p>
        </p:txBody>
      </p:sp>
      <p:sp>
        <p:nvSpPr>
          <p:cNvPr id="29" name="Text 27"/>
          <p:cNvSpPr/>
          <p:nvPr/>
        </p:nvSpPr>
        <p:spPr>
          <a:xfrm>
            <a:off x="7315200" y="2103120"/>
            <a:ext cx="4389120" cy="292608"/>
          </a:xfrm>
          <a:prstGeom prst="rect">
            <a:avLst/>
          </a:prstGeom>
          <a:noFill/>
          <a:ln/>
        </p:spPr>
        <p:txBody>
          <a:bodyPr wrap="square" rtlCol="0" anchor="ctr"/>
          <a:lstStyle/>
          <a:p>
            <a:pPr indent="0" marL="0">
              <a:buNone/>
            </a:pPr>
            <a:r>
              <a:rPr lang="en-US" sz="1050" dirty="0">
                <a:solidFill>
                  <a:srgbClr val="5A4A17"/>
                </a:solidFill>
                <a:latin typeface="Segoe UI" pitchFamily="34" charset="0"/>
                <a:ea typeface="Segoe UI" pitchFamily="34" charset="-122"/>
                <a:cs typeface="Segoe UI" pitchFamily="34" charset="-120"/>
              </a:rPr>
              <a:t>user id (auth-service)</a:t>
            </a:r>
            <a:endParaRPr lang="en-US" sz="1050" dirty="0"/>
          </a:p>
        </p:txBody>
      </p:sp>
      <p:sp>
        <p:nvSpPr>
          <p:cNvPr id="30" name="Text 28"/>
          <p:cNvSpPr/>
          <p:nvPr/>
        </p:nvSpPr>
        <p:spPr>
          <a:xfrm>
            <a:off x="5989320" y="2450592"/>
            <a:ext cx="1234440" cy="292608"/>
          </a:xfrm>
          <a:prstGeom prst="rect">
            <a:avLst/>
          </a:prstGeom>
          <a:noFill/>
          <a:ln/>
        </p:spPr>
        <p:txBody>
          <a:bodyPr wrap="square" rtlCol="0" anchor="ctr"/>
          <a:lstStyle/>
          <a:p>
            <a:pPr indent="0" marL="0">
              <a:buNone/>
            </a:pPr>
            <a:r>
              <a:rPr lang="en-US" sz="1050" b="1" dirty="0">
                <a:solidFill>
                  <a:srgbClr val="0B2545"/>
                </a:solidFill>
                <a:latin typeface="Consolas" pitchFamily="34" charset="0"/>
                <a:ea typeface="Consolas" pitchFamily="34" charset="-122"/>
                <a:cs typeface="Consolas" pitchFamily="34" charset="-120"/>
              </a:rPr>
              <a:t>email</a:t>
            </a:r>
            <a:endParaRPr lang="en-US" sz="1050" dirty="0"/>
          </a:p>
        </p:txBody>
      </p:sp>
      <p:sp>
        <p:nvSpPr>
          <p:cNvPr id="31" name="Text 29"/>
          <p:cNvSpPr/>
          <p:nvPr/>
        </p:nvSpPr>
        <p:spPr>
          <a:xfrm>
            <a:off x="7315200" y="2450592"/>
            <a:ext cx="4389120" cy="292608"/>
          </a:xfrm>
          <a:prstGeom prst="rect">
            <a:avLst/>
          </a:prstGeom>
          <a:noFill/>
          <a:ln/>
        </p:spPr>
        <p:txBody>
          <a:bodyPr wrap="square" rtlCol="0" anchor="ctr"/>
          <a:lstStyle/>
          <a:p>
            <a:pPr indent="0" marL="0">
              <a:buNone/>
            </a:pPr>
            <a:r>
              <a:rPr lang="en-US" sz="1050" dirty="0">
                <a:solidFill>
                  <a:srgbClr val="5A4A17"/>
                </a:solidFill>
                <a:latin typeface="Segoe UI" pitchFamily="34" charset="0"/>
                <a:ea typeface="Segoe UI" pitchFamily="34" charset="-122"/>
                <a:cs typeface="Segoe UI" pitchFamily="34" charset="-120"/>
              </a:rPr>
              <a:t>user email</a:t>
            </a:r>
            <a:endParaRPr lang="en-US" sz="1050" dirty="0"/>
          </a:p>
        </p:txBody>
      </p:sp>
      <p:sp>
        <p:nvSpPr>
          <p:cNvPr id="32" name="Text 30"/>
          <p:cNvSpPr/>
          <p:nvPr/>
        </p:nvSpPr>
        <p:spPr>
          <a:xfrm>
            <a:off x="5989320" y="2798064"/>
            <a:ext cx="1234440" cy="292608"/>
          </a:xfrm>
          <a:prstGeom prst="rect">
            <a:avLst/>
          </a:prstGeom>
          <a:noFill/>
          <a:ln/>
        </p:spPr>
        <p:txBody>
          <a:bodyPr wrap="square" rtlCol="0" anchor="ctr"/>
          <a:lstStyle/>
          <a:p>
            <a:pPr indent="0" marL="0">
              <a:buNone/>
            </a:pPr>
            <a:r>
              <a:rPr lang="en-US" sz="1050" b="1" dirty="0">
                <a:solidFill>
                  <a:srgbClr val="0B2545"/>
                </a:solidFill>
                <a:latin typeface="Consolas" pitchFamily="34" charset="0"/>
                <a:ea typeface="Consolas" pitchFamily="34" charset="-122"/>
                <a:cs typeface="Consolas" pitchFamily="34" charset="-120"/>
              </a:rPr>
              <a:t>role</a:t>
            </a:r>
            <a:endParaRPr lang="en-US" sz="1050" dirty="0"/>
          </a:p>
        </p:txBody>
      </p:sp>
      <p:sp>
        <p:nvSpPr>
          <p:cNvPr id="33" name="Text 31"/>
          <p:cNvSpPr/>
          <p:nvPr/>
        </p:nvSpPr>
        <p:spPr>
          <a:xfrm>
            <a:off x="7315200" y="2798064"/>
            <a:ext cx="4389120" cy="292608"/>
          </a:xfrm>
          <a:prstGeom prst="rect">
            <a:avLst/>
          </a:prstGeom>
          <a:noFill/>
          <a:ln/>
        </p:spPr>
        <p:txBody>
          <a:bodyPr wrap="square" rtlCol="0" anchor="ctr"/>
          <a:lstStyle/>
          <a:p>
            <a:pPr indent="0" marL="0">
              <a:buNone/>
            </a:pPr>
            <a:r>
              <a:rPr lang="en-US" sz="1050" dirty="0">
                <a:solidFill>
                  <a:srgbClr val="5A4A17"/>
                </a:solidFill>
                <a:latin typeface="Segoe UI" pitchFamily="34" charset="0"/>
                <a:ea typeface="Segoe UI" pitchFamily="34" charset="-122"/>
                <a:cs typeface="Segoe UI" pitchFamily="34" charset="-120"/>
              </a:rPr>
              <a:t>CITIZEN · AUTHORITY · ADMIN · FIELD_OFFICER</a:t>
            </a:r>
            <a:endParaRPr lang="en-US" sz="1050" dirty="0"/>
          </a:p>
        </p:txBody>
      </p:sp>
      <p:sp>
        <p:nvSpPr>
          <p:cNvPr id="34" name="Text 32"/>
          <p:cNvSpPr/>
          <p:nvPr/>
        </p:nvSpPr>
        <p:spPr>
          <a:xfrm>
            <a:off x="5989320" y="3145536"/>
            <a:ext cx="1234440" cy="292608"/>
          </a:xfrm>
          <a:prstGeom prst="rect">
            <a:avLst/>
          </a:prstGeom>
          <a:noFill/>
          <a:ln/>
        </p:spPr>
        <p:txBody>
          <a:bodyPr wrap="square" rtlCol="0" anchor="ctr"/>
          <a:lstStyle/>
          <a:p>
            <a:pPr indent="0" marL="0">
              <a:buNone/>
            </a:pPr>
            <a:r>
              <a:rPr lang="en-US" sz="1050" b="1" dirty="0">
                <a:solidFill>
                  <a:srgbClr val="0B2545"/>
                </a:solidFill>
                <a:latin typeface="Consolas" pitchFamily="34" charset="0"/>
                <a:ea typeface="Consolas" pitchFamily="34" charset="-122"/>
                <a:cs typeface="Consolas" pitchFamily="34" charset="-120"/>
              </a:rPr>
              <a:t>iat / exp</a:t>
            </a:r>
            <a:endParaRPr lang="en-US" sz="1050" dirty="0"/>
          </a:p>
        </p:txBody>
      </p:sp>
      <p:sp>
        <p:nvSpPr>
          <p:cNvPr id="35" name="Text 33"/>
          <p:cNvSpPr/>
          <p:nvPr/>
        </p:nvSpPr>
        <p:spPr>
          <a:xfrm>
            <a:off x="7315200" y="3145536"/>
            <a:ext cx="4389120" cy="292608"/>
          </a:xfrm>
          <a:prstGeom prst="rect">
            <a:avLst/>
          </a:prstGeom>
          <a:noFill/>
          <a:ln/>
        </p:spPr>
        <p:txBody>
          <a:bodyPr wrap="square" rtlCol="0" anchor="ctr"/>
          <a:lstStyle/>
          <a:p>
            <a:pPr indent="0" marL="0">
              <a:buNone/>
            </a:pPr>
            <a:r>
              <a:rPr lang="en-US" sz="1050" dirty="0">
                <a:solidFill>
                  <a:srgbClr val="5A4A17"/>
                </a:solidFill>
                <a:latin typeface="Segoe UI" pitchFamily="34" charset="0"/>
                <a:ea typeface="Segoe UI" pitchFamily="34" charset="-122"/>
                <a:cs typeface="Segoe UI" pitchFamily="34" charset="-120"/>
              </a:rPr>
              <a:t>issued-at / 24-hour expiry</a:t>
            </a:r>
            <a:endParaRPr lang="en-US" sz="1050" dirty="0"/>
          </a:p>
        </p:txBody>
      </p:sp>
      <p:sp>
        <p:nvSpPr>
          <p:cNvPr id="36" name="Text 34"/>
          <p:cNvSpPr/>
          <p:nvPr/>
        </p:nvSpPr>
        <p:spPr>
          <a:xfrm>
            <a:off x="5806440" y="3749040"/>
            <a:ext cx="5989320" cy="29260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Security controls enforced in code</a:t>
            </a:r>
            <a:endParaRPr lang="en-US" sz="1250" dirty="0"/>
          </a:p>
        </p:txBody>
      </p:sp>
      <p:sp>
        <p:nvSpPr>
          <p:cNvPr id="37" name="Text 35"/>
          <p:cNvSpPr/>
          <p:nvPr/>
        </p:nvSpPr>
        <p:spPr>
          <a:xfrm>
            <a:off x="5989320" y="4096512"/>
            <a:ext cx="320040" cy="274320"/>
          </a:xfrm>
          <a:prstGeom prst="rect">
            <a:avLst/>
          </a:prstGeom>
          <a:noFill/>
          <a:ln/>
        </p:spPr>
        <p:txBody>
          <a:bodyPr wrap="square" rtlCol="0" anchor="ctr"/>
          <a:lstStyle/>
          <a:p>
            <a:pPr indent="0" marL="0">
              <a:buNone/>
            </a:pPr>
            <a:r>
              <a:rPr lang="en-US" sz="1200" b="1" dirty="0">
                <a:solidFill>
                  <a:srgbClr val="10B981"/>
                </a:solidFill>
                <a:latin typeface="Segoe UI" pitchFamily="34" charset="0"/>
                <a:ea typeface="Segoe UI" pitchFamily="34" charset="-122"/>
                <a:cs typeface="Segoe UI" pitchFamily="34" charset="-120"/>
              </a:rPr>
              <a:t>✓</a:t>
            </a:r>
            <a:endParaRPr lang="en-US" sz="1200" dirty="0"/>
          </a:p>
        </p:txBody>
      </p:sp>
      <p:sp>
        <p:nvSpPr>
          <p:cNvPr id="38" name="Text 36"/>
          <p:cNvSpPr/>
          <p:nvPr/>
        </p:nvSpPr>
        <p:spPr>
          <a:xfrm>
            <a:off x="6355080" y="4096512"/>
            <a:ext cx="5440680" cy="310896"/>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BCryptPasswordEncoder for all stored passwords</a:t>
            </a:r>
            <a:endParaRPr lang="en-US" sz="1050" dirty="0"/>
          </a:p>
        </p:txBody>
      </p:sp>
      <p:sp>
        <p:nvSpPr>
          <p:cNvPr id="39" name="Text 37"/>
          <p:cNvSpPr/>
          <p:nvPr/>
        </p:nvSpPr>
        <p:spPr>
          <a:xfrm>
            <a:off x="5989320" y="4480560"/>
            <a:ext cx="320040" cy="274320"/>
          </a:xfrm>
          <a:prstGeom prst="rect">
            <a:avLst/>
          </a:prstGeom>
          <a:noFill/>
          <a:ln/>
        </p:spPr>
        <p:txBody>
          <a:bodyPr wrap="square" rtlCol="0" anchor="ctr"/>
          <a:lstStyle/>
          <a:p>
            <a:pPr indent="0" marL="0">
              <a:buNone/>
            </a:pPr>
            <a:r>
              <a:rPr lang="en-US" sz="1200" b="1" dirty="0">
                <a:solidFill>
                  <a:srgbClr val="10B981"/>
                </a:solidFill>
                <a:latin typeface="Segoe UI" pitchFamily="34" charset="0"/>
                <a:ea typeface="Segoe UI" pitchFamily="34" charset="-122"/>
                <a:cs typeface="Segoe UI" pitchFamily="34" charset="-120"/>
              </a:rPr>
              <a:t>✓</a:t>
            </a:r>
            <a:endParaRPr lang="en-US" sz="1200" dirty="0"/>
          </a:p>
        </p:txBody>
      </p:sp>
      <p:sp>
        <p:nvSpPr>
          <p:cNvPr id="40" name="Text 38"/>
          <p:cNvSpPr/>
          <p:nvPr/>
        </p:nvSpPr>
        <p:spPr>
          <a:xfrm>
            <a:off x="6355080" y="4480560"/>
            <a:ext cx="5440680" cy="310896"/>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Stateless sessions — JWT validated by JwtAuthenticationFilter</a:t>
            </a:r>
            <a:endParaRPr lang="en-US" sz="1050" dirty="0"/>
          </a:p>
        </p:txBody>
      </p:sp>
      <p:sp>
        <p:nvSpPr>
          <p:cNvPr id="41" name="Text 39"/>
          <p:cNvSpPr/>
          <p:nvPr/>
        </p:nvSpPr>
        <p:spPr>
          <a:xfrm>
            <a:off x="5989320" y="4864608"/>
            <a:ext cx="320040" cy="274320"/>
          </a:xfrm>
          <a:prstGeom prst="rect">
            <a:avLst/>
          </a:prstGeom>
          <a:noFill/>
          <a:ln/>
        </p:spPr>
        <p:txBody>
          <a:bodyPr wrap="square" rtlCol="0" anchor="ctr"/>
          <a:lstStyle/>
          <a:p>
            <a:pPr indent="0" marL="0">
              <a:buNone/>
            </a:pPr>
            <a:r>
              <a:rPr lang="en-US" sz="1200" b="1" dirty="0">
                <a:solidFill>
                  <a:srgbClr val="10B981"/>
                </a:solidFill>
                <a:latin typeface="Segoe UI" pitchFamily="34" charset="0"/>
                <a:ea typeface="Segoe UI" pitchFamily="34" charset="-122"/>
                <a:cs typeface="Segoe UI" pitchFamily="34" charset="-120"/>
              </a:rPr>
              <a:t>✓</a:t>
            </a:r>
            <a:endParaRPr lang="en-US" sz="1200" dirty="0"/>
          </a:p>
        </p:txBody>
      </p:sp>
      <p:sp>
        <p:nvSpPr>
          <p:cNvPr id="42" name="Text 40"/>
          <p:cNvSpPr/>
          <p:nvPr/>
        </p:nvSpPr>
        <p:spPr>
          <a:xfrm>
            <a:off x="6355080" y="4864608"/>
            <a:ext cx="5440680" cy="310896"/>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Gateway injects X-Auth-User-Id; services re-verify roles via AUTH-SERVICE</a:t>
            </a:r>
            <a:endParaRPr lang="en-US" sz="1050" dirty="0"/>
          </a:p>
        </p:txBody>
      </p:sp>
      <p:sp>
        <p:nvSpPr>
          <p:cNvPr id="43" name="Text 41"/>
          <p:cNvSpPr/>
          <p:nvPr/>
        </p:nvSpPr>
        <p:spPr>
          <a:xfrm>
            <a:off x="5989320" y="5248656"/>
            <a:ext cx="320040" cy="274320"/>
          </a:xfrm>
          <a:prstGeom prst="rect">
            <a:avLst/>
          </a:prstGeom>
          <a:noFill/>
          <a:ln/>
        </p:spPr>
        <p:txBody>
          <a:bodyPr wrap="square" rtlCol="0" anchor="ctr"/>
          <a:lstStyle/>
          <a:p>
            <a:pPr indent="0" marL="0">
              <a:buNone/>
            </a:pPr>
            <a:r>
              <a:rPr lang="en-US" sz="1200" b="1" dirty="0">
                <a:solidFill>
                  <a:srgbClr val="10B981"/>
                </a:solidFill>
                <a:latin typeface="Segoe UI" pitchFamily="34" charset="0"/>
                <a:ea typeface="Segoe UI" pitchFamily="34" charset="-122"/>
                <a:cs typeface="Segoe UI" pitchFamily="34" charset="-120"/>
              </a:rPr>
              <a:t>✓</a:t>
            </a:r>
            <a:endParaRPr lang="en-US" sz="1200" dirty="0"/>
          </a:p>
        </p:txBody>
      </p:sp>
      <p:sp>
        <p:nvSpPr>
          <p:cNvPr id="44" name="Text 42"/>
          <p:cNvSpPr/>
          <p:nvPr/>
        </p:nvSpPr>
        <p:spPr>
          <a:xfrm>
            <a:off x="6355080" y="5248656"/>
            <a:ext cx="5440680" cy="310896"/>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Public only: register / login / verify-code / resend / swagger</a:t>
            </a:r>
            <a:endParaRPr lang="en-US" sz="1050" dirty="0"/>
          </a:p>
        </p:txBody>
      </p:sp>
      <p:sp>
        <p:nvSpPr>
          <p:cNvPr id="45" name="Text 43"/>
          <p:cNvSpPr/>
          <p:nvPr/>
        </p:nvSpPr>
        <p:spPr>
          <a:xfrm>
            <a:off x="5989320" y="5632704"/>
            <a:ext cx="320040" cy="274320"/>
          </a:xfrm>
          <a:prstGeom prst="rect">
            <a:avLst/>
          </a:prstGeom>
          <a:noFill/>
          <a:ln/>
        </p:spPr>
        <p:txBody>
          <a:bodyPr wrap="square" rtlCol="0" anchor="ctr"/>
          <a:lstStyle/>
          <a:p>
            <a:pPr indent="0" marL="0">
              <a:buNone/>
            </a:pPr>
            <a:r>
              <a:rPr lang="en-US" sz="1200" b="1" dirty="0">
                <a:solidFill>
                  <a:srgbClr val="10B981"/>
                </a:solidFill>
                <a:latin typeface="Segoe UI" pitchFamily="34" charset="0"/>
                <a:ea typeface="Segoe UI" pitchFamily="34" charset="-122"/>
                <a:cs typeface="Segoe UI" pitchFamily="34" charset="-120"/>
              </a:rPr>
              <a:t>✓</a:t>
            </a:r>
            <a:endParaRPr lang="en-US" sz="1200" dirty="0"/>
          </a:p>
        </p:txBody>
      </p:sp>
      <p:sp>
        <p:nvSpPr>
          <p:cNvPr id="46" name="Text 44"/>
          <p:cNvSpPr/>
          <p:nvPr/>
        </p:nvSpPr>
        <p:spPr>
          <a:xfrm>
            <a:off x="6355080" y="5632704"/>
            <a:ext cx="5440680" cy="310896"/>
          </a:xfrm>
          <a:prstGeom prst="rect">
            <a:avLst/>
          </a:prstGeom>
          <a:noFill/>
          <a:ln/>
        </p:spPr>
        <p:txBody>
          <a:bodyPr wrap="square" rtlCol="0" anchor="ctr"/>
          <a:lstStyle/>
          <a:p>
            <a:pPr indent="0" marL="0">
              <a:buNone/>
            </a:pPr>
            <a:r>
              <a:rPr lang="en-US" sz="1050" dirty="0">
                <a:solidFill>
                  <a:srgbClr val="33475C"/>
                </a:solidFill>
                <a:latin typeface="Segoe UI" pitchFamily="34" charset="0"/>
                <a:ea typeface="Segoe UI" pitchFamily="34" charset="-122"/>
                <a:cs typeface="Segoe UI" pitchFamily="34" charset="-120"/>
              </a:rPr>
              <a:t>Unauthorized or expired token → 401 → frontend signs out</a:t>
            </a:r>
            <a:endParaRPr lang="en-US" sz="1050" dirty="0"/>
          </a:p>
        </p:txBody>
      </p:sp>
      <p:sp>
        <p:nvSpPr>
          <p:cNvPr id="47" name="Text 45"/>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THE CORE WORKFLOW — AND THE V1.1.0 HEADLINE FEATURE</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Complaint lifecycle</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Citizen reports → authority acts → field officer fixes → proof uploaded → resolved.</a:t>
            </a:r>
            <a:endParaRPr lang="en-US" sz="1250" dirty="0"/>
          </a:p>
        </p:txBody>
      </p:sp>
      <p:sp>
        <p:nvSpPr>
          <p:cNvPr id="6" name="Shape 4"/>
          <p:cNvSpPr/>
          <p:nvPr/>
        </p:nvSpPr>
        <p:spPr>
          <a:xfrm>
            <a:off x="411480" y="1554480"/>
            <a:ext cx="3611880" cy="1325880"/>
          </a:xfrm>
          <a:prstGeom prst="roundRect">
            <a:avLst>
              <a:gd name="adj" fmla="val 4138"/>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7" name="Shape 5"/>
          <p:cNvSpPr/>
          <p:nvPr/>
        </p:nvSpPr>
        <p:spPr>
          <a:xfrm>
            <a:off x="640080" y="1737360"/>
            <a:ext cx="1965960" cy="365760"/>
          </a:xfrm>
          <a:prstGeom prst="roundRect">
            <a:avLst>
              <a:gd name="adj" fmla="val 125000"/>
            </a:avLst>
          </a:prstGeom>
          <a:solidFill>
            <a:srgbClr val="F59E0B"/>
          </a:solidFill>
          <a:ln w="12700">
            <a:solidFill>
              <a:srgbClr val="F59E0B"/>
            </a:solidFill>
            <a:prstDash val="solid"/>
          </a:ln>
        </p:spPr>
      </p:sp>
      <p:sp>
        <p:nvSpPr>
          <p:cNvPr id="8" name="Text 6"/>
          <p:cNvSpPr/>
          <p:nvPr/>
        </p:nvSpPr>
        <p:spPr>
          <a:xfrm>
            <a:off x="640080" y="1737360"/>
            <a:ext cx="1965960" cy="36576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PENDING</a:t>
            </a:r>
            <a:endParaRPr lang="en-US" sz="1100" dirty="0"/>
          </a:p>
        </p:txBody>
      </p:sp>
      <p:sp>
        <p:nvSpPr>
          <p:cNvPr id="9" name="Text 7"/>
          <p:cNvSpPr/>
          <p:nvPr/>
        </p:nvSpPr>
        <p:spPr>
          <a:xfrm>
            <a:off x="640080" y="2212848"/>
            <a:ext cx="3154680" cy="548640"/>
          </a:xfrm>
          <a:prstGeom prst="rect">
            <a:avLst/>
          </a:prstGeom>
          <a:noFill/>
          <a:ln/>
        </p:spPr>
        <p:txBody>
          <a:bodyPr wrap="square" rtlCol="0" anchor="ctr"/>
          <a:lstStyle/>
          <a:p>
            <a:pPr indent="0" marL="0">
              <a:lnSpc>
                <a:spcPts val="1400"/>
              </a:lnSpc>
              <a:buNone/>
            </a:pPr>
            <a:r>
              <a:rPr lang="en-US" sz="1050" dirty="0">
                <a:solidFill>
                  <a:srgbClr val="5B6B7C"/>
                </a:solidFill>
                <a:latin typeface="Segoe UI" pitchFamily="34" charset="0"/>
                <a:ea typeface="Segoe UI" pitchFamily="34" charset="-122"/>
                <a:cs typeface="Segoe UI" pitchFamily="34" charset="-120"/>
              </a:rPr>
              <a:t>Citizen submits with photo + GPS</a:t>
            </a:r>
            <a:endParaRPr lang="en-US" sz="1050" dirty="0"/>
          </a:p>
        </p:txBody>
      </p:sp>
      <p:sp>
        <p:nvSpPr>
          <p:cNvPr id="10" name="Shape 8"/>
          <p:cNvSpPr/>
          <p:nvPr/>
        </p:nvSpPr>
        <p:spPr>
          <a:xfrm>
            <a:off x="4050792" y="2103120"/>
            <a:ext cx="237744" cy="237744"/>
          </a:xfrm>
          <a:prstGeom prst="rightArrow">
            <a:avLst/>
          </a:prstGeom>
          <a:solidFill>
            <a:srgbClr val="B9C9D4"/>
          </a:solidFill>
          <a:ln w="12700">
            <a:solidFill>
              <a:srgbClr val="B9C9D4"/>
            </a:solidFill>
            <a:prstDash val="solid"/>
          </a:ln>
        </p:spPr>
      </p:sp>
      <p:sp>
        <p:nvSpPr>
          <p:cNvPr id="11" name="Shape 9"/>
          <p:cNvSpPr/>
          <p:nvPr/>
        </p:nvSpPr>
        <p:spPr>
          <a:xfrm>
            <a:off x="4270248" y="1554480"/>
            <a:ext cx="3611880" cy="1325880"/>
          </a:xfrm>
          <a:prstGeom prst="roundRect">
            <a:avLst>
              <a:gd name="adj" fmla="val 4138"/>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2" name="Shape 10"/>
          <p:cNvSpPr/>
          <p:nvPr/>
        </p:nvSpPr>
        <p:spPr>
          <a:xfrm>
            <a:off x="4498848" y="1737360"/>
            <a:ext cx="1965960" cy="365760"/>
          </a:xfrm>
          <a:prstGeom prst="roundRect">
            <a:avLst>
              <a:gd name="adj" fmla="val 125000"/>
            </a:avLst>
          </a:prstGeom>
          <a:solidFill>
            <a:srgbClr val="38BDF8"/>
          </a:solidFill>
          <a:ln w="12700">
            <a:solidFill>
              <a:srgbClr val="38BDF8"/>
            </a:solidFill>
            <a:prstDash val="solid"/>
          </a:ln>
        </p:spPr>
      </p:sp>
      <p:sp>
        <p:nvSpPr>
          <p:cNvPr id="13" name="Text 11"/>
          <p:cNvSpPr/>
          <p:nvPr/>
        </p:nvSpPr>
        <p:spPr>
          <a:xfrm>
            <a:off x="4498848" y="1737360"/>
            <a:ext cx="1965960" cy="36576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IN_PROGRESS</a:t>
            </a:r>
            <a:endParaRPr lang="en-US" sz="1100" dirty="0"/>
          </a:p>
        </p:txBody>
      </p:sp>
      <p:sp>
        <p:nvSpPr>
          <p:cNvPr id="14" name="Text 12"/>
          <p:cNvSpPr/>
          <p:nvPr/>
        </p:nvSpPr>
        <p:spPr>
          <a:xfrm>
            <a:off x="4498848" y="2212848"/>
            <a:ext cx="3154680" cy="548640"/>
          </a:xfrm>
          <a:prstGeom prst="rect">
            <a:avLst/>
          </a:prstGeom>
          <a:noFill/>
          <a:ln/>
        </p:spPr>
        <p:txBody>
          <a:bodyPr wrap="square" rtlCol="0" anchor="ctr"/>
          <a:lstStyle/>
          <a:p>
            <a:pPr indent="0" marL="0">
              <a:lnSpc>
                <a:spcPts val="1400"/>
              </a:lnSpc>
              <a:buNone/>
            </a:pPr>
            <a:r>
              <a:rPr lang="en-US" sz="1050" dirty="0">
                <a:solidFill>
                  <a:srgbClr val="5B6B7C"/>
                </a:solidFill>
                <a:latin typeface="Segoe UI" pitchFamily="34" charset="0"/>
                <a:ea typeface="Segoe UI" pitchFamily="34" charset="-122"/>
                <a:cs typeface="Segoe UI" pitchFamily="34" charset="-120"/>
              </a:rPr>
              <a:t>Authority picks up / assigns officer</a:t>
            </a:r>
            <a:endParaRPr lang="en-US" sz="1050" dirty="0"/>
          </a:p>
        </p:txBody>
      </p:sp>
      <p:sp>
        <p:nvSpPr>
          <p:cNvPr id="15" name="Shape 13"/>
          <p:cNvSpPr/>
          <p:nvPr/>
        </p:nvSpPr>
        <p:spPr>
          <a:xfrm>
            <a:off x="7909560" y="2103120"/>
            <a:ext cx="237744" cy="237744"/>
          </a:xfrm>
          <a:prstGeom prst="rightArrow">
            <a:avLst/>
          </a:prstGeom>
          <a:solidFill>
            <a:srgbClr val="B9C9D4"/>
          </a:solidFill>
          <a:ln w="12700">
            <a:solidFill>
              <a:srgbClr val="B9C9D4"/>
            </a:solidFill>
            <a:prstDash val="solid"/>
          </a:ln>
        </p:spPr>
      </p:sp>
      <p:sp>
        <p:nvSpPr>
          <p:cNvPr id="16" name="Shape 14"/>
          <p:cNvSpPr/>
          <p:nvPr/>
        </p:nvSpPr>
        <p:spPr>
          <a:xfrm>
            <a:off x="8129016" y="1554480"/>
            <a:ext cx="3611880" cy="1325880"/>
          </a:xfrm>
          <a:prstGeom prst="roundRect">
            <a:avLst>
              <a:gd name="adj" fmla="val 4138"/>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7" name="Shape 15"/>
          <p:cNvSpPr/>
          <p:nvPr/>
        </p:nvSpPr>
        <p:spPr>
          <a:xfrm>
            <a:off x="8357616" y="1737360"/>
            <a:ext cx="1965960" cy="365760"/>
          </a:xfrm>
          <a:prstGeom prst="roundRect">
            <a:avLst>
              <a:gd name="adj" fmla="val 125000"/>
            </a:avLst>
          </a:prstGeom>
          <a:solidFill>
            <a:srgbClr val="10B981"/>
          </a:solidFill>
          <a:ln w="12700">
            <a:solidFill>
              <a:srgbClr val="10B981"/>
            </a:solidFill>
            <a:prstDash val="solid"/>
          </a:ln>
        </p:spPr>
      </p:sp>
      <p:sp>
        <p:nvSpPr>
          <p:cNvPr id="18" name="Text 16"/>
          <p:cNvSpPr/>
          <p:nvPr/>
        </p:nvSpPr>
        <p:spPr>
          <a:xfrm>
            <a:off x="8357616" y="1737360"/>
            <a:ext cx="1965960" cy="36576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RESOLVED</a:t>
            </a:r>
            <a:endParaRPr lang="en-US" sz="1100" dirty="0"/>
          </a:p>
        </p:txBody>
      </p:sp>
      <p:sp>
        <p:nvSpPr>
          <p:cNvPr id="19" name="Text 17"/>
          <p:cNvSpPr/>
          <p:nvPr/>
        </p:nvSpPr>
        <p:spPr>
          <a:xfrm>
            <a:off x="8357616" y="2212848"/>
            <a:ext cx="3154680" cy="548640"/>
          </a:xfrm>
          <a:prstGeom prst="rect">
            <a:avLst/>
          </a:prstGeom>
          <a:noFill/>
          <a:ln/>
        </p:spPr>
        <p:txBody>
          <a:bodyPr wrap="square" rtlCol="0" anchor="ctr"/>
          <a:lstStyle/>
          <a:p>
            <a:pPr indent="0" marL="0">
              <a:lnSpc>
                <a:spcPts val="1400"/>
              </a:lnSpc>
              <a:buNone/>
            </a:pPr>
            <a:r>
              <a:rPr lang="en-US" sz="1050" dirty="0">
                <a:solidFill>
                  <a:srgbClr val="5B6B7C"/>
                </a:solidFill>
                <a:latin typeface="Segoe UI" pitchFamily="34" charset="0"/>
                <a:ea typeface="Segoe UI" pitchFamily="34" charset="-122"/>
                <a:cs typeface="Segoe UI" pitchFamily="34" charset="-120"/>
              </a:rPr>
              <a:t>Officer uploads mandatory proof photo</a:t>
            </a:r>
            <a:endParaRPr lang="en-US" sz="1050" dirty="0"/>
          </a:p>
        </p:txBody>
      </p:sp>
      <p:sp>
        <p:nvSpPr>
          <p:cNvPr id="20" name="Shape 18"/>
          <p:cNvSpPr/>
          <p:nvPr/>
        </p:nvSpPr>
        <p:spPr>
          <a:xfrm>
            <a:off x="411480" y="3108960"/>
            <a:ext cx="11384280" cy="685800"/>
          </a:xfrm>
          <a:prstGeom prst="roundRect">
            <a:avLst>
              <a:gd name="adj" fmla="val 8000"/>
            </a:avLst>
          </a:prstGeom>
          <a:solidFill>
            <a:srgbClr val="EAF4F3"/>
          </a:solidFill>
          <a:ln w="12700">
            <a:solidFill>
              <a:srgbClr val="BFDED9"/>
            </a:solidFill>
            <a:prstDash val="solid"/>
          </a:ln>
          <a:effectLst>
            <a:outerShdw sx="100000" sy="100000" kx="0" ky="0" algn="bl" rotWithShape="0" blurRad="50800" dist="25400" dir="5400000">
              <a:srgbClr val="0B2545">
                <a:alpha val="10000"/>
              </a:srgbClr>
            </a:outerShdw>
          </a:effectLst>
        </p:spPr>
      </p:sp>
      <p:sp>
        <p:nvSpPr>
          <p:cNvPr id="21" name="Text 19"/>
          <p:cNvSpPr/>
          <p:nvPr/>
        </p:nvSpPr>
        <p:spPr>
          <a:xfrm>
            <a:off x="640080" y="3108960"/>
            <a:ext cx="1554480" cy="685800"/>
          </a:xfrm>
          <a:prstGeom prst="rect">
            <a:avLst/>
          </a:prstGeom>
          <a:noFill/>
          <a:ln/>
        </p:spPr>
        <p:txBody>
          <a:bodyPr wrap="square" rtlCol="0" anchor="ctr"/>
          <a:lstStyle/>
          <a:p>
            <a:pPr indent="0" marL="0">
              <a:buNone/>
            </a:pPr>
            <a:r>
              <a:rPr lang="en-US" sz="1200" b="1" dirty="0">
                <a:solidFill>
                  <a:srgbClr val="0B5B52"/>
                </a:solidFill>
                <a:latin typeface="Segoe UI" pitchFamily="34" charset="0"/>
                <a:ea typeface="Segoe UI" pitchFamily="34" charset="-122"/>
                <a:cs typeface="Segoe UI" pitchFamily="34" charset="-120"/>
              </a:rPr>
              <a:t>NOTIFIED</a:t>
            </a:r>
            <a:endParaRPr lang="en-US" sz="1200" dirty="0"/>
          </a:p>
        </p:txBody>
      </p:sp>
      <p:sp>
        <p:nvSpPr>
          <p:cNvPr id="22" name="Text 20"/>
          <p:cNvSpPr/>
          <p:nvPr/>
        </p:nvSpPr>
        <p:spPr>
          <a:xfrm>
            <a:off x="2286000" y="3108960"/>
            <a:ext cx="9326880" cy="685800"/>
          </a:xfrm>
          <a:prstGeom prst="rect">
            <a:avLst/>
          </a:prstGeom>
          <a:noFill/>
          <a:ln/>
        </p:spPr>
        <p:txBody>
          <a:bodyPr wrap="square" rtlCol="0" anchor="ctr"/>
          <a:lstStyle/>
          <a:p>
            <a:pPr indent="0" marL="0">
              <a:buNone/>
            </a:pPr>
            <a:r>
              <a:rPr lang="en-US" sz="1150" dirty="0">
                <a:solidFill>
                  <a:srgbClr val="33475C"/>
                </a:solidFill>
                <a:latin typeface="Segoe UI" pitchFamily="34" charset="0"/>
                <a:ea typeface="Segoe UI" pitchFamily="34" charset="-122"/>
                <a:cs typeface="Segoe UI" pitchFamily="34" charset="-120"/>
              </a:rPr>
              <a:t>RabbitMQ event → in-app notification + email, at every status transition</a:t>
            </a:r>
            <a:endParaRPr lang="en-US" sz="1150" dirty="0"/>
          </a:p>
        </p:txBody>
      </p:sp>
      <p:sp>
        <p:nvSpPr>
          <p:cNvPr id="23" name="Shape 21"/>
          <p:cNvSpPr/>
          <p:nvPr/>
        </p:nvSpPr>
        <p:spPr>
          <a:xfrm>
            <a:off x="411480" y="4069080"/>
            <a:ext cx="11384280" cy="502920"/>
          </a:xfrm>
          <a:prstGeom prst="roundRect">
            <a:avLst>
              <a:gd name="adj" fmla="val 14545"/>
            </a:avLst>
          </a:prstGeom>
          <a:solidFill>
            <a:srgbClr val="0B2545"/>
          </a:solidFill>
          <a:ln w="12700">
            <a:solidFill>
              <a:srgbClr val="0B2545"/>
            </a:solidFill>
            <a:prstDash val="solid"/>
          </a:ln>
        </p:spPr>
      </p:sp>
      <p:sp>
        <p:nvSpPr>
          <p:cNvPr id="24" name="Text 22"/>
          <p:cNvSpPr/>
          <p:nvPr/>
        </p:nvSpPr>
        <p:spPr>
          <a:xfrm>
            <a:off x="411480" y="4069080"/>
            <a:ext cx="11384280" cy="5029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  v1.1.0 — Mandatory resolution proof photo (backend-enforced)</a:t>
            </a:r>
            <a:endParaRPr lang="en-US" sz="1400" dirty="0"/>
          </a:p>
        </p:txBody>
      </p:sp>
      <p:sp>
        <p:nvSpPr>
          <p:cNvPr id="25" name="Shape 23"/>
          <p:cNvSpPr/>
          <p:nvPr/>
        </p:nvSpPr>
        <p:spPr>
          <a:xfrm>
            <a:off x="411480" y="4754880"/>
            <a:ext cx="5486400" cy="694944"/>
          </a:xfrm>
          <a:prstGeom prst="roundRect">
            <a:avLst>
              <a:gd name="adj" fmla="val 7895"/>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6" name="Text 24"/>
          <p:cNvSpPr/>
          <p:nvPr/>
        </p:nvSpPr>
        <p:spPr>
          <a:xfrm>
            <a:off x="612648" y="4846320"/>
            <a:ext cx="1508760" cy="512064"/>
          </a:xfrm>
          <a:prstGeom prst="rect">
            <a:avLst/>
          </a:prstGeom>
          <a:noFill/>
          <a:ln/>
        </p:spPr>
        <p:txBody>
          <a:bodyPr wrap="square" rtlCol="0" anchor="ctr"/>
          <a:lstStyle/>
          <a:p>
            <a:pPr indent="0" marL="0">
              <a:buNone/>
            </a:pPr>
            <a:r>
              <a:rPr lang="en-US" sz="1150" b="1" dirty="0">
                <a:solidFill>
                  <a:srgbClr val="0D9488"/>
                </a:solidFill>
                <a:latin typeface="Segoe UI" pitchFamily="34" charset="0"/>
                <a:ea typeface="Segoe UI" pitchFamily="34" charset="-122"/>
                <a:cs typeface="Segoe UI" pitchFamily="34" charset="-120"/>
              </a:rPr>
              <a:t>Backend rule</a:t>
            </a:r>
            <a:endParaRPr lang="en-US" sz="1150" dirty="0"/>
          </a:p>
        </p:txBody>
      </p:sp>
      <p:sp>
        <p:nvSpPr>
          <p:cNvPr id="27" name="Text 25"/>
          <p:cNvSpPr/>
          <p:nvPr/>
        </p:nvSpPr>
        <p:spPr>
          <a:xfrm>
            <a:off x="2194560" y="4846320"/>
            <a:ext cx="3566160" cy="512064"/>
          </a:xfrm>
          <a:prstGeom prst="rect">
            <a:avLst/>
          </a:prstGeom>
          <a:noFill/>
          <a:ln/>
        </p:spPr>
        <p:txBody>
          <a:bodyPr wrap="square" rtlCol="0" anchor="ctr"/>
          <a:lstStyle/>
          <a:p>
            <a:pPr indent="0" marL="0">
              <a:lnSpc>
                <a:spcPts val="1300"/>
              </a:lnSpc>
              <a:buNone/>
            </a:pPr>
            <a:r>
              <a:rPr lang="en-US" sz="1000" dirty="0">
                <a:solidFill>
                  <a:srgbClr val="33475C"/>
                </a:solidFill>
                <a:latin typeface="Segoe UI" pitchFamily="34" charset="0"/>
                <a:ea typeface="Segoe UI" pitchFamily="34" charset="-122"/>
                <a:cs typeface="Segoe UI" pitchFamily="34" charset="-120"/>
              </a:rPr>
              <a:t>JSON status PATCH rejects RESOLVED; only POST …/resolve (multipart) can resolve.</a:t>
            </a:r>
            <a:endParaRPr lang="en-US" sz="1000" dirty="0"/>
          </a:p>
        </p:txBody>
      </p:sp>
      <p:sp>
        <p:nvSpPr>
          <p:cNvPr id="28" name="Shape 26"/>
          <p:cNvSpPr/>
          <p:nvPr/>
        </p:nvSpPr>
        <p:spPr>
          <a:xfrm>
            <a:off x="6126480" y="4754880"/>
            <a:ext cx="5486400" cy="694944"/>
          </a:xfrm>
          <a:prstGeom prst="roundRect">
            <a:avLst>
              <a:gd name="adj" fmla="val 7895"/>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9" name="Text 27"/>
          <p:cNvSpPr/>
          <p:nvPr/>
        </p:nvSpPr>
        <p:spPr>
          <a:xfrm>
            <a:off x="6327648" y="4846320"/>
            <a:ext cx="1508760" cy="512064"/>
          </a:xfrm>
          <a:prstGeom prst="rect">
            <a:avLst/>
          </a:prstGeom>
          <a:noFill/>
          <a:ln/>
        </p:spPr>
        <p:txBody>
          <a:bodyPr wrap="square" rtlCol="0" anchor="ctr"/>
          <a:lstStyle/>
          <a:p>
            <a:pPr indent="0" marL="0">
              <a:buNone/>
            </a:pPr>
            <a:r>
              <a:rPr lang="en-US" sz="1150" b="1" dirty="0">
                <a:solidFill>
                  <a:srgbClr val="0D9488"/>
                </a:solidFill>
                <a:latin typeface="Segoe UI" pitchFamily="34" charset="0"/>
                <a:ea typeface="Segoe UI" pitchFamily="34" charset="-122"/>
                <a:cs typeface="Segoe UI" pitchFamily="34" charset="-120"/>
              </a:rPr>
              <a:t>Upload-first</a:t>
            </a:r>
            <a:endParaRPr lang="en-US" sz="1150" dirty="0"/>
          </a:p>
        </p:txBody>
      </p:sp>
      <p:sp>
        <p:nvSpPr>
          <p:cNvPr id="30" name="Text 28"/>
          <p:cNvSpPr/>
          <p:nvPr/>
        </p:nvSpPr>
        <p:spPr>
          <a:xfrm>
            <a:off x="7909560" y="4846320"/>
            <a:ext cx="3566160" cy="512064"/>
          </a:xfrm>
          <a:prstGeom prst="rect">
            <a:avLst/>
          </a:prstGeom>
          <a:noFill/>
          <a:ln/>
        </p:spPr>
        <p:txBody>
          <a:bodyPr wrap="square" rtlCol="0" anchor="ctr"/>
          <a:lstStyle/>
          <a:p>
            <a:pPr indent="0" marL="0">
              <a:lnSpc>
                <a:spcPts val="1300"/>
              </a:lnSpc>
              <a:buNone/>
            </a:pPr>
            <a:r>
              <a:rPr lang="en-US" sz="1000" dirty="0">
                <a:solidFill>
                  <a:srgbClr val="33475C"/>
                </a:solidFill>
                <a:latin typeface="Segoe UI" pitchFamily="34" charset="0"/>
                <a:ea typeface="Segoe UI" pitchFamily="34" charset="-122"/>
                <a:cs typeface="Segoe UI" pitchFamily="34" charset="-120"/>
              </a:rPr>
              <a:t>Photo validated (JPG/PNG/WEBP, ≤10 MB) and uploaded to Cloudinary BEFORE the status change.</a:t>
            </a:r>
            <a:endParaRPr lang="en-US" sz="1000" dirty="0"/>
          </a:p>
        </p:txBody>
      </p:sp>
      <p:sp>
        <p:nvSpPr>
          <p:cNvPr id="31" name="Shape 29"/>
          <p:cNvSpPr/>
          <p:nvPr/>
        </p:nvSpPr>
        <p:spPr>
          <a:xfrm>
            <a:off x="411480" y="5559552"/>
            <a:ext cx="5486400" cy="694944"/>
          </a:xfrm>
          <a:prstGeom prst="roundRect">
            <a:avLst>
              <a:gd name="adj" fmla="val 7895"/>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32" name="Text 30"/>
          <p:cNvSpPr/>
          <p:nvPr/>
        </p:nvSpPr>
        <p:spPr>
          <a:xfrm>
            <a:off x="612648" y="5650992"/>
            <a:ext cx="1508760" cy="512064"/>
          </a:xfrm>
          <a:prstGeom prst="rect">
            <a:avLst/>
          </a:prstGeom>
          <a:noFill/>
          <a:ln/>
        </p:spPr>
        <p:txBody>
          <a:bodyPr wrap="square" rtlCol="0" anchor="ctr"/>
          <a:lstStyle/>
          <a:p>
            <a:pPr indent="0" marL="0">
              <a:buNone/>
            </a:pPr>
            <a:r>
              <a:rPr lang="en-US" sz="1150" b="1" dirty="0">
                <a:solidFill>
                  <a:srgbClr val="0D9488"/>
                </a:solidFill>
                <a:latin typeface="Segoe UI" pitchFamily="34" charset="0"/>
                <a:ea typeface="Segoe UI" pitchFamily="34" charset="-122"/>
                <a:cs typeface="Segoe UI" pitchFamily="34" charset="-120"/>
              </a:rPr>
              <a:t>Safe failure</a:t>
            </a:r>
            <a:endParaRPr lang="en-US" sz="1150" dirty="0"/>
          </a:p>
        </p:txBody>
      </p:sp>
      <p:sp>
        <p:nvSpPr>
          <p:cNvPr id="33" name="Text 31"/>
          <p:cNvSpPr/>
          <p:nvPr/>
        </p:nvSpPr>
        <p:spPr>
          <a:xfrm>
            <a:off x="2194560" y="5650992"/>
            <a:ext cx="3566160" cy="512064"/>
          </a:xfrm>
          <a:prstGeom prst="rect">
            <a:avLst/>
          </a:prstGeom>
          <a:noFill/>
          <a:ln/>
        </p:spPr>
        <p:txBody>
          <a:bodyPr wrap="square" rtlCol="0" anchor="ctr"/>
          <a:lstStyle/>
          <a:p>
            <a:pPr indent="0" marL="0">
              <a:lnSpc>
                <a:spcPts val="1300"/>
              </a:lnSpc>
              <a:buNone/>
            </a:pPr>
            <a:r>
              <a:rPr lang="en-US" sz="1000" dirty="0">
                <a:solidFill>
                  <a:srgbClr val="33475C"/>
                </a:solidFill>
                <a:latin typeface="Segoe UI" pitchFamily="34" charset="0"/>
                <a:ea typeface="Segoe UI" pitchFamily="34" charset="-122"/>
                <a:cs typeface="Segoe UI" pitchFamily="34" charset="-120"/>
              </a:rPr>
              <a:t>A failed upload leaves the complaint untouched — never silently resolved.</a:t>
            </a:r>
            <a:endParaRPr lang="en-US" sz="1000" dirty="0"/>
          </a:p>
        </p:txBody>
      </p:sp>
      <p:sp>
        <p:nvSpPr>
          <p:cNvPr id="34" name="Shape 32"/>
          <p:cNvSpPr/>
          <p:nvPr/>
        </p:nvSpPr>
        <p:spPr>
          <a:xfrm>
            <a:off x="6126480" y="5559552"/>
            <a:ext cx="5486400" cy="694944"/>
          </a:xfrm>
          <a:prstGeom prst="roundRect">
            <a:avLst>
              <a:gd name="adj" fmla="val 7895"/>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35" name="Text 33"/>
          <p:cNvSpPr/>
          <p:nvPr/>
        </p:nvSpPr>
        <p:spPr>
          <a:xfrm>
            <a:off x="6327648" y="5650992"/>
            <a:ext cx="1508760" cy="512064"/>
          </a:xfrm>
          <a:prstGeom prst="rect">
            <a:avLst/>
          </a:prstGeom>
          <a:noFill/>
          <a:ln/>
        </p:spPr>
        <p:txBody>
          <a:bodyPr wrap="square" rtlCol="0" anchor="ctr"/>
          <a:lstStyle/>
          <a:p>
            <a:pPr indent="0" marL="0">
              <a:buNone/>
            </a:pPr>
            <a:r>
              <a:rPr lang="en-US" sz="1150" b="1" dirty="0">
                <a:solidFill>
                  <a:srgbClr val="0D9488"/>
                </a:solidFill>
                <a:latin typeface="Segoe UI" pitchFamily="34" charset="0"/>
                <a:ea typeface="Segoe UI" pitchFamily="34" charset="-122"/>
                <a:cs typeface="Segoe UI" pitchFamily="34" charset="-120"/>
              </a:rPr>
              <a:t>Transparency</a:t>
            </a:r>
            <a:endParaRPr lang="en-US" sz="1150" dirty="0"/>
          </a:p>
        </p:txBody>
      </p:sp>
      <p:sp>
        <p:nvSpPr>
          <p:cNvPr id="36" name="Text 34"/>
          <p:cNvSpPr/>
          <p:nvPr/>
        </p:nvSpPr>
        <p:spPr>
          <a:xfrm>
            <a:off x="7909560" y="5650992"/>
            <a:ext cx="3566160" cy="512064"/>
          </a:xfrm>
          <a:prstGeom prst="rect">
            <a:avLst/>
          </a:prstGeom>
          <a:noFill/>
          <a:ln/>
        </p:spPr>
        <p:txBody>
          <a:bodyPr wrap="square" rtlCol="0" anchor="ctr"/>
          <a:lstStyle/>
          <a:p>
            <a:pPr indent="0" marL="0">
              <a:lnSpc>
                <a:spcPts val="1300"/>
              </a:lnSpc>
              <a:buNone/>
            </a:pPr>
            <a:r>
              <a:rPr lang="en-US" sz="1000" dirty="0">
                <a:solidFill>
                  <a:srgbClr val="33475C"/>
                </a:solidFill>
                <a:latin typeface="Segoe UI" pitchFamily="34" charset="0"/>
                <a:ea typeface="Segoe UI" pitchFamily="34" charset="-122"/>
                <a:cs typeface="Segoe UI" pitchFamily="34" charset="-120"/>
              </a:rPr>
              <a:t>Proof URL (resolutionProofImageUrl) is returned and shown to the citizen.</a:t>
            </a:r>
            <a:endParaRPr lang="en-US" sz="1000" dirty="0"/>
          </a:p>
        </p:txBody>
      </p:sp>
      <p:sp>
        <p:nvSpPr>
          <p:cNvPr id="37" name="Text 35"/>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ASYNC BY DESIGN</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Event-driven notifications</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Synchronous REST for requests; RabbitMQ for reliable, decoupled event delivery.</a:t>
            </a:r>
            <a:endParaRPr lang="en-US" sz="1250" dirty="0"/>
          </a:p>
        </p:txBody>
      </p:sp>
      <p:sp>
        <p:nvSpPr>
          <p:cNvPr id="6" name="Text 4"/>
          <p:cNvSpPr/>
          <p:nvPr/>
        </p:nvSpPr>
        <p:spPr>
          <a:xfrm>
            <a:off x="411480" y="1554480"/>
            <a:ext cx="1828800" cy="274320"/>
          </a:xfrm>
          <a:prstGeom prst="rect">
            <a:avLst/>
          </a:prstGeom>
          <a:noFill/>
          <a:ln/>
        </p:spPr>
        <p:txBody>
          <a:bodyPr wrap="square" rtlCol="0" anchor="ctr"/>
          <a:lstStyle/>
          <a:p>
            <a:pPr indent="0" marL="0">
              <a:buNone/>
            </a:pPr>
            <a:r>
              <a:rPr lang="en-US" sz="1200" b="1" dirty="0">
                <a:solidFill>
                  <a:srgbClr val="0B2545"/>
                </a:solidFill>
                <a:latin typeface="Segoe UI" pitchFamily="34" charset="0"/>
                <a:ea typeface="Segoe UI" pitchFamily="34" charset="-122"/>
                <a:cs typeface="Segoe UI" pitchFamily="34" charset="-120"/>
              </a:rPr>
              <a:t>Producers</a:t>
            </a:r>
            <a:endParaRPr lang="en-US" sz="1200" dirty="0"/>
          </a:p>
        </p:txBody>
      </p:sp>
      <p:sp>
        <p:nvSpPr>
          <p:cNvPr id="7" name="Shape 5"/>
          <p:cNvSpPr/>
          <p:nvPr/>
        </p:nvSpPr>
        <p:spPr>
          <a:xfrm>
            <a:off x="411480" y="1874520"/>
            <a:ext cx="2377440" cy="804672"/>
          </a:xfrm>
          <a:prstGeom prst="roundRect">
            <a:avLst>
              <a:gd name="adj" fmla="val 6818"/>
            </a:avLst>
          </a:prstGeom>
          <a:solidFill>
            <a:srgbClr val="0B2545"/>
          </a:solidFill>
          <a:ln w="12700">
            <a:solidFill>
              <a:srgbClr val="0B2545"/>
            </a:solidFill>
            <a:prstDash val="solid"/>
          </a:ln>
          <a:effectLst>
            <a:outerShdw sx="100000" sy="100000" kx="0" ky="0" algn="bl" rotWithShape="0" blurRad="50800" dist="25400" dir="5400000">
              <a:srgbClr val="0B2545">
                <a:alpha val="10000"/>
              </a:srgbClr>
            </a:outerShdw>
          </a:effectLst>
        </p:spPr>
      </p:sp>
      <p:sp>
        <p:nvSpPr>
          <p:cNvPr id="8" name="Text 6"/>
          <p:cNvSpPr/>
          <p:nvPr/>
        </p:nvSpPr>
        <p:spPr>
          <a:xfrm>
            <a:off x="411480" y="1984248"/>
            <a:ext cx="2377440" cy="310896"/>
          </a:xfrm>
          <a:prstGeom prst="rect">
            <a:avLst/>
          </a:prstGeom>
          <a:noFill/>
          <a:ln/>
        </p:spPr>
        <p:txBody>
          <a:bodyPr wrap="square"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Auth</a:t>
            </a:r>
            <a:endParaRPr lang="en-US" sz="1250" dirty="0"/>
          </a:p>
        </p:txBody>
      </p:sp>
      <p:sp>
        <p:nvSpPr>
          <p:cNvPr id="9" name="Text 7"/>
          <p:cNvSpPr/>
          <p:nvPr/>
        </p:nvSpPr>
        <p:spPr>
          <a:xfrm>
            <a:off x="411480" y="2295144"/>
            <a:ext cx="2377440" cy="274320"/>
          </a:xfrm>
          <a:prstGeom prst="rect">
            <a:avLst/>
          </a:prstGeom>
          <a:noFill/>
          <a:ln/>
        </p:spPr>
        <p:txBody>
          <a:bodyPr wrap="square" rtlCol="0" anchor="ctr"/>
          <a:lstStyle/>
          <a:p>
            <a:pPr algn="ctr" indent="0" marL="0">
              <a:buNone/>
            </a:pPr>
            <a:r>
              <a:rPr lang="en-US" sz="950" dirty="0">
                <a:solidFill>
                  <a:srgbClr val="BFE3DD"/>
                </a:solidFill>
                <a:latin typeface="Segoe UI" pitchFamily="34" charset="0"/>
                <a:ea typeface="Segoe UI" pitchFamily="34" charset="-122"/>
                <a:cs typeface="Segoe UI" pitchFamily="34" charset="-120"/>
              </a:rPr>
              <a:t>registration · verification</a:t>
            </a:r>
            <a:endParaRPr lang="en-US" sz="950" dirty="0"/>
          </a:p>
        </p:txBody>
      </p:sp>
      <p:sp>
        <p:nvSpPr>
          <p:cNvPr id="10" name="Shape 8"/>
          <p:cNvSpPr/>
          <p:nvPr/>
        </p:nvSpPr>
        <p:spPr>
          <a:xfrm>
            <a:off x="2834640" y="2176272"/>
            <a:ext cx="822960" cy="237744"/>
          </a:xfrm>
          <a:prstGeom prst="rightArrow">
            <a:avLst/>
          </a:prstGeom>
          <a:solidFill>
            <a:srgbClr val="94A8B8"/>
          </a:solidFill>
          <a:ln w="12700">
            <a:solidFill>
              <a:srgbClr val="94A8B8"/>
            </a:solidFill>
            <a:prstDash val="solid"/>
          </a:ln>
        </p:spPr>
      </p:sp>
      <p:sp>
        <p:nvSpPr>
          <p:cNvPr id="11" name="Shape 9"/>
          <p:cNvSpPr/>
          <p:nvPr/>
        </p:nvSpPr>
        <p:spPr>
          <a:xfrm>
            <a:off x="411480" y="2788920"/>
            <a:ext cx="2377440" cy="804672"/>
          </a:xfrm>
          <a:prstGeom prst="roundRect">
            <a:avLst>
              <a:gd name="adj" fmla="val 6818"/>
            </a:avLst>
          </a:prstGeom>
          <a:solidFill>
            <a:srgbClr val="0B2545"/>
          </a:solidFill>
          <a:ln w="12700">
            <a:solidFill>
              <a:srgbClr val="0B2545"/>
            </a:solidFill>
            <a:prstDash val="solid"/>
          </a:ln>
          <a:effectLst>
            <a:outerShdw sx="100000" sy="100000" kx="0" ky="0" algn="bl" rotWithShape="0" blurRad="50800" dist="25400" dir="5400000">
              <a:srgbClr val="0B2545">
                <a:alpha val="10000"/>
              </a:srgbClr>
            </a:outerShdw>
          </a:effectLst>
        </p:spPr>
      </p:sp>
      <p:sp>
        <p:nvSpPr>
          <p:cNvPr id="12" name="Text 10"/>
          <p:cNvSpPr/>
          <p:nvPr/>
        </p:nvSpPr>
        <p:spPr>
          <a:xfrm>
            <a:off x="411480" y="2898648"/>
            <a:ext cx="2377440" cy="310896"/>
          </a:xfrm>
          <a:prstGeom prst="rect">
            <a:avLst/>
          </a:prstGeom>
          <a:noFill/>
          <a:ln/>
        </p:spPr>
        <p:txBody>
          <a:bodyPr wrap="square"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Complaint</a:t>
            </a:r>
            <a:endParaRPr lang="en-US" sz="1250" dirty="0"/>
          </a:p>
        </p:txBody>
      </p:sp>
      <p:sp>
        <p:nvSpPr>
          <p:cNvPr id="13" name="Text 11"/>
          <p:cNvSpPr/>
          <p:nvPr/>
        </p:nvSpPr>
        <p:spPr>
          <a:xfrm>
            <a:off x="411480" y="3209544"/>
            <a:ext cx="2377440" cy="274320"/>
          </a:xfrm>
          <a:prstGeom prst="rect">
            <a:avLst/>
          </a:prstGeom>
          <a:noFill/>
          <a:ln/>
        </p:spPr>
        <p:txBody>
          <a:bodyPr wrap="square" rtlCol="0" anchor="ctr"/>
          <a:lstStyle/>
          <a:p>
            <a:pPr algn="ctr" indent="0" marL="0">
              <a:buNone/>
            </a:pPr>
            <a:r>
              <a:rPr lang="en-US" sz="950" dirty="0">
                <a:solidFill>
                  <a:srgbClr val="BFE3DD"/>
                </a:solidFill>
                <a:latin typeface="Segoe UI" pitchFamily="34" charset="0"/>
                <a:ea typeface="Segoe UI" pitchFamily="34" charset="-122"/>
                <a:cs typeface="Segoe UI" pitchFamily="34" charset="-120"/>
              </a:rPr>
              <a:t>created · assigned · status</a:t>
            </a:r>
            <a:endParaRPr lang="en-US" sz="950" dirty="0"/>
          </a:p>
        </p:txBody>
      </p:sp>
      <p:sp>
        <p:nvSpPr>
          <p:cNvPr id="14" name="Shape 12"/>
          <p:cNvSpPr/>
          <p:nvPr/>
        </p:nvSpPr>
        <p:spPr>
          <a:xfrm>
            <a:off x="2834640" y="3090672"/>
            <a:ext cx="822960" cy="237744"/>
          </a:xfrm>
          <a:prstGeom prst="rightArrow">
            <a:avLst/>
          </a:prstGeom>
          <a:solidFill>
            <a:srgbClr val="94A8B8"/>
          </a:solidFill>
          <a:ln w="12700">
            <a:solidFill>
              <a:srgbClr val="94A8B8"/>
            </a:solidFill>
            <a:prstDash val="solid"/>
          </a:ln>
        </p:spPr>
      </p:sp>
      <p:sp>
        <p:nvSpPr>
          <p:cNvPr id="15" name="Shape 13"/>
          <p:cNvSpPr/>
          <p:nvPr/>
        </p:nvSpPr>
        <p:spPr>
          <a:xfrm>
            <a:off x="411480" y="3703320"/>
            <a:ext cx="2377440" cy="804672"/>
          </a:xfrm>
          <a:prstGeom prst="roundRect">
            <a:avLst>
              <a:gd name="adj" fmla="val 6818"/>
            </a:avLst>
          </a:prstGeom>
          <a:solidFill>
            <a:srgbClr val="0B2545"/>
          </a:solidFill>
          <a:ln w="12700">
            <a:solidFill>
              <a:srgbClr val="0B2545"/>
            </a:solidFill>
            <a:prstDash val="solid"/>
          </a:ln>
          <a:effectLst>
            <a:outerShdw sx="100000" sy="100000" kx="0" ky="0" algn="bl" rotWithShape="0" blurRad="50800" dist="25400" dir="5400000">
              <a:srgbClr val="0B2545">
                <a:alpha val="10000"/>
              </a:srgbClr>
            </a:outerShdw>
          </a:effectLst>
        </p:spPr>
      </p:sp>
      <p:sp>
        <p:nvSpPr>
          <p:cNvPr id="16" name="Text 14"/>
          <p:cNvSpPr/>
          <p:nvPr/>
        </p:nvSpPr>
        <p:spPr>
          <a:xfrm>
            <a:off x="411480" y="3813048"/>
            <a:ext cx="2377440" cy="310896"/>
          </a:xfrm>
          <a:prstGeom prst="rect">
            <a:avLst/>
          </a:prstGeom>
          <a:noFill/>
          <a:ln/>
        </p:spPr>
        <p:txBody>
          <a:bodyPr wrap="square"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Community</a:t>
            </a:r>
            <a:endParaRPr lang="en-US" sz="1250" dirty="0"/>
          </a:p>
        </p:txBody>
      </p:sp>
      <p:sp>
        <p:nvSpPr>
          <p:cNvPr id="17" name="Text 15"/>
          <p:cNvSpPr/>
          <p:nvPr/>
        </p:nvSpPr>
        <p:spPr>
          <a:xfrm>
            <a:off x="411480" y="4123944"/>
            <a:ext cx="2377440" cy="274320"/>
          </a:xfrm>
          <a:prstGeom prst="rect">
            <a:avLst/>
          </a:prstGeom>
          <a:noFill/>
          <a:ln/>
        </p:spPr>
        <p:txBody>
          <a:bodyPr wrap="square" rtlCol="0" anchor="ctr"/>
          <a:lstStyle/>
          <a:p>
            <a:pPr algn="ctr" indent="0" marL="0">
              <a:buNone/>
            </a:pPr>
            <a:r>
              <a:rPr lang="en-US" sz="950" dirty="0">
                <a:solidFill>
                  <a:srgbClr val="BFE3DD"/>
                </a:solidFill>
                <a:latin typeface="Segoe UI" pitchFamily="34" charset="0"/>
                <a:ea typeface="Segoe UI" pitchFamily="34" charset="-122"/>
                <a:cs typeface="Segoe UI" pitchFamily="34" charset="-120"/>
              </a:rPr>
              <a:t>events</a:t>
            </a:r>
            <a:endParaRPr lang="en-US" sz="950" dirty="0"/>
          </a:p>
        </p:txBody>
      </p:sp>
      <p:sp>
        <p:nvSpPr>
          <p:cNvPr id="18" name="Shape 16"/>
          <p:cNvSpPr/>
          <p:nvPr/>
        </p:nvSpPr>
        <p:spPr>
          <a:xfrm>
            <a:off x="2834640" y="4005072"/>
            <a:ext cx="822960" cy="237744"/>
          </a:xfrm>
          <a:prstGeom prst="rightArrow">
            <a:avLst/>
          </a:prstGeom>
          <a:solidFill>
            <a:srgbClr val="94A8B8"/>
          </a:solidFill>
          <a:ln w="12700">
            <a:solidFill>
              <a:srgbClr val="94A8B8"/>
            </a:solidFill>
            <a:prstDash val="solid"/>
          </a:ln>
        </p:spPr>
      </p:sp>
      <p:sp>
        <p:nvSpPr>
          <p:cNvPr id="19" name="Shape 17"/>
          <p:cNvSpPr/>
          <p:nvPr/>
        </p:nvSpPr>
        <p:spPr>
          <a:xfrm>
            <a:off x="3749040" y="1783080"/>
            <a:ext cx="3108960" cy="2103120"/>
          </a:xfrm>
          <a:prstGeom prst="roundRect">
            <a:avLst>
              <a:gd name="adj" fmla="val 2609"/>
            </a:avLst>
          </a:prstGeom>
          <a:solidFill>
            <a:srgbClr val="FFF7E6"/>
          </a:solidFill>
          <a:ln w="12700">
            <a:solidFill>
              <a:srgbClr val="F0D9A8"/>
            </a:solidFill>
            <a:prstDash val="solid"/>
          </a:ln>
          <a:effectLst>
            <a:outerShdw sx="100000" sy="100000" kx="0" ky="0" algn="bl" rotWithShape="0" blurRad="50800" dist="25400" dir="5400000">
              <a:srgbClr val="0B2545">
                <a:alpha val="10000"/>
              </a:srgbClr>
            </a:outerShdw>
          </a:effectLst>
        </p:spPr>
      </p:sp>
      <p:sp>
        <p:nvSpPr>
          <p:cNvPr id="20" name="Text 18"/>
          <p:cNvSpPr/>
          <p:nvPr/>
        </p:nvSpPr>
        <p:spPr>
          <a:xfrm>
            <a:off x="3749040" y="1965960"/>
            <a:ext cx="3108960" cy="365760"/>
          </a:xfrm>
          <a:prstGeom prst="rect">
            <a:avLst/>
          </a:prstGeom>
          <a:noFill/>
          <a:ln/>
        </p:spPr>
        <p:txBody>
          <a:bodyPr wrap="square" rtlCol="0" anchor="ctr"/>
          <a:lstStyle/>
          <a:p>
            <a:pPr algn="ctr" indent="0" marL="0">
              <a:buNone/>
            </a:pPr>
            <a:r>
              <a:rPr lang="en-US" sz="1500" b="1" dirty="0">
                <a:solidFill>
                  <a:srgbClr val="92600A"/>
                </a:solidFill>
                <a:latin typeface="Segoe UI" pitchFamily="34" charset="0"/>
                <a:ea typeface="Segoe UI" pitchFamily="34" charset="-122"/>
                <a:cs typeface="Segoe UI" pitchFamily="34" charset="-120"/>
              </a:rPr>
              <a:t>RabbitMQ</a:t>
            </a:r>
            <a:endParaRPr lang="en-US" sz="1500" dirty="0"/>
          </a:p>
        </p:txBody>
      </p:sp>
      <p:sp>
        <p:nvSpPr>
          <p:cNvPr id="21" name="Text 19"/>
          <p:cNvSpPr/>
          <p:nvPr/>
        </p:nvSpPr>
        <p:spPr>
          <a:xfrm>
            <a:off x="3749040" y="2377440"/>
            <a:ext cx="3108960" cy="274320"/>
          </a:xfrm>
          <a:prstGeom prst="rect">
            <a:avLst/>
          </a:prstGeom>
          <a:noFill/>
          <a:ln/>
        </p:spPr>
        <p:txBody>
          <a:bodyPr wrap="square" rtlCol="0" anchor="ctr"/>
          <a:lstStyle/>
          <a:p>
            <a:pPr algn="ctr" indent="0" marL="0">
              <a:buNone/>
            </a:pPr>
            <a:r>
              <a:rPr lang="en-US" sz="900" dirty="0">
                <a:solidFill>
                  <a:srgbClr val="5A4A17"/>
                </a:solidFill>
                <a:latin typeface="Consolas" pitchFamily="34" charset="0"/>
                <a:ea typeface="Consolas" pitchFamily="34" charset="-122"/>
                <a:cs typeface="Consolas" pitchFamily="34" charset="-120"/>
              </a:rPr>
              <a:t>exchange: notification.exchange</a:t>
            </a:r>
            <a:endParaRPr lang="en-US" sz="900" dirty="0"/>
          </a:p>
        </p:txBody>
      </p:sp>
      <p:sp>
        <p:nvSpPr>
          <p:cNvPr id="22" name="Text 20"/>
          <p:cNvSpPr/>
          <p:nvPr/>
        </p:nvSpPr>
        <p:spPr>
          <a:xfrm>
            <a:off x="3749040" y="2651760"/>
            <a:ext cx="3108960" cy="274320"/>
          </a:xfrm>
          <a:prstGeom prst="rect">
            <a:avLst/>
          </a:prstGeom>
          <a:noFill/>
          <a:ln/>
        </p:spPr>
        <p:txBody>
          <a:bodyPr wrap="square" rtlCol="0" anchor="ctr"/>
          <a:lstStyle/>
          <a:p>
            <a:pPr algn="ctr" indent="0" marL="0">
              <a:buNone/>
            </a:pPr>
            <a:r>
              <a:rPr lang="en-US" sz="900" dirty="0">
                <a:solidFill>
                  <a:srgbClr val="5A4A17"/>
                </a:solidFill>
                <a:latin typeface="Consolas" pitchFamily="34" charset="0"/>
                <a:ea typeface="Consolas" pitchFamily="34" charset="-122"/>
                <a:cs typeface="Consolas" pitchFamily="34" charset="-120"/>
              </a:rPr>
              <a:t>queue: notification.queue</a:t>
            </a:r>
            <a:endParaRPr lang="en-US" sz="900" dirty="0"/>
          </a:p>
        </p:txBody>
      </p:sp>
      <p:sp>
        <p:nvSpPr>
          <p:cNvPr id="23" name="Text 21"/>
          <p:cNvSpPr/>
          <p:nvPr/>
        </p:nvSpPr>
        <p:spPr>
          <a:xfrm>
            <a:off x="3749040" y="2926080"/>
            <a:ext cx="3108960" cy="274320"/>
          </a:xfrm>
          <a:prstGeom prst="rect">
            <a:avLst/>
          </a:prstGeom>
          <a:noFill/>
          <a:ln/>
        </p:spPr>
        <p:txBody>
          <a:bodyPr wrap="square" rtlCol="0" anchor="ctr"/>
          <a:lstStyle/>
          <a:p>
            <a:pPr algn="ctr" indent="0" marL="0">
              <a:buNone/>
            </a:pPr>
            <a:r>
              <a:rPr lang="en-US" sz="900" dirty="0">
                <a:solidFill>
                  <a:srgbClr val="5A4A17"/>
                </a:solidFill>
                <a:latin typeface="Consolas" pitchFamily="34" charset="0"/>
                <a:ea typeface="Consolas" pitchFamily="34" charset="-122"/>
                <a:cs typeface="Consolas" pitchFamily="34" charset="-120"/>
              </a:rPr>
              <a:t>routing: notification.#</a:t>
            </a:r>
            <a:endParaRPr lang="en-US" sz="900" dirty="0"/>
          </a:p>
        </p:txBody>
      </p:sp>
      <p:sp>
        <p:nvSpPr>
          <p:cNvPr id="24" name="Text 22"/>
          <p:cNvSpPr/>
          <p:nvPr/>
        </p:nvSpPr>
        <p:spPr>
          <a:xfrm>
            <a:off x="3749040" y="3291840"/>
            <a:ext cx="3108960" cy="274320"/>
          </a:xfrm>
          <a:prstGeom prst="rect">
            <a:avLst/>
          </a:prstGeom>
          <a:noFill/>
          <a:ln/>
        </p:spPr>
        <p:txBody>
          <a:bodyPr wrap="square" rtlCol="0" anchor="ctr"/>
          <a:lstStyle/>
          <a:p>
            <a:pPr algn="ctr" indent="0" marL="0">
              <a:buNone/>
            </a:pPr>
            <a:r>
              <a:rPr lang="en-US" sz="1000" i="1" dirty="0">
                <a:solidFill>
                  <a:srgbClr val="92600A"/>
                </a:solidFill>
                <a:latin typeface="Segoe UI" pitchFamily="34" charset="0"/>
                <a:ea typeface="Segoe UI" pitchFamily="34" charset="-122"/>
                <a:cs typeface="Segoe UI" pitchFamily="34" charset="-120"/>
              </a:rPr>
              <a:t>topic · DLQ · retries</a:t>
            </a:r>
            <a:endParaRPr lang="en-US" sz="1000" dirty="0"/>
          </a:p>
        </p:txBody>
      </p:sp>
      <p:sp>
        <p:nvSpPr>
          <p:cNvPr id="25" name="Shape 23"/>
          <p:cNvSpPr/>
          <p:nvPr/>
        </p:nvSpPr>
        <p:spPr>
          <a:xfrm>
            <a:off x="7543800" y="1783080"/>
            <a:ext cx="4251960" cy="2103120"/>
          </a:xfrm>
          <a:prstGeom prst="roundRect">
            <a:avLst>
              <a:gd name="adj" fmla="val 2609"/>
            </a:avLst>
          </a:prstGeom>
          <a:solidFill>
            <a:srgbClr val="EAF4F3"/>
          </a:solidFill>
          <a:ln w="12700">
            <a:solidFill>
              <a:srgbClr val="BFDED9"/>
            </a:solidFill>
            <a:prstDash val="solid"/>
          </a:ln>
          <a:effectLst>
            <a:outerShdw sx="100000" sy="100000" kx="0" ky="0" algn="bl" rotWithShape="0" blurRad="50800" dist="25400" dir="5400000">
              <a:srgbClr val="0B2545">
                <a:alpha val="10000"/>
              </a:srgbClr>
            </a:outerShdw>
          </a:effectLst>
        </p:spPr>
      </p:sp>
      <p:sp>
        <p:nvSpPr>
          <p:cNvPr id="26" name="Text 24"/>
          <p:cNvSpPr/>
          <p:nvPr/>
        </p:nvSpPr>
        <p:spPr>
          <a:xfrm>
            <a:off x="7543800" y="1965960"/>
            <a:ext cx="4251960" cy="365760"/>
          </a:xfrm>
          <a:prstGeom prst="rect">
            <a:avLst/>
          </a:prstGeom>
          <a:noFill/>
          <a:ln/>
        </p:spPr>
        <p:txBody>
          <a:bodyPr wrap="square" rtlCol="0" anchor="ctr"/>
          <a:lstStyle/>
          <a:p>
            <a:pPr algn="ctr" indent="0" marL="0">
              <a:buNone/>
            </a:pPr>
            <a:r>
              <a:rPr lang="en-US" sz="1400" b="1" dirty="0">
                <a:solidFill>
                  <a:srgbClr val="0B5B52"/>
                </a:solidFill>
                <a:latin typeface="Segoe UI" pitchFamily="34" charset="0"/>
                <a:ea typeface="Segoe UI" pitchFamily="34" charset="-122"/>
                <a:cs typeface="Segoe UI" pitchFamily="34" charset="-120"/>
              </a:rPr>
              <a:t>Notification Service</a:t>
            </a:r>
            <a:endParaRPr lang="en-US" sz="1400" dirty="0"/>
          </a:p>
        </p:txBody>
      </p:sp>
      <p:sp>
        <p:nvSpPr>
          <p:cNvPr id="27" name="Text 25"/>
          <p:cNvSpPr/>
          <p:nvPr/>
        </p:nvSpPr>
        <p:spPr>
          <a:xfrm>
            <a:off x="7543800" y="2377440"/>
            <a:ext cx="4251960" cy="274320"/>
          </a:xfrm>
          <a:prstGeom prst="rect">
            <a:avLst/>
          </a:prstGeom>
          <a:noFill/>
          <a:ln/>
        </p:spPr>
        <p:txBody>
          <a:bodyPr wrap="square" rtlCol="0" anchor="ctr"/>
          <a:lstStyle/>
          <a:p>
            <a:pPr algn="ctr" indent="0" marL="0">
              <a:buNone/>
            </a:pPr>
            <a:r>
              <a:rPr lang="en-US" sz="1050" dirty="0">
                <a:solidFill>
                  <a:srgbClr val="3E7A72"/>
                </a:solidFill>
                <a:latin typeface="Segoe UI" pitchFamily="34" charset="0"/>
                <a:ea typeface="Segoe UI" pitchFamily="34" charset="-122"/>
                <a:cs typeface="Segoe UI" pitchFamily="34" charset="-120"/>
              </a:rPr>
              <a:t>consumes + persists</a:t>
            </a:r>
            <a:endParaRPr lang="en-US" sz="1050" dirty="0"/>
          </a:p>
        </p:txBody>
      </p:sp>
      <p:sp>
        <p:nvSpPr>
          <p:cNvPr id="28" name="Text 26"/>
          <p:cNvSpPr/>
          <p:nvPr/>
        </p:nvSpPr>
        <p:spPr>
          <a:xfrm>
            <a:off x="7543800" y="2743200"/>
            <a:ext cx="4251960" cy="320040"/>
          </a:xfrm>
          <a:prstGeom prst="rect">
            <a:avLst/>
          </a:prstGeom>
          <a:noFill/>
          <a:ln/>
        </p:spPr>
        <p:txBody>
          <a:bodyPr wrap="square" rtlCol="0" anchor="ctr"/>
          <a:lstStyle/>
          <a:p>
            <a:pPr algn="ctr" indent="0" marL="0">
              <a:buNone/>
            </a:pPr>
            <a:r>
              <a:rPr lang="en-US" sz="1150" dirty="0">
                <a:solidFill>
                  <a:srgbClr val="0B5B52"/>
                </a:solidFill>
                <a:latin typeface="Segoe UI" pitchFamily="34" charset="0"/>
                <a:ea typeface="Segoe UI" pitchFamily="34" charset="-122"/>
                <a:cs typeface="Segoe UI" pitchFamily="34" charset="-120"/>
              </a:rPr>
              <a:t>🔔  in-app notification</a:t>
            </a:r>
            <a:endParaRPr lang="en-US" sz="1150" dirty="0"/>
          </a:p>
        </p:txBody>
      </p:sp>
      <p:sp>
        <p:nvSpPr>
          <p:cNvPr id="29" name="Text 27"/>
          <p:cNvSpPr/>
          <p:nvPr/>
        </p:nvSpPr>
        <p:spPr>
          <a:xfrm>
            <a:off x="7543800" y="3108960"/>
            <a:ext cx="4251960" cy="320040"/>
          </a:xfrm>
          <a:prstGeom prst="rect">
            <a:avLst/>
          </a:prstGeom>
          <a:noFill/>
          <a:ln/>
        </p:spPr>
        <p:txBody>
          <a:bodyPr wrap="square" rtlCol="0" anchor="ctr"/>
          <a:lstStyle/>
          <a:p>
            <a:pPr algn="ctr" indent="0" marL="0">
              <a:buNone/>
            </a:pPr>
            <a:r>
              <a:rPr lang="en-US" sz="1150" dirty="0">
                <a:solidFill>
                  <a:srgbClr val="0B5B52"/>
                </a:solidFill>
                <a:latin typeface="Segoe UI" pitchFamily="34" charset="0"/>
                <a:ea typeface="Segoe UI" pitchFamily="34" charset="-122"/>
                <a:cs typeface="Segoe UI" pitchFamily="34" charset="-120"/>
              </a:rPr>
              <a:t>📧  EmailJS</a:t>
            </a:r>
            <a:endParaRPr lang="en-US" sz="1150" dirty="0"/>
          </a:p>
        </p:txBody>
      </p:sp>
      <p:sp>
        <p:nvSpPr>
          <p:cNvPr id="30" name="Text 28"/>
          <p:cNvSpPr/>
          <p:nvPr/>
        </p:nvSpPr>
        <p:spPr>
          <a:xfrm>
            <a:off x="7543800" y="3456432"/>
            <a:ext cx="4251960" cy="274320"/>
          </a:xfrm>
          <a:prstGeom prst="rect">
            <a:avLst/>
          </a:prstGeom>
          <a:noFill/>
          <a:ln/>
        </p:spPr>
        <p:txBody>
          <a:bodyPr wrap="square" rtlCol="0" anchor="ctr"/>
          <a:lstStyle/>
          <a:p>
            <a:pPr algn="ctr" indent="0" marL="0">
              <a:buNone/>
            </a:pPr>
            <a:r>
              <a:rPr lang="en-US" sz="950" dirty="0">
                <a:solidFill>
                  <a:srgbClr val="3E7A72"/>
                </a:solidFill>
                <a:latin typeface="Segoe UI" pitchFamily="34" charset="0"/>
                <a:ea typeface="Segoe UI" pitchFamily="34" charset="-122"/>
                <a:cs typeface="Segoe UI" pitchFamily="34" charset="-120"/>
              </a:rPr>
              <a:t>verification · welcome · status</a:t>
            </a:r>
            <a:endParaRPr lang="en-US" sz="950" dirty="0"/>
          </a:p>
        </p:txBody>
      </p:sp>
      <p:sp>
        <p:nvSpPr>
          <p:cNvPr id="31" name="Shape 29"/>
          <p:cNvSpPr/>
          <p:nvPr/>
        </p:nvSpPr>
        <p:spPr>
          <a:xfrm>
            <a:off x="6903720" y="2697480"/>
            <a:ext cx="594360" cy="237744"/>
          </a:xfrm>
          <a:prstGeom prst="rightArrow">
            <a:avLst/>
          </a:prstGeom>
          <a:solidFill>
            <a:srgbClr val="94A8B8"/>
          </a:solidFill>
          <a:ln w="12700">
            <a:solidFill>
              <a:srgbClr val="94A8B8"/>
            </a:solidFill>
            <a:prstDash val="solid"/>
          </a:ln>
        </p:spPr>
      </p:sp>
      <p:sp>
        <p:nvSpPr>
          <p:cNvPr id="32" name="Text 30"/>
          <p:cNvSpPr/>
          <p:nvPr/>
        </p:nvSpPr>
        <p:spPr>
          <a:xfrm>
            <a:off x="411480" y="4160520"/>
            <a:ext cx="4114800" cy="274320"/>
          </a:xfrm>
          <a:prstGeom prst="rect">
            <a:avLst/>
          </a:prstGeom>
          <a:noFill/>
          <a:ln/>
        </p:spPr>
        <p:txBody>
          <a:bodyPr wrap="square" rtlCol="0" anchor="ctr"/>
          <a:lstStyle/>
          <a:p>
            <a:pPr indent="0" marL="0">
              <a:buNone/>
            </a:pPr>
            <a:r>
              <a:rPr lang="en-US" sz="1200" b="1" dirty="0">
                <a:solidFill>
                  <a:srgbClr val="0B2545"/>
                </a:solidFill>
                <a:latin typeface="Segoe UI" pitchFamily="34" charset="0"/>
                <a:ea typeface="Segoe UI" pitchFamily="34" charset="-122"/>
                <a:cs typeface="Segoe UI" pitchFamily="34" charset="-120"/>
              </a:rPr>
              <a:t>Events actually published</a:t>
            </a:r>
            <a:endParaRPr lang="en-US" sz="1200" dirty="0"/>
          </a:p>
        </p:txBody>
      </p:sp>
      <p:sp>
        <p:nvSpPr>
          <p:cNvPr id="33" name="Text 31"/>
          <p:cNvSpPr/>
          <p:nvPr/>
        </p:nvSpPr>
        <p:spPr>
          <a:xfrm>
            <a:off x="411480" y="4480560"/>
            <a:ext cx="274320" cy="256032"/>
          </a:xfrm>
          <a:prstGeom prst="rect">
            <a:avLst/>
          </a:prstGeom>
          <a:noFill/>
          <a:ln/>
        </p:spPr>
        <p:txBody>
          <a:bodyPr wrap="square" rtlCol="0" anchor="ctr"/>
          <a:lstStyle/>
          <a:p>
            <a:pPr indent="0" marL="0">
              <a:buNone/>
            </a:pPr>
            <a:r>
              <a:rPr lang="en-US" sz="1000" b="1" dirty="0">
                <a:solidFill>
                  <a:srgbClr val="0D9488"/>
                </a:solidFill>
                <a:latin typeface="Segoe UI" pitchFamily="34" charset="0"/>
                <a:ea typeface="Segoe UI" pitchFamily="34" charset="-122"/>
                <a:cs typeface="Segoe UI" pitchFamily="34" charset="-120"/>
              </a:rPr>
              <a:t>▸</a:t>
            </a:r>
            <a:endParaRPr lang="en-US" sz="1000" dirty="0"/>
          </a:p>
        </p:txBody>
      </p:sp>
      <p:sp>
        <p:nvSpPr>
          <p:cNvPr id="34" name="Text 32"/>
          <p:cNvSpPr/>
          <p:nvPr/>
        </p:nvSpPr>
        <p:spPr>
          <a:xfrm>
            <a:off x="685800" y="4480560"/>
            <a:ext cx="5486400" cy="256032"/>
          </a:xfrm>
          <a:prstGeom prst="rect">
            <a:avLst/>
          </a:prstGeom>
          <a:noFill/>
          <a:ln/>
        </p:spPr>
        <p:txBody>
          <a:bodyPr wrap="square" rtlCol="0" anchor="ctr"/>
          <a:lstStyle/>
          <a:p>
            <a:pPr indent="0" marL="0">
              <a:buNone/>
            </a:pPr>
            <a:r>
              <a:rPr lang="en-US" sz="950" dirty="0">
                <a:solidFill>
                  <a:srgbClr val="33475C"/>
                </a:solidFill>
                <a:latin typeface="Consolas" pitchFamily="34" charset="0"/>
                <a:ea typeface="Consolas" pitchFamily="34" charset="-122"/>
                <a:cs typeface="Consolas" pitchFamily="34" charset="-120"/>
              </a:rPr>
              <a:t>COMPLAINT_CREATED → complaint → citizen</a:t>
            </a:r>
            <a:endParaRPr lang="en-US" sz="950" dirty="0"/>
          </a:p>
        </p:txBody>
      </p:sp>
      <p:sp>
        <p:nvSpPr>
          <p:cNvPr id="35" name="Text 33"/>
          <p:cNvSpPr/>
          <p:nvPr/>
        </p:nvSpPr>
        <p:spPr>
          <a:xfrm>
            <a:off x="411480" y="4791456"/>
            <a:ext cx="274320" cy="256032"/>
          </a:xfrm>
          <a:prstGeom prst="rect">
            <a:avLst/>
          </a:prstGeom>
          <a:noFill/>
          <a:ln/>
        </p:spPr>
        <p:txBody>
          <a:bodyPr wrap="square" rtlCol="0" anchor="ctr"/>
          <a:lstStyle/>
          <a:p>
            <a:pPr indent="0" marL="0">
              <a:buNone/>
            </a:pPr>
            <a:r>
              <a:rPr lang="en-US" sz="1000" b="1" dirty="0">
                <a:solidFill>
                  <a:srgbClr val="0D9488"/>
                </a:solidFill>
                <a:latin typeface="Segoe UI" pitchFamily="34" charset="0"/>
                <a:ea typeface="Segoe UI" pitchFamily="34" charset="-122"/>
                <a:cs typeface="Segoe UI" pitchFamily="34" charset="-120"/>
              </a:rPr>
              <a:t>▸</a:t>
            </a:r>
            <a:endParaRPr lang="en-US" sz="1000" dirty="0"/>
          </a:p>
        </p:txBody>
      </p:sp>
      <p:sp>
        <p:nvSpPr>
          <p:cNvPr id="36" name="Text 34"/>
          <p:cNvSpPr/>
          <p:nvPr/>
        </p:nvSpPr>
        <p:spPr>
          <a:xfrm>
            <a:off x="685800" y="4791456"/>
            <a:ext cx="5486400" cy="256032"/>
          </a:xfrm>
          <a:prstGeom prst="rect">
            <a:avLst/>
          </a:prstGeom>
          <a:noFill/>
          <a:ln/>
        </p:spPr>
        <p:txBody>
          <a:bodyPr wrap="square" rtlCol="0" anchor="ctr"/>
          <a:lstStyle/>
          <a:p>
            <a:pPr indent="0" marL="0">
              <a:buNone/>
            </a:pPr>
            <a:r>
              <a:rPr lang="en-US" sz="950" dirty="0">
                <a:solidFill>
                  <a:srgbClr val="33475C"/>
                </a:solidFill>
                <a:latin typeface="Consolas" pitchFamily="34" charset="0"/>
                <a:ea typeface="Consolas" pitchFamily="34" charset="-122"/>
                <a:cs typeface="Consolas" pitchFamily="34" charset="-120"/>
              </a:rPr>
              <a:t>COMPLAINT_ASSIGNED → → field officer</a:t>
            </a:r>
            <a:endParaRPr lang="en-US" sz="950" dirty="0"/>
          </a:p>
        </p:txBody>
      </p:sp>
      <p:sp>
        <p:nvSpPr>
          <p:cNvPr id="37" name="Text 35"/>
          <p:cNvSpPr/>
          <p:nvPr/>
        </p:nvSpPr>
        <p:spPr>
          <a:xfrm>
            <a:off x="411480" y="5102352"/>
            <a:ext cx="274320" cy="256032"/>
          </a:xfrm>
          <a:prstGeom prst="rect">
            <a:avLst/>
          </a:prstGeom>
          <a:noFill/>
          <a:ln/>
        </p:spPr>
        <p:txBody>
          <a:bodyPr wrap="square" rtlCol="0" anchor="ctr"/>
          <a:lstStyle/>
          <a:p>
            <a:pPr indent="0" marL="0">
              <a:buNone/>
            </a:pPr>
            <a:r>
              <a:rPr lang="en-US" sz="1000" b="1" dirty="0">
                <a:solidFill>
                  <a:srgbClr val="0D9488"/>
                </a:solidFill>
                <a:latin typeface="Segoe UI" pitchFamily="34" charset="0"/>
                <a:ea typeface="Segoe UI" pitchFamily="34" charset="-122"/>
                <a:cs typeface="Segoe UI" pitchFamily="34" charset="-120"/>
              </a:rPr>
              <a:t>▸</a:t>
            </a:r>
            <a:endParaRPr lang="en-US" sz="1000" dirty="0"/>
          </a:p>
        </p:txBody>
      </p:sp>
      <p:sp>
        <p:nvSpPr>
          <p:cNvPr id="38" name="Text 36"/>
          <p:cNvSpPr/>
          <p:nvPr/>
        </p:nvSpPr>
        <p:spPr>
          <a:xfrm>
            <a:off x="685800" y="5102352"/>
            <a:ext cx="5486400" cy="256032"/>
          </a:xfrm>
          <a:prstGeom prst="rect">
            <a:avLst/>
          </a:prstGeom>
          <a:noFill/>
          <a:ln/>
        </p:spPr>
        <p:txBody>
          <a:bodyPr wrap="square" rtlCol="0" anchor="ctr"/>
          <a:lstStyle/>
          <a:p>
            <a:pPr indent="0" marL="0">
              <a:buNone/>
            </a:pPr>
            <a:r>
              <a:rPr lang="en-US" sz="950" dirty="0">
                <a:solidFill>
                  <a:srgbClr val="33475C"/>
                </a:solidFill>
                <a:latin typeface="Consolas" pitchFamily="34" charset="0"/>
                <a:ea typeface="Consolas" pitchFamily="34" charset="-122"/>
                <a:cs typeface="Consolas" pitchFamily="34" charset="-120"/>
              </a:rPr>
              <a:t>COMPLAINT_STATUS_UPDATED / RESOLVED / REJECTED / REOPENED → citizen</a:t>
            </a:r>
            <a:endParaRPr lang="en-US" sz="950" dirty="0"/>
          </a:p>
        </p:txBody>
      </p:sp>
      <p:sp>
        <p:nvSpPr>
          <p:cNvPr id="39" name="Text 37"/>
          <p:cNvSpPr/>
          <p:nvPr/>
        </p:nvSpPr>
        <p:spPr>
          <a:xfrm>
            <a:off x="411480" y="5413248"/>
            <a:ext cx="274320" cy="256032"/>
          </a:xfrm>
          <a:prstGeom prst="rect">
            <a:avLst/>
          </a:prstGeom>
          <a:noFill/>
          <a:ln/>
        </p:spPr>
        <p:txBody>
          <a:bodyPr wrap="square" rtlCol="0" anchor="ctr"/>
          <a:lstStyle/>
          <a:p>
            <a:pPr indent="0" marL="0">
              <a:buNone/>
            </a:pPr>
            <a:r>
              <a:rPr lang="en-US" sz="1000" b="1" dirty="0">
                <a:solidFill>
                  <a:srgbClr val="0D9488"/>
                </a:solidFill>
                <a:latin typeface="Segoe UI" pitchFamily="34" charset="0"/>
                <a:ea typeface="Segoe UI" pitchFamily="34" charset="-122"/>
                <a:cs typeface="Segoe UI" pitchFamily="34" charset="-120"/>
              </a:rPr>
              <a:t>▸</a:t>
            </a:r>
            <a:endParaRPr lang="en-US" sz="1000" dirty="0"/>
          </a:p>
        </p:txBody>
      </p:sp>
      <p:sp>
        <p:nvSpPr>
          <p:cNvPr id="40" name="Text 38"/>
          <p:cNvSpPr/>
          <p:nvPr/>
        </p:nvSpPr>
        <p:spPr>
          <a:xfrm>
            <a:off x="685800" y="5413248"/>
            <a:ext cx="5486400" cy="256032"/>
          </a:xfrm>
          <a:prstGeom prst="rect">
            <a:avLst/>
          </a:prstGeom>
          <a:noFill/>
          <a:ln/>
        </p:spPr>
        <p:txBody>
          <a:bodyPr wrap="square" rtlCol="0" anchor="ctr"/>
          <a:lstStyle/>
          <a:p>
            <a:pPr indent="0" marL="0">
              <a:buNone/>
            </a:pPr>
            <a:r>
              <a:rPr lang="en-US" sz="950" dirty="0">
                <a:solidFill>
                  <a:srgbClr val="33475C"/>
                </a:solidFill>
                <a:latin typeface="Consolas" pitchFamily="34" charset="0"/>
                <a:ea typeface="Consolas" pitchFamily="34" charset="-122"/>
                <a:cs typeface="Consolas" pitchFamily="34" charset="-120"/>
              </a:rPr>
              <a:t>USER_REGISTERED / EMAIL_VERIFICATION_REQUESTED / EMAIL_VERIFIED → new citizen</a:t>
            </a:r>
            <a:endParaRPr lang="en-US" sz="950" dirty="0"/>
          </a:p>
        </p:txBody>
      </p:sp>
      <p:sp>
        <p:nvSpPr>
          <p:cNvPr id="41" name="Text 39"/>
          <p:cNvSpPr/>
          <p:nvPr/>
        </p:nvSpPr>
        <p:spPr>
          <a:xfrm>
            <a:off x="411480" y="5724144"/>
            <a:ext cx="274320" cy="256032"/>
          </a:xfrm>
          <a:prstGeom prst="rect">
            <a:avLst/>
          </a:prstGeom>
          <a:noFill/>
          <a:ln/>
        </p:spPr>
        <p:txBody>
          <a:bodyPr wrap="square" rtlCol="0" anchor="ctr"/>
          <a:lstStyle/>
          <a:p>
            <a:pPr indent="0" marL="0">
              <a:buNone/>
            </a:pPr>
            <a:r>
              <a:rPr lang="en-US" sz="1000" b="1" dirty="0">
                <a:solidFill>
                  <a:srgbClr val="0D9488"/>
                </a:solidFill>
                <a:latin typeface="Segoe UI" pitchFamily="34" charset="0"/>
                <a:ea typeface="Segoe UI" pitchFamily="34" charset="-122"/>
                <a:cs typeface="Segoe UI" pitchFamily="34" charset="-120"/>
              </a:rPr>
              <a:t>▸</a:t>
            </a:r>
            <a:endParaRPr lang="en-US" sz="1000" dirty="0"/>
          </a:p>
        </p:txBody>
      </p:sp>
      <p:sp>
        <p:nvSpPr>
          <p:cNvPr id="42" name="Text 40"/>
          <p:cNvSpPr/>
          <p:nvPr/>
        </p:nvSpPr>
        <p:spPr>
          <a:xfrm>
            <a:off x="685800" y="5724144"/>
            <a:ext cx="5486400" cy="256032"/>
          </a:xfrm>
          <a:prstGeom prst="rect">
            <a:avLst/>
          </a:prstGeom>
          <a:noFill/>
          <a:ln/>
        </p:spPr>
        <p:txBody>
          <a:bodyPr wrap="square" rtlCol="0" anchor="ctr"/>
          <a:lstStyle/>
          <a:p>
            <a:pPr indent="0" marL="0">
              <a:buNone/>
            </a:pPr>
            <a:r>
              <a:rPr lang="en-US" sz="950" dirty="0">
                <a:solidFill>
                  <a:srgbClr val="33475C"/>
                </a:solidFill>
                <a:latin typeface="Consolas" pitchFamily="34" charset="0"/>
                <a:ea typeface="Consolas" pitchFamily="34" charset="-122"/>
                <a:cs typeface="Consolas" pitchFamily="34" charset="-120"/>
              </a:rPr>
              <a:t>COMMUNITY_EVENT → citizens (future-ready)</a:t>
            </a:r>
            <a:endParaRPr lang="en-US" sz="950" dirty="0"/>
          </a:p>
        </p:txBody>
      </p:sp>
      <p:sp>
        <p:nvSpPr>
          <p:cNvPr id="43" name="Text 41"/>
          <p:cNvSpPr/>
          <p:nvPr/>
        </p:nvSpPr>
        <p:spPr>
          <a:xfrm>
            <a:off x="6492240" y="4160520"/>
            <a:ext cx="5303520" cy="274320"/>
          </a:xfrm>
          <a:prstGeom prst="rect">
            <a:avLst/>
          </a:prstGeom>
          <a:noFill/>
          <a:ln/>
        </p:spPr>
        <p:txBody>
          <a:bodyPr wrap="square" rtlCol="0" anchor="ctr"/>
          <a:lstStyle/>
          <a:p>
            <a:pPr indent="0" marL="0">
              <a:buNone/>
            </a:pPr>
            <a:r>
              <a:rPr lang="en-US" sz="1200" b="1" dirty="0">
                <a:solidFill>
                  <a:srgbClr val="0B2545"/>
                </a:solidFill>
                <a:latin typeface="Segoe UI" pitchFamily="34" charset="0"/>
                <a:ea typeface="Segoe UI" pitchFamily="34" charset="-122"/>
                <a:cs typeface="Segoe UI" pitchFamily="34" charset="-120"/>
              </a:rPr>
              <a:t>Reliability model</a:t>
            </a:r>
            <a:endParaRPr lang="en-US" sz="1200" dirty="0"/>
          </a:p>
        </p:txBody>
      </p:sp>
      <p:sp>
        <p:nvSpPr>
          <p:cNvPr id="44" name="Text 42"/>
          <p:cNvSpPr/>
          <p:nvPr/>
        </p:nvSpPr>
        <p:spPr>
          <a:xfrm>
            <a:off x="6492240" y="4480560"/>
            <a:ext cx="320040" cy="256032"/>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45" name="Text 43"/>
          <p:cNvSpPr/>
          <p:nvPr/>
        </p:nvSpPr>
        <p:spPr>
          <a:xfrm>
            <a:off x="6812280" y="4480560"/>
            <a:ext cx="4983480" cy="256032"/>
          </a:xfrm>
          <a:prstGeom prst="rect">
            <a:avLst/>
          </a:prstGeom>
          <a:noFill/>
          <a:ln/>
        </p:spPr>
        <p:txBody>
          <a:bodyPr wrap="square" rtlCol="0" anchor="ctr"/>
          <a:lstStyle/>
          <a:p>
            <a:pPr indent="0" marL="0">
              <a:buNone/>
            </a:pPr>
            <a:r>
              <a:rPr lang="en-US" sz="950" dirty="0">
                <a:solidFill>
                  <a:srgbClr val="33475C"/>
                </a:solidFill>
                <a:latin typeface="Segoe UI" pitchFamily="34" charset="0"/>
                <a:ea typeface="Segoe UI" pitchFamily="34" charset="-122"/>
                <a:cs typeface="Segoe UI" pitchFamily="34" charset="-120"/>
              </a:rPr>
              <a:t>Durable queue; JSON via Jackson converter (INFERRED type mapping)</a:t>
            </a:r>
            <a:endParaRPr lang="en-US" sz="950" dirty="0"/>
          </a:p>
        </p:txBody>
      </p:sp>
      <p:sp>
        <p:nvSpPr>
          <p:cNvPr id="46" name="Text 44"/>
          <p:cNvSpPr/>
          <p:nvPr/>
        </p:nvSpPr>
        <p:spPr>
          <a:xfrm>
            <a:off x="6492240" y="4791456"/>
            <a:ext cx="320040" cy="256032"/>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47" name="Text 45"/>
          <p:cNvSpPr/>
          <p:nvPr/>
        </p:nvSpPr>
        <p:spPr>
          <a:xfrm>
            <a:off x="6812280" y="4791456"/>
            <a:ext cx="4983480" cy="256032"/>
          </a:xfrm>
          <a:prstGeom prst="rect">
            <a:avLst/>
          </a:prstGeom>
          <a:noFill/>
          <a:ln/>
        </p:spPr>
        <p:txBody>
          <a:bodyPr wrap="square" rtlCol="0" anchor="ctr"/>
          <a:lstStyle/>
          <a:p>
            <a:pPr indent="0" marL="0">
              <a:buNone/>
            </a:pPr>
            <a:r>
              <a:rPr lang="en-US" sz="950" dirty="0">
                <a:solidFill>
                  <a:srgbClr val="33475C"/>
                </a:solidFill>
                <a:latin typeface="Segoe UI" pitchFamily="34" charset="0"/>
                <a:ea typeface="Segoe UI" pitchFamily="34" charset="-122"/>
                <a:cs typeface="Segoe UI" pitchFamily="34" charset="-120"/>
              </a:rPr>
              <a:t>Container retry: exponential backoff, max 5 attempts</a:t>
            </a:r>
            <a:endParaRPr lang="en-US" sz="950" dirty="0"/>
          </a:p>
        </p:txBody>
      </p:sp>
      <p:sp>
        <p:nvSpPr>
          <p:cNvPr id="48" name="Text 46"/>
          <p:cNvSpPr/>
          <p:nvPr/>
        </p:nvSpPr>
        <p:spPr>
          <a:xfrm>
            <a:off x="6492240" y="5102352"/>
            <a:ext cx="320040" cy="256032"/>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49" name="Text 47"/>
          <p:cNvSpPr/>
          <p:nvPr/>
        </p:nvSpPr>
        <p:spPr>
          <a:xfrm>
            <a:off x="6812280" y="5102352"/>
            <a:ext cx="4983480" cy="256032"/>
          </a:xfrm>
          <a:prstGeom prst="rect">
            <a:avLst/>
          </a:prstGeom>
          <a:noFill/>
          <a:ln/>
        </p:spPr>
        <p:txBody>
          <a:bodyPr wrap="square" rtlCol="0" anchor="ctr"/>
          <a:lstStyle/>
          <a:p>
            <a:pPr indent="0" marL="0">
              <a:buNone/>
            </a:pPr>
            <a:r>
              <a:rPr lang="en-US" sz="950" dirty="0">
                <a:solidFill>
                  <a:srgbClr val="33475C"/>
                </a:solidFill>
                <a:latin typeface="Segoe UI" pitchFamily="34" charset="0"/>
                <a:ea typeface="Segoe UI" pitchFamily="34" charset="-122"/>
                <a:cs typeface="Segoe UI" pitchFamily="34" charset="-120"/>
              </a:rPr>
              <a:t>Permanent failures → dead-letter exchange → notification.dlq</a:t>
            </a:r>
            <a:endParaRPr lang="en-US" sz="950" dirty="0"/>
          </a:p>
        </p:txBody>
      </p:sp>
      <p:sp>
        <p:nvSpPr>
          <p:cNvPr id="50" name="Text 48"/>
          <p:cNvSpPr/>
          <p:nvPr/>
        </p:nvSpPr>
        <p:spPr>
          <a:xfrm>
            <a:off x="6492240" y="5413248"/>
            <a:ext cx="320040" cy="256032"/>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51" name="Text 49"/>
          <p:cNvSpPr/>
          <p:nvPr/>
        </p:nvSpPr>
        <p:spPr>
          <a:xfrm>
            <a:off x="6812280" y="5413248"/>
            <a:ext cx="4983480" cy="256032"/>
          </a:xfrm>
          <a:prstGeom prst="rect">
            <a:avLst/>
          </a:prstGeom>
          <a:noFill/>
          <a:ln/>
        </p:spPr>
        <p:txBody>
          <a:bodyPr wrap="square" rtlCol="0" anchor="ctr"/>
          <a:lstStyle/>
          <a:p>
            <a:pPr indent="0" marL="0">
              <a:buNone/>
            </a:pPr>
            <a:r>
              <a:rPr lang="en-US" sz="950" dirty="0">
                <a:solidFill>
                  <a:srgbClr val="33475C"/>
                </a:solidFill>
                <a:latin typeface="Segoe UI" pitchFamily="34" charset="0"/>
                <a:ea typeface="Segoe UI" pitchFamily="34" charset="-122"/>
                <a:cs typeface="Segoe UI" pitchFamily="34" charset="-120"/>
              </a:rPr>
              <a:t>DLQ consumer logs every parked message for ops/replay</a:t>
            </a:r>
            <a:endParaRPr lang="en-US" sz="950" dirty="0"/>
          </a:p>
        </p:txBody>
      </p:sp>
      <p:sp>
        <p:nvSpPr>
          <p:cNvPr id="52" name="Text 50"/>
          <p:cNvSpPr/>
          <p:nvPr/>
        </p:nvSpPr>
        <p:spPr>
          <a:xfrm>
            <a:off x="6492240" y="5724144"/>
            <a:ext cx="320040" cy="256032"/>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53" name="Text 51"/>
          <p:cNvSpPr/>
          <p:nvPr/>
        </p:nvSpPr>
        <p:spPr>
          <a:xfrm>
            <a:off x="6812280" y="5724144"/>
            <a:ext cx="4983480" cy="256032"/>
          </a:xfrm>
          <a:prstGeom prst="rect">
            <a:avLst/>
          </a:prstGeom>
          <a:noFill/>
          <a:ln/>
        </p:spPr>
        <p:txBody>
          <a:bodyPr wrap="square" rtlCol="0" anchor="ctr"/>
          <a:lstStyle/>
          <a:p>
            <a:pPr indent="0" marL="0">
              <a:buNone/>
            </a:pPr>
            <a:r>
              <a:rPr lang="en-US" sz="950" dirty="0">
                <a:solidFill>
                  <a:srgbClr val="33475C"/>
                </a:solidFill>
                <a:latin typeface="Segoe UI" pitchFamily="34" charset="0"/>
                <a:ea typeface="Segoe UI" pitchFamily="34" charset="-122"/>
                <a:cs typeface="Segoe UI" pitchFamily="34" charset="-120"/>
              </a:rPr>
              <a:t>Publishing is fire-and-forget — a broker outage never blocks a request</a:t>
            </a:r>
            <a:endParaRPr lang="en-US" sz="950" dirty="0"/>
          </a:p>
        </p:txBody>
      </p:sp>
      <p:sp>
        <p:nvSpPr>
          <p:cNvPr id="54" name="Text 52"/>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THREE EXPERIENCES, ONE CODEBASE</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Frontend — React 18 + TypeScript</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Role-based routing with route guards; JWT in localStorage; all traffic through the gateway.</a:t>
            </a:r>
            <a:endParaRPr lang="en-US" sz="1250" dirty="0"/>
          </a:p>
        </p:txBody>
      </p:sp>
      <p:sp>
        <p:nvSpPr>
          <p:cNvPr id="6" name="Shape 4"/>
          <p:cNvSpPr/>
          <p:nvPr/>
        </p:nvSpPr>
        <p:spPr>
          <a:xfrm>
            <a:off x="411480" y="1645920"/>
            <a:ext cx="11384280" cy="822960"/>
          </a:xfrm>
          <a:prstGeom prst="roundRect">
            <a:avLst>
              <a:gd name="adj" fmla="val 6667"/>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7" name="Shape 5"/>
          <p:cNvSpPr/>
          <p:nvPr/>
        </p:nvSpPr>
        <p:spPr>
          <a:xfrm>
            <a:off x="640080" y="1865376"/>
            <a:ext cx="1874520" cy="384048"/>
          </a:xfrm>
          <a:prstGeom prst="roundRect">
            <a:avLst>
              <a:gd name="adj" fmla="val 119048"/>
            </a:avLst>
          </a:prstGeom>
          <a:solidFill>
            <a:srgbClr val="5B6B7C"/>
          </a:solidFill>
          <a:ln w="12700">
            <a:solidFill>
              <a:srgbClr val="5B6B7C"/>
            </a:solidFill>
            <a:prstDash val="solid"/>
          </a:ln>
        </p:spPr>
      </p:sp>
      <p:sp>
        <p:nvSpPr>
          <p:cNvPr id="8" name="Text 6"/>
          <p:cNvSpPr/>
          <p:nvPr/>
        </p:nvSpPr>
        <p:spPr>
          <a:xfrm>
            <a:off x="640080" y="1865376"/>
            <a:ext cx="1874520" cy="384048"/>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Public</a:t>
            </a:r>
            <a:endParaRPr lang="en-US" sz="1150" dirty="0"/>
          </a:p>
        </p:txBody>
      </p:sp>
      <p:sp>
        <p:nvSpPr>
          <p:cNvPr id="9" name="Text 7"/>
          <p:cNvSpPr/>
          <p:nvPr/>
        </p:nvSpPr>
        <p:spPr>
          <a:xfrm>
            <a:off x="2743200" y="1755648"/>
            <a:ext cx="8869680" cy="603504"/>
          </a:xfrm>
          <a:prstGeom prst="rect">
            <a:avLst/>
          </a:prstGeom>
          <a:noFill/>
          <a:ln/>
        </p:spPr>
        <p:txBody>
          <a:bodyPr wrap="square" rtlCol="0" anchor="ctr"/>
          <a:lstStyle/>
          <a:p>
            <a:pPr indent="0" marL="0">
              <a:lnSpc>
                <a:spcPts val="1500"/>
              </a:lnSpc>
              <a:buNone/>
            </a:pPr>
            <a:r>
              <a:rPr lang="en-US" sz="1100" dirty="0">
                <a:solidFill>
                  <a:srgbClr val="33475C"/>
                </a:solidFill>
                <a:latin typeface="Segoe UI" pitchFamily="34" charset="0"/>
                <a:ea typeface="Segoe UI" pitchFamily="34" charset="-122"/>
                <a:cs typeface="Segoe UI" pitchFamily="34" charset="-120"/>
              </a:rPr>
              <a:t>/ · /login · /register · /track · /events · /articles · /ngos · /lakes · /infrastructure</a:t>
            </a:r>
            <a:endParaRPr lang="en-US" sz="1100" dirty="0"/>
          </a:p>
        </p:txBody>
      </p:sp>
      <p:sp>
        <p:nvSpPr>
          <p:cNvPr id="10" name="Shape 8"/>
          <p:cNvSpPr/>
          <p:nvPr/>
        </p:nvSpPr>
        <p:spPr>
          <a:xfrm>
            <a:off x="411480" y="2606040"/>
            <a:ext cx="11384280" cy="822960"/>
          </a:xfrm>
          <a:prstGeom prst="roundRect">
            <a:avLst>
              <a:gd name="adj" fmla="val 6667"/>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1" name="Shape 9"/>
          <p:cNvSpPr/>
          <p:nvPr/>
        </p:nvSpPr>
        <p:spPr>
          <a:xfrm>
            <a:off x="640080" y="2825496"/>
            <a:ext cx="1874520" cy="384048"/>
          </a:xfrm>
          <a:prstGeom prst="roundRect">
            <a:avLst>
              <a:gd name="adj" fmla="val 119048"/>
            </a:avLst>
          </a:prstGeom>
          <a:solidFill>
            <a:srgbClr val="0D9488"/>
          </a:solidFill>
          <a:ln w="12700">
            <a:solidFill>
              <a:srgbClr val="0D9488"/>
            </a:solidFill>
            <a:prstDash val="solid"/>
          </a:ln>
        </p:spPr>
      </p:sp>
      <p:sp>
        <p:nvSpPr>
          <p:cNvPr id="12" name="Text 10"/>
          <p:cNvSpPr/>
          <p:nvPr/>
        </p:nvSpPr>
        <p:spPr>
          <a:xfrm>
            <a:off x="640080" y="2825496"/>
            <a:ext cx="1874520" cy="384048"/>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Citizen</a:t>
            </a:r>
            <a:endParaRPr lang="en-US" sz="1150" dirty="0"/>
          </a:p>
        </p:txBody>
      </p:sp>
      <p:sp>
        <p:nvSpPr>
          <p:cNvPr id="13" name="Text 11"/>
          <p:cNvSpPr/>
          <p:nvPr/>
        </p:nvSpPr>
        <p:spPr>
          <a:xfrm>
            <a:off x="2743200" y="2715768"/>
            <a:ext cx="8869680" cy="603504"/>
          </a:xfrm>
          <a:prstGeom prst="rect">
            <a:avLst/>
          </a:prstGeom>
          <a:noFill/>
          <a:ln/>
        </p:spPr>
        <p:txBody>
          <a:bodyPr wrap="square" rtlCol="0" anchor="ctr"/>
          <a:lstStyle/>
          <a:p>
            <a:pPr indent="0" marL="0">
              <a:lnSpc>
                <a:spcPts val="1500"/>
              </a:lnSpc>
              <a:buNone/>
            </a:pPr>
            <a:r>
              <a:rPr lang="en-US" sz="1100" dirty="0">
                <a:solidFill>
                  <a:srgbClr val="33475C"/>
                </a:solidFill>
                <a:latin typeface="Segoe UI" pitchFamily="34" charset="0"/>
                <a:ea typeface="Segoe UI" pitchFamily="34" charset="-122"/>
                <a:cs typeface="Segoe UI" pitchFamily="34" charset="-120"/>
              </a:rPr>
              <a:t>/dashboard — report with photo+GPS, my complaints, detail + proof, notifications, profile</a:t>
            </a:r>
            <a:endParaRPr lang="en-US" sz="1100" dirty="0"/>
          </a:p>
        </p:txBody>
      </p:sp>
      <p:sp>
        <p:nvSpPr>
          <p:cNvPr id="14" name="Shape 12"/>
          <p:cNvSpPr/>
          <p:nvPr/>
        </p:nvSpPr>
        <p:spPr>
          <a:xfrm>
            <a:off x="411480" y="3566160"/>
            <a:ext cx="11384280" cy="822960"/>
          </a:xfrm>
          <a:prstGeom prst="roundRect">
            <a:avLst>
              <a:gd name="adj" fmla="val 6667"/>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5" name="Shape 13"/>
          <p:cNvSpPr/>
          <p:nvPr/>
        </p:nvSpPr>
        <p:spPr>
          <a:xfrm>
            <a:off x="640080" y="3785616"/>
            <a:ext cx="1874520" cy="384048"/>
          </a:xfrm>
          <a:prstGeom prst="roundRect">
            <a:avLst>
              <a:gd name="adj" fmla="val 119048"/>
            </a:avLst>
          </a:prstGeom>
          <a:solidFill>
            <a:srgbClr val="0B2545"/>
          </a:solidFill>
          <a:ln w="12700">
            <a:solidFill>
              <a:srgbClr val="0B2545"/>
            </a:solidFill>
            <a:prstDash val="solid"/>
          </a:ln>
        </p:spPr>
      </p:sp>
      <p:sp>
        <p:nvSpPr>
          <p:cNvPr id="16" name="Text 14"/>
          <p:cNvSpPr/>
          <p:nvPr/>
        </p:nvSpPr>
        <p:spPr>
          <a:xfrm>
            <a:off x="640080" y="3785616"/>
            <a:ext cx="1874520" cy="384048"/>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Admin / Authority</a:t>
            </a:r>
            <a:endParaRPr lang="en-US" sz="1150" dirty="0"/>
          </a:p>
        </p:txBody>
      </p:sp>
      <p:sp>
        <p:nvSpPr>
          <p:cNvPr id="17" name="Text 15"/>
          <p:cNvSpPr/>
          <p:nvPr/>
        </p:nvSpPr>
        <p:spPr>
          <a:xfrm>
            <a:off x="2743200" y="3675888"/>
            <a:ext cx="8869680" cy="603504"/>
          </a:xfrm>
          <a:prstGeom prst="rect">
            <a:avLst/>
          </a:prstGeom>
          <a:noFill/>
          <a:ln/>
        </p:spPr>
        <p:txBody>
          <a:bodyPr wrap="square" rtlCol="0" anchor="ctr"/>
          <a:lstStyle/>
          <a:p>
            <a:pPr indent="0" marL="0">
              <a:lnSpc>
                <a:spcPts val="1500"/>
              </a:lnSpc>
              <a:buNone/>
            </a:pPr>
            <a:r>
              <a:rPr lang="en-US" sz="1100" dirty="0">
                <a:solidFill>
                  <a:srgbClr val="33475C"/>
                </a:solidFill>
                <a:latin typeface="Segoe UI" pitchFamily="34" charset="0"/>
                <a:ea typeface="Segoe UI" pitchFamily="34" charset="-122"/>
                <a:cs typeface="Segoe UI" pitchFamily="34" charset="-120"/>
              </a:rPr>
              <a:t>/admin — command centre, complaints (assign / status / resolve-with-proof), analytics, heatmap, community CRUD, settings</a:t>
            </a:r>
            <a:endParaRPr lang="en-US" sz="1100" dirty="0"/>
          </a:p>
        </p:txBody>
      </p:sp>
      <p:sp>
        <p:nvSpPr>
          <p:cNvPr id="18" name="Shape 16"/>
          <p:cNvSpPr/>
          <p:nvPr/>
        </p:nvSpPr>
        <p:spPr>
          <a:xfrm>
            <a:off x="411480" y="4526280"/>
            <a:ext cx="11384280" cy="822960"/>
          </a:xfrm>
          <a:prstGeom prst="roundRect">
            <a:avLst>
              <a:gd name="adj" fmla="val 6667"/>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9" name="Shape 17"/>
          <p:cNvSpPr/>
          <p:nvPr/>
        </p:nvSpPr>
        <p:spPr>
          <a:xfrm>
            <a:off x="640080" y="4745736"/>
            <a:ext cx="1874520" cy="384048"/>
          </a:xfrm>
          <a:prstGeom prst="roundRect">
            <a:avLst>
              <a:gd name="adj" fmla="val 119048"/>
            </a:avLst>
          </a:prstGeom>
          <a:solidFill>
            <a:srgbClr val="10B981"/>
          </a:solidFill>
          <a:ln w="12700">
            <a:solidFill>
              <a:srgbClr val="10B981"/>
            </a:solidFill>
            <a:prstDash val="solid"/>
          </a:ln>
        </p:spPr>
      </p:sp>
      <p:sp>
        <p:nvSpPr>
          <p:cNvPr id="20" name="Text 18"/>
          <p:cNvSpPr/>
          <p:nvPr/>
        </p:nvSpPr>
        <p:spPr>
          <a:xfrm>
            <a:off x="640080" y="4745736"/>
            <a:ext cx="1874520" cy="384048"/>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Field Officer</a:t>
            </a:r>
            <a:endParaRPr lang="en-US" sz="1150" dirty="0"/>
          </a:p>
        </p:txBody>
      </p:sp>
      <p:sp>
        <p:nvSpPr>
          <p:cNvPr id="21" name="Text 19"/>
          <p:cNvSpPr/>
          <p:nvPr/>
        </p:nvSpPr>
        <p:spPr>
          <a:xfrm>
            <a:off x="2743200" y="4636008"/>
            <a:ext cx="8869680" cy="603504"/>
          </a:xfrm>
          <a:prstGeom prst="rect">
            <a:avLst/>
          </a:prstGeom>
          <a:noFill/>
          <a:ln/>
        </p:spPr>
        <p:txBody>
          <a:bodyPr wrap="square" rtlCol="0" anchor="ctr"/>
          <a:lstStyle/>
          <a:p>
            <a:pPr indent="0" marL="0">
              <a:lnSpc>
                <a:spcPts val="1500"/>
              </a:lnSpc>
              <a:buNone/>
            </a:pPr>
            <a:r>
              <a:rPr lang="en-US" sz="1100" dirty="0">
                <a:solidFill>
                  <a:srgbClr val="33475C"/>
                </a:solidFill>
                <a:latin typeface="Segoe UI" pitchFamily="34" charset="0"/>
                <a:ea typeface="Segoe UI" pitchFamily="34" charset="-122"/>
                <a:cs typeface="Segoe UI" pitchFamily="34" charset="-120"/>
              </a:rPr>
              <a:t>/officer — assigned complaints, status updates, resolve with mandatory proof photo</a:t>
            </a:r>
            <a:endParaRPr lang="en-US" sz="1100" dirty="0"/>
          </a:p>
        </p:txBody>
      </p:sp>
      <p:sp>
        <p:nvSpPr>
          <p:cNvPr id="22" name="Text 20"/>
          <p:cNvSpPr/>
          <p:nvPr/>
        </p:nvSpPr>
        <p:spPr>
          <a:xfrm>
            <a:off x="411480" y="5623560"/>
            <a:ext cx="11384280" cy="365760"/>
          </a:xfrm>
          <a:prstGeom prst="rect">
            <a:avLst/>
          </a:prstGeom>
          <a:noFill/>
          <a:ln/>
        </p:spPr>
        <p:txBody>
          <a:bodyPr wrap="square" rtlCol="0" anchor="ctr"/>
          <a:lstStyle/>
          <a:p>
            <a:pPr algn="ctr" indent="0" marL="0">
              <a:buNone/>
            </a:pPr>
            <a:r>
              <a:rPr lang="en-US" sz="1050" i="1" dirty="0">
                <a:solidFill>
                  <a:srgbClr val="5B6B7C"/>
                </a:solidFill>
                <a:latin typeface="Segoe UI" pitchFamily="34" charset="0"/>
                <a:ea typeface="Segoe UI" pitchFamily="34" charset="-122"/>
                <a:cs typeface="Segoe UI" pitchFamily="34" charset="-120"/>
              </a:rPr>
              <a:t>Client-side image compression (object URLs, no base64 in state) · toasts · empty states · SPA fallback for deep links</a:t>
            </a:r>
            <a:endParaRPr lang="en-US" sz="1050" dirty="0"/>
          </a:p>
        </p:txBody>
      </p:sp>
      <p:sp>
        <p:nvSpPr>
          <p:cNvPr id="23" name="Text 21"/>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411480" y="292608"/>
            <a:ext cx="82296" cy="749808"/>
          </a:xfrm>
          <a:prstGeom prst="rect">
            <a:avLst/>
          </a:prstGeom>
          <a:solidFill>
            <a:srgbClr val="0D9488"/>
          </a:solidFill>
          <a:ln/>
        </p:spPr>
      </p:sp>
      <p:sp>
        <p:nvSpPr>
          <p:cNvPr id="3" name="Text 1"/>
          <p:cNvSpPr/>
          <p:nvPr/>
        </p:nvSpPr>
        <p:spPr>
          <a:xfrm>
            <a:off x="640080" y="256032"/>
            <a:ext cx="11155680" cy="256032"/>
          </a:xfrm>
          <a:prstGeom prst="rect">
            <a:avLst/>
          </a:prstGeom>
          <a:noFill/>
          <a:ln/>
        </p:spPr>
        <p:txBody>
          <a:bodyPr wrap="square" rtlCol="0" anchor="ctr"/>
          <a:lstStyle/>
          <a:p>
            <a:pPr algn="l" indent="0" marL="0">
              <a:buNone/>
            </a:pPr>
            <a:r>
              <a:rPr lang="en-US" sz="1100" b="1" spc="200" kern="0" dirty="0">
                <a:solidFill>
                  <a:srgbClr val="0D9488"/>
                </a:solidFill>
                <a:latin typeface="Segoe UI" pitchFamily="34" charset="0"/>
                <a:ea typeface="Segoe UI" pitchFamily="34" charset="-122"/>
                <a:cs typeface="Segoe UI" pitchFamily="34" charset="-120"/>
              </a:rPr>
              <a:t>FROM COMMIT TO PRODUCTION</a:t>
            </a:r>
            <a:endParaRPr lang="en-US" sz="1100" dirty="0"/>
          </a:p>
        </p:txBody>
      </p:sp>
      <p:sp>
        <p:nvSpPr>
          <p:cNvPr id="4" name="Text 2"/>
          <p:cNvSpPr/>
          <p:nvPr/>
        </p:nvSpPr>
        <p:spPr>
          <a:xfrm>
            <a:off x="640080" y="475488"/>
            <a:ext cx="11155680" cy="566928"/>
          </a:xfrm>
          <a:prstGeom prst="rect">
            <a:avLst/>
          </a:prstGeom>
          <a:noFill/>
          <a:ln/>
        </p:spPr>
        <p:txBody>
          <a:bodyPr wrap="square" rtlCol="0" anchor="ctr"/>
          <a:lstStyle/>
          <a:p>
            <a:pPr algn="l" indent="0" marL="0">
              <a:buNone/>
            </a:pPr>
            <a:r>
              <a:rPr lang="en-US" sz="2700" b="1" dirty="0">
                <a:solidFill>
                  <a:srgbClr val="0B2545"/>
                </a:solidFill>
                <a:latin typeface="Segoe UI" pitchFamily="34" charset="0"/>
                <a:ea typeface="Segoe UI" pitchFamily="34" charset="-122"/>
                <a:cs typeface="Segoe UI" pitchFamily="34" charset="-120"/>
              </a:rPr>
              <a:t>Docker, CI/CD &amp; deployment</a:t>
            </a:r>
            <a:endParaRPr lang="en-US" sz="2700" dirty="0"/>
          </a:p>
        </p:txBody>
      </p:sp>
      <p:sp>
        <p:nvSpPr>
          <p:cNvPr id="5" name="Text 3"/>
          <p:cNvSpPr/>
          <p:nvPr/>
        </p:nvSpPr>
        <p:spPr>
          <a:xfrm>
            <a:off x="640080" y="1042416"/>
            <a:ext cx="11155680" cy="310896"/>
          </a:xfrm>
          <a:prstGeom prst="rect">
            <a:avLst/>
          </a:prstGeom>
          <a:noFill/>
          <a:ln/>
        </p:spPr>
        <p:txBody>
          <a:bodyPr wrap="square" rtlCol="0" anchor="ctr"/>
          <a:lstStyle/>
          <a:p>
            <a:pPr algn="l" indent="0" marL="0">
              <a:buNone/>
            </a:pPr>
            <a:r>
              <a:rPr lang="en-US" sz="1250" dirty="0">
                <a:solidFill>
                  <a:srgbClr val="5B6B7C"/>
                </a:solidFill>
                <a:latin typeface="Segoe UI" pitchFamily="34" charset="0"/>
                <a:ea typeface="Segoe UI" pitchFamily="34" charset="-122"/>
                <a:cs typeface="Segoe UI" pitchFamily="34" charset="-120"/>
              </a:rPr>
              <a:t>GitHub Actions builds and tests; Docker Hub hosts images; AWS + Vercel run them.</a:t>
            </a:r>
            <a:endParaRPr lang="en-US" sz="1250" dirty="0"/>
          </a:p>
        </p:txBody>
      </p:sp>
      <p:sp>
        <p:nvSpPr>
          <p:cNvPr id="6" name="Text 4"/>
          <p:cNvSpPr/>
          <p:nvPr/>
        </p:nvSpPr>
        <p:spPr>
          <a:xfrm>
            <a:off x="411480" y="1572768"/>
            <a:ext cx="2743200" cy="274320"/>
          </a:xfrm>
          <a:prstGeom prst="rect">
            <a:avLst/>
          </a:prstGeom>
          <a:noFill/>
          <a:ln/>
        </p:spPr>
        <p:txBody>
          <a:bodyPr wrap="square" rtlCol="0" anchor="ctr"/>
          <a:lstStyle/>
          <a:p>
            <a:pPr indent="0" marL="0">
              <a:buNone/>
            </a:pPr>
            <a:r>
              <a:rPr lang="en-US" sz="1200" b="1" dirty="0">
                <a:solidFill>
                  <a:srgbClr val="0B2545"/>
                </a:solidFill>
                <a:latin typeface="Segoe UI" pitchFamily="34" charset="0"/>
                <a:ea typeface="Segoe UI" pitchFamily="34" charset="-122"/>
                <a:cs typeface="Segoe UI" pitchFamily="34" charset="-120"/>
              </a:rPr>
              <a:t>Pipeline</a:t>
            </a:r>
            <a:endParaRPr lang="en-US" sz="1200" dirty="0"/>
          </a:p>
        </p:txBody>
      </p:sp>
      <p:sp>
        <p:nvSpPr>
          <p:cNvPr id="7" name="Shape 5"/>
          <p:cNvSpPr/>
          <p:nvPr/>
        </p:nvSpPr>
        <p:spPr>
          <a:xfrm>
            <a:off x="411480" y="1901952"/>
            <a:ext cx="2148840" cy="914400"/>
          </a:xfrm>
          <a:prstGeom prst="roundRect">
            <a:avLst>
              <a:gd name="adj" fmla="val 60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8" name="Shape 6"/>
          <p:cNvSpPr/>
          <p:nvPr/>
        </p:nvSpPr>
        <p:spPr>
          <a:xfrm>
            <a:off x="548640" y="2029968"/>
            <a:ext cx="1874520" cy="365760"/>
          </a:xfrm>
          <a:prstGeom prst="roundRect">
            <a:avLst>
              <a:gd name="adj" fmla="val 125000"/>
            </a:avLst>
          </a:prstGeom>
          <a:solidFill>
            <a:srgbClr val="0B2545"/>
          </a:solidFill>
          <a:ln w="12700">
            <a:solidFill>
              <a:srgbClr val="0B2545"/>
            </a:solidFill>
            <a:prstDash val="solid"/>
          </a:ln>
        </p:spPr>
      </p:sp>
      <p:sp>
        <p:nvSpPr>
          <p:cNvPr id="9" name="Text 7"/>
          <p:cNvSpPr/>
          <p:nvPr/>
        </p:nvSpPr>
        <p:spPr>
          <a:xfrm>
            <a:off x="548640" y="2029968"/>
            <a:ext cx="187452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Developer push</a:t>
            </a:r>
            <a:endParaRPr lang="en-US" sz="950" dirty="0"/>
          </a:p>
        </p:txBody>
      </p:sp>
      <p:sp>
        <p:nvSpPr>
          <p:cNvPr id="10" name="Text 8"/>
          <p:cNvSpPr/>
          <p:nvPr/>
        </p:nvSpPr>
        <p:spPr>
          <a:xfrm>
            <a:off x="548640" y="2432304"/>
            <a:ext cx="1874520" cy="310896"/>
          </a:xfrm>
          <a:prstGeom prst="rect">
            <a:avLst/>
          </a:prstGeom>
          <a:noFill/>
          <a:ln/>
        </p:spPr>
        <p:txBody>
          <a:bodyPr wrap="square" rtlCol="0" anchor="ctr"/>
          <a:lstStyle/>
          <a:p>
            <a:pPr algn="ctr" indent="0" marL="0">
              <a:buNone/>
            </a:pPr>
            <a:r>
              <a:rPr lang="en-US" sz="850" dirty="0">
                <a:solidFill>
                  <a:srgbClr val="5B6B7C"/>
                </a:solidFill>
                <a:latin typeface="Segoe UI" pitchFamily="34" charset="0"/>
                <a:ea typeface="Segoe UI" pitchFamily="34" charset="-122"/>
                <a:cs typeface="Segoe UI" pitchFamily="34" charset="-120"/>
              </a:rPr>
              <a:t>→ PR to develop/main</a:t>
            </a:r>
            <a:endParaRPr lang="en-US" sz="850" dirty="0"/>
          </a:p>
        </p:txBody>
      </p:sp>
      <p:sp>
        <p:nvSpPr>
          <p:cNvPr id="11" name="Shape 9"/>
          <p:cNvSpPr/>
          <p:nvPr/>
        </p:nvSpPr>
        <p:spPr>
          <a:xfrm>
            <a:off x="2587752" y="2267712"/>
            <a:ext cx="146304" cy="237744"/>
          </a:xfrm>
          <a:prstGeom prst="rightArrow">
            <a:avLst/>
          </a:prstGeom>
          <a:solidFill>
            <a:srgbClr val="B9C9D4"/>
          </a:solidFill>
          <a:ln w="12700">
            <a:solidFill>
              <a:srgbClr val="B9C9D4"/>
            </a:solidFill>
            <a:prstDash val="solid"/>
          </a:ln>
        </p:spPr>
      </p:sp>
      <p:sp>
        <p:nvSpPr>
          <p:cNvPr id="12" name="Shape 10"/>
          <p:cNvSpPr/>
          <p:nvPr/>
        </p:nvSpPr>
        <p:spPr>
          <a:xfrm>
            <a:off x="2743200" y="1901952"/>
            <a:ext cx="2148840" cy="914400"/>
          </a:xfrm>
          <a:prstGeom prst="roundRect">
            <a:avLst>
              <a:gd name="adj" fmla="val 60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3" name="Shape 11"/>
          <p:cNvSpPr/>
          <p:nvPr/>
        </p:nvSpPr>
        <p:spPr>
          <a:xfrm>
            <a:off x="2880360" y="2029968"/>
            <a:ext cx="1874520" cy="365760"/>
          </a:xfrm>
          <a:prstGeom prst="roundRect">
            <a:avLst>
              <a:gd name="adj" fmla="val 125000"/>
            </a:avLst>
          </a:prstGeom>
          <a:solidFill>
            <a:srgbClr val="0D9488"/>
          </a:solidFill>
          <a:ln w="12700">
            <a:solidFill>
              <a:srgbClr val="0D9488"/>
            </a:solidFill>
            <a:prstDash val="solid"/>
          </a:ln>
        </p:spPr>
      </p:sp>
      <p:sp>
        <p:nvSpPr>
          <p:cNvPr id="14" name="Text 12"/>
          <p:cNvSpPr/>
          <p:nvPr/>
        </p:nvSpPr>
        <p:spPr>
          <a:xfrm>
            <a:off x="2880360" y="2029968"/>
            <a:ext cx="187452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Backend CI</a:t>
            </a:r>
            <a:endParaRPr lang="en-US" sz="950" dirty="0"/>
          </a:p>
        </p:txBody>
      </p:sp>
      <p:sp>
        <p:nvSpPr>
          <p:cNvPr id="15" name="Text 13"/>
          <p:cNvSpPr/>
          <p:nvPr/>
        </p:nvSpPr>
        <p:spPr>
          <a:xfrm>
            <a:off x="2880360" y="2432304"/>
            <a:ext cx="1874520" cy="310896"/>
          </a:xfrm>
          <a:prstGeom prst="rect">
            <a:avLst/>
          </a:prstGeom>
          <a:noFill/>
          <a:ln/>
        </p:spPr>
        <p:txBody>
          <a:bodyPr wrap="square" rtlCol="0" anchor="ctr"/>
          <a:lstStyle/>
          <a:p>
            <a:pPr algn="ctr" indent="0" marL="0">
              <a:buNone/>
            </a:pPr>
            <a:r>
              <a:rPr lang="en-US" sz="850" dirty="0">
                <a:solidFill>
                  <a:srgbClr val="5B6B7C"/>
                </a:solidFill>
                <a:latin typeface="Segoe UI" pitchFamily="34" charset="0"/>
                <a:ea typeface="Segoe UI" pitchFamily="34" charset="-122"/>
                <a:cs typeface="Segoe UI" pitchFamily="34" charset="-120"/>
              </a:rPr>
              <a:t>mvn clean verify (JDK 25)</a:t>
            </a:r>
            <a:endParaRPr lang="en-US" sz="850" dirty="0"/>
          </a:p>
        </p:txBody>
      </p:sp>
      <p:sp>
        <p:nvSpPr>
          <p:cNvPr id="16" name="Shape 14"/>
          <p:cNvSpPr/>
          <p:nvPr/>
        </p:nvSpPr>
        <p:spPr>
          <a:xfrm>
            <a:off x="4919472" y="2267712"/>
            <a:ext cx="146304" cy="237744"/>
          </a:xfrm>
          <a:prstGeom prst="rightArrow">
            <a:avLst/>
          </a:prstGeom>
          <a:solidFill>
            <a:srgbClr val="B9C9D4"/>
          </a:solidFill>
          <a:ln w="12700">
            <a:solidFill>
              <a:srgbClr val="B9C9D4"/>
            </a:solidFill>
            <a:prstDash val="solid"/>
          </a:ln>
        </p:spPr>
      </p:sp>
      <p:sp>
        <p:nvSpPr>
          <p:cNvPr id="17" name="Shape 15"/>
          <p:cNvSpPr/>
          <p:nvPr/>
        </p:nvSpPr>
        <p:spPr>
          <a:xfrm>
            <a:off x="5074920" y="1901952"/>
            <a:ext cx="2148840" cy="914400"/>
          </a:xfrm>
          <a:prstGeom prst="roundRect">
            <a:avLst>
              <a:gd name="adj" fmla="val 60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18" name="Shape 16"/>
          <p:cNvSpPr/>
          <p:nvPr/>
        </p:nvSpPr>
        <p:spPr>
          <a:xfrm>
            <a:off x="5212080" y="2029968"/>
            <a:ext cx="1874520" cy="365760"/>
          </a:xfrm>
          <a:prstGeom prst="roundRect">
            <a:avLst>
              <a:gd name="adj" fmla="val 125000"/>
            </a:avLst>
          </a:prstGeom>
          <a:solidFill>
            <a:srgbClr val="38BDF8"/>
          </a:solidFill>
          <a:ln w="12700">
            <a:solidFill>
              <a:srgbClr val="38BDF8"/>
            </a:solidFill>
            <a:prstDash val="solid"/>
          </a:ln>
        </p:spPr>
      </p:sp>
      <p:sp>
        <p:nvSpPr>
          <p:cNvPr id="19" name="Text 17"/>
          <p:cNvSpPr/>
          <p:nvPr/>
        </p:nvSpPr>
        <p:spPr>
          <a:xfrm>
            <a:off x="5212080" y="2029968"/>
            <a:ext cx="187452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Frontend CI</a:t>
            </a:r>
            <a:endParaRPr lang="en-US" sz="950" dirty="0"/>
          </a:p>
        </p:txBody>
      </p:sp>
      <p:sp>
        <p:nvSpPr>
          <p:cNvPr id="20" name="Text 18"/>
          <p:cNvSpPr/>
          <p:nvPr/>
        </p:nvSpPr>
        <p:spPr>
          <a:xfrm>
            <a:off x="5212080" y="2432304"/>
            <a:ext cx="1874520" cy="310896"/>
          </a:xfrm>
          <a:prstGeom prst="rect">
            <a:avLst/>
          </a:prstGeom>
          <a:noFill/>
          <a:ln/>
        </p:spPr>
        <p:txBody>
          <a:bodyPr wrap="square" rtlCol="0" anchor="ctr"/>
          <a:lstStyle/>
          <a:p>
            <a:pPr algn="ctr" indent="0" marL="0">
              <a:buNone/>
            </a:pPr>
            <a:r>
              <a:rPr lang="en-US" sz="850" dirty="0">
                <a:solidFill>
                  <a:srgbClr val="5B6B7C"/>
                </a:solidFill>
                <a:latin typeface="Segoe UI" pitchFamily="34" charset="0"/>
                <a:ea typeface="Segoe UI" pitchFamily="34" charset="-122"/>
                <a:cs typeface="Segoe UI" pitchFamily="34" charset="-120"/>
              </a:rPr>
              <a:t>npm ci → build</a:t>
            </a:r>
            <a:endParaRPr lang="en-US" sz="850" dirty="0"/>
          </a:p>
        </p:txBody>
      </p:sp>
      <p:sp>
        <p:nvSpPr>
          <p:cNvPr id="21" name="Shape 19"/>
          <p:cNvSpPr/>
          <p:nvPr/>
        </p:nvSpPr>
        <p:spPr>
          <a:xfrm>
            <a:off x="7251192" y="2267712"/>
            <a:ext cx="146304" cy="237744"/>
          </a:xfrm>
          <a:prstGeom prst="rightArrow">
            <a:avLst/>
          </a:prstGeom>
          <a:solidFill>
            <a:srgbClr val="B9C9D4"/>
          </a:solidFill>
          <a:ln w="12700">
            <a:solidFill>
              <a:srgbClr val="B9C9D4"/>
            </a:solidFill>
            <a:prstDash val="solid"/>
          </a:ln>
        </p:spPr>
      </p:sp>
      <p:sp>
        <p:nvSpPr>
          <p:cNvPr id="22" name="Shape 20"/>
          <p:cNvSpPr/>
          <p:nvPr/>
        </p:nvSpPr>
        <p:spPr>
          <a:xfrm>
            <a:off x="7406640" y="1901952"/>
            <a:ext cx="2148840" cy="914400"/>
          </a:xfrm>
          <a:prstGeom prst="roundRect">
            <a:avLst>
              <a:gd name="adj" fmla="val 60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3" name="Shape 21"/>
          <p:cNvSpPr/>
          <p:nvPr/>
        </p:nvSpPr>
        <p:spPr>
          <a:xfrm>
            <a:off x="7543800" y="2029968"/>
            <a:ext cx="1874520" cy="365760"/>
          </a:xfrm>
          <a:prstGeom prst="roundRect">
            <a:avLst>
              <a:gd name="adj" fmla="val 125000"/>
            </a:avLst>
          </a:prstGeom>
          <a:solidFill>
            <a:srgbClr val="10B981"/>
          </a:solidFill>
          <a:ln w="12700">
            <a:solidFill>
              <a:srgbClr val="10B981"/>
            </a:solidFill>
            <a:prstDash val="solid"/>
          </a:ln>
        </p:spPr>
      </p:sp>
      <p:sp>
        <p:nvSpPr>
          <p:cNvPr id="24" name="Text 22"/>
          <p:cNvSpPr/>
          <p:nvPr/>
        </p:nvSpPr>
        <p:spPr>
          <a:xfrm>
            <a:off x="7543800" y="2029968"/>
            <a:ext cx="187452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Docker build+push</a:t>
            </a:r>
            <a:endParaRPr lang="en-US" sz="950" dirty="0"/>
          </a:p>
        </p:txBody>
      </p:sp>
      <p:sp>
        <p:nvSpPr>
          <p:cNvPr id="25" name="Text 23"/>
          <p:cNvSpPr/>
          <p:nvPr/>
        </p:nvSpPr>
        <p:spPr>
          <a:xfrm>
            <a:off x="7543800" y="2432304"/>
            <a:ext cx="1874520" cy="310896"/>
          </a:xfrm>
          <a:prstGeom prst="rect">
            <a:avLst/>
          </a:prstGeom>
          <a:noFill/>
          <a:ln/>
        </p:spPr>
        <p:txBody>
          <a:bodyPr wrap="square" rtlCol="0" anchor="ctr"/>
          <a:lstStyle/>
          <a:p>
            <a:pPr algn="ctr" indent="0" marL="0">
              <a:buNone/>
            </a:pPr>
            <a:r>
              <a:rPr lang="en-US" sz="850" dirty="0">
                <a:solidFill>
                  <a:srgbClr val="5B6B7C"/>
                </a:solidFill>
                <a:latin typeface="Segoe UI" pitchFamily="34" charset="0"/>
                <a:ea typeface="Segoe UI" pitchFamily="34" charset="-122"/>
                <a:cs typeface="Segoe UI" pitchFamily="34" charset="-120"/>
              </a:rPr>
              <a:t>7 images → Docker Hub</a:t>
            </a:r>
            <a:endParaRPr lang="en-US" sz="850" dirty="0"/>
          </a:p>
        </p:txBody>
      </p:sp>
      <p:sp>
        <p:nvSpPr>
          <p:cNvPr id="26" name="Shape 24"/>
          <p:cNvSpPr/>
          <p:nvPr/>
        </p:nvSpPr>
        <p:spPr>
          <a:xfrm>
            <a:off x="9582912" y="2267712"/>
            <a:ext cx="146304" cy="237744"/>
          </a:xfrm>
          <a:prstGeom prst="rightArrow">
            <a:avLst/>
          </a:prstGeom>
          <a:solidFill>
            <a:srgbClr val="B9C9D4"/>
          </a:solidFill>
          <a:ln w="12700">
            <a:solidFill>
              <a:srgbClr val="B9C9D4"/>
            </a:solidFill>
            <a:prstDash val="solid"/>
          </a:ln>
        </p:spPr>
      </p:sp>
      <p:sp>
        <p:nvSpPr>
          <p:cNvPr id="27" name="Shape 25"/>
          <p:cNvSpPr/>
          <p:nvPr/>
        </p:nvSpPr>
        <p:spPr>
          <a:xfrm>
            <a:off x="9738360" y="1901952"/>
            <a:ext cx="2148840" cy="914400"/>
          </a:xfrm>
          <a:prstGeom prst="roundRect">
            <a:avLst>
              <a:gd name="adj" fmla="val 6000"/>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28" name="Shape 26"/>
          <p:cNvSpPr/>
          <p:nvPr/>
        </p:nvSpPr>
        <p:spPr>
          <a:xfrm>
            <a:off x="9875520" y="2029968"/>
            <a:ext cx="1874520" cy="365760"/>
          </a:xfrm>
          <a:prstGeom prst="roundRect">
            <a:avLst>
              <a:gd name="adj" fmla="val 125000"/>
            </a:avLst>
          </a:prstGeom>
          <a:solidFill>
            <a:srgbClr val="F59E0B"/>
          </a:solidFill>
          <a:ln w="12700">
            <a:solidFill>
              <a:srgbClr val="F59E0B"/>
            </a:solidFill>
            <a:prstDash val="solid"/>
          </a:ln>
        </p:spPr>
      </p:sp>
      <p:sp>
        <p:nvSpPr>
          <p:cNvPr id="29" name="Text 27"/>
          <p:cNvSpPr/>
          <p:nvPr/>
        </p:nvSpPr>
        <p:spPr>
          <a:xfrm>
            <a:off x="9875520" y="2029968"/>
            <a:ext cx="187452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Production</a:t>
            </a:r>
            <a:endParaRPr lang="en-US" sz="950" dirty="0"/>
          </a:p>
        </p:txBody>
      </p:sp>
      <p:sp>
        <p:nvSpPr>
          <p:cNvPr id="30" name="Text 28"/>
          <p:cNvSpPr/>
          <p:nvPr/>
        </p:nvSpPr>
        <p:spPr>
          <a:xfrm>
            <a:off x="9875520" y="2432304"/>
            <a:ext cx="1874520" cy="310896"/>
          </a:xfrm>
          <a:prstGeom prst="rect">
            <a:avLst/>
          </a:prstGeom>
          <a:noFill/>
          <a:ln/>
        </p:spPr>
        <p:txBody>
          <a:bodyPr wrap="square" rtlCol="0" anchor="ctr"/>
          <a:lstStyle/>
          <a:p>
            <a:pPr algn="ctr" indent="0" marL="0">
              <a:buNone/>
            </a:pPr>
            <a:r>
              <a:rPr lang="en-US" sz="850" dirty="0">
                <a:solidFill>
                  <a:srgbClr val="5B6B7C"/>
                </a:solidFill>
                <a:latin typeface="Segoe UI" pitchFamily="34" charset="0"/>
                <a:ea typeface="Segoe UI" pitchFamily="34" charset="-122"/>
                <a:cs typeface="Segoe UI" pitchFamily="34" charset="-120"/>
              </a:rPr>
              <a:t>AWS EC2 + Vercel</a:t>
            </a:r>
            <a:endParaRPr lang="en-US" sz="850" dirty="0"/>
          </a:p>
        </p:txBody>
      </p:sp>
      <p:sp>
        <p:nvSpPr>
          <p:cNvPr id="31" name="Text 29"/>
          <p:cNvSpPr/>
          <p:nvPr/>
        </p:nvSpPr>
        <p:spPr>
          <a:xfrm>
            <a:off x="411480" y="3063240"/>
            <a:ext cx="5486400" cy="29260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Local development (docker compose)</a:t>
            </a:r>
            <a:endParaRPr lang="en-US" sz="1250" dirty="0"/>
          </a:p>
        </p:txBody>
      </p:sp>
      <p:sp>
        <p:nvSpPr>
          <p:cNvPr id="32" name="Shape 30"/>
          <p:cNvSpPr/>
          <p:nvPr/>
        </p:nvSpPr>
        <p:spPr>
          <a:xfrm>
            <a:off x="411480" y="3429000"/>
            <a:ext cx="5486400" cy="2651760"/>
          </a:xfrm>
          <a:prstGeom prst="roundRect">
            <a:avLst>
              <a:gd name="adj" fmla="val 2069"/>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33" name="Text 31"/>
          <p:cNvSpPr/>
          <p:nvPr/>
        </p:nvSpPr>
        <p:spPr>
          <a:xfrm>
            <a:off x="621792" y="3611880"/>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34" name="Text 32"/>
          <p:cNvSpPr/>
          <p:nvPr/>
        </p:nvSpPr>
        <p:spPr>
          <a:xfrm>
            <a:off x="960120" y="3611880"/>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docker compose up -d --build — 9 containers on one bridge network</a:t>
            </a:r>
            <a:endParaRPr lang="en-US" sz="1050" dirty="0"/>
          </a:p>
        </p:txBody>
      </p:sp>
      <p:sp>
        <p:nvSpPr>
          <p:cNvPr id="35" name="Text 33"/>
          <p:cNvSpPr/>
          <p:nvPr/>
        </p:nvSpPr>
        <p:spPr>
          <a:xfrm>
            <a:off x="621792" y="4178808"/>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36" name="Text 34"/>
          <p:cNvSpPr/>
          <p:nvPr/>
        </p:nvSpPr>
        <p:spPr>
          <a:xfrm>
            <a:off x="960120" y="4178808"/>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MySQL :3307 · RabbitMQ :5672 + :15672 · Eureka :8761</a:t>
            </a:r>
            <a:endParaRPr lang="en-US" sz="1050" dirty="0"/>
          </a:p>
        </p:txBody>
      </p:sp>
      <p:sp>
        <p:nvSpPr>
          <p:cNvPr id="37" name="Text 35"/>
          <p:cNvSpPr/>
          <p:nvPr/>
        </p:nvSpPr>
        <p:spPr>
          <a:xfrm>
            <a:off x="621792" y="4745736"/>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38" name="Text 36"/>
          <p:cNvSpPr/>
          <p:nvPr/>
        </p:nvSpPr>
        <p:spPr>
          <a:xfrm>
            <a:off x="960120" y="4745736"/>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Services :8080–8085; frontend dev on :5173 (proxy /api → :8080)</a:t>
            </a:r>
            <a:endParaRPr lang="en-US" sz="1050" dirty="0"/>
          </a:p>
        </p:txBody>
      </p:sp>
      <p:sp>
        <p:nvSpPr>
          <p:cNvPr id="39" name="Text 37"/>
          <p:cNvSpPr/>
          <p:nvPr/>
        </p:nvSpPr>
        <p:spPr>
          <a:xfrm>
            <a:off x="621792" y="5312664"/>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40" name="Text 38"/>
          <p:cNvSpPr/>
          <p:nvPr/>
        </p:nvSpPr>
        <p:spPr>
          <a:xfrm>
            <a:off x="960120" y="5312664"/>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Health checks gate service startup (mysqladmin, rabbitmq-diagnostics)</a:t>
            </a:r>
            <a:endParaRPr lang="en-US" sz="1050" dirty="0"/>
          </a:p>
        </p:txBody>
      </p:sp>
      <p:sp>
        <p:nvSpPr>
          <p:cNvPr id="41" name="Text 39"/>
          <p:cNvSpPr/>
          <p:nvPr/>
        </p:nvSpPr>
        <p:spPr>
          <a:xfrm>
            <a:off x="6309360" y="3063240"/>
            <a:ext cx="5486400" cy="292608"/>
          </a:xfrm>
          <a:prstGeom prst="rect">
            <a:avLst/>
          </a:prstGeom>
          <a:noFill/>
          <a:ln/>
        </p:spPr>
        <p:txBody>
          <a:bodyPr wrap="square" rtlCol="0" anchor="ctr"/>
          <a:lstStyle/>
          <a:p>
            <a:pPr indent="0" marL="0">
              <a:buNone/>
            </a:pPr>
            <a:r>
              <a:rPr lang="en-US" sz="1250" b="1" dirty="0">
                <a:solidFill>
                  <a:srgbClr val="0B2545"/>
                </a:solidFill>
                <a:latin typeface="Segoe UI" pitchFamily="34" charset="0"/>
                <a:ea typeface="Segoe UI" pitchFamily="34" charset="-122"/>
                <a:cs typeface="Segoe UI" pitchFamily="34" charset="-120"/>
              </a:rPr>
              <a:t>Production topology</a:t>
            </a:r>
            <a:endParaRPr lang="en-US" sz="1250" dirty="0"/>
          </a:p>
        </p:txBody>
      </p:sp>
      <p:sp>
        <p:nvSpPr>
          <p:cNvPr id="42" name="Shape 40"/>
          <p:cNvSpPr/>
          <p:nvPr/>
        </p:nvSpPr>
        <p:spPr>
          <a:xfrm>
            <a:off x="6309360" y="3429000"/>
            <a:ext cx="5486400" cy="2651760"/>
          </a:xfrm>
          <a:prstGeom prst="roundRect">
            <a:avLst>
              <a:gd name="adj" fmla="val 2069"/>
            </a:avLst>
          </a:prstGeom>
          <a:solidFill>
            <a:srgbClr val="FFFFFF"/>
          </a:solidFill>
          <a:ln w="12700">
            <a:solidFill>
              <a:srgbClr val="DCE6EC"/>
            </a:solidFill>
            <a:prstDash val="solid"/>
          </a:ln>
          <a:effectLst>
            <a:outerShdw sx="100000" sy="100000" kx="0" ky="0" algn="bl" rotWithShape="0" blurRad="50800" dist="25400" dir="5400000">
              <a:srgbClr val="0B2545">
                <a:alpha val="10000"/>
              </a:srgbClr>
            </a:outerShdw>
          </a:effectLst>
        </p:spPr>
      </p:sp>
      <p:sp>
        <p:nvSpPr>
          <p:cNvPr id="43" name="Text 41"/>
          <p:cNvSpPr/>
          <p:nvPr/>
        </p:nvSpPr>
        <p:spPr>
          <a:xfrm>
            <a:off x="6519672" y="3611880"/>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44" name="Text 42"/>
          <p:cNvSpPr/>
          <p:nvPr/>
        </p:nvSpPr>
        <p:spPr>
          <a:xfrm>
            <a:off x="6858000" y="3611880"/>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docker-compose.prod.yml pulls images from Docker Hub (no builds on host)</a:t>
            </a:r>
            <a:endParaRPr lang="en-US" sz="1050" dirty="0"/>
          </a:p>
        </p:txBody>
      </p:sp>
      <p:sp>
        <p:nvSpPr>
          <p:cNvPr id="45" name="Text 43"/>
          <p:cNvSpPr/>
          <p:nvPr/>
        </p:nvSpPr>
        <p:spPr>
          <a:xfrm>
            <a:off x="6519672" y="4178808"/>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46" name="Text 44"/>
          <p:cNvSpPr/>
          <p:nvPr/>
        </p:nvSpPr>
        <p:spPr>
          <a:xfrm>
            <a:off x="6858000" y="4178808"/>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Backend on AWS EC2; frontend static SPA on Vercel with /api rewrite</a:t>
            </a:r>
            <a:endParaRPr lang="en-US" sz="1050" dirty="0"/>
          </a:p>
        </p:txBody>
      </p:sp>
      <p:sp>
        <p:nvSpPr>
          <p:cNvPr id="47" name="Text 45"/>
          <p:cNvSpPr/>
          <p:nvPr/>
        </p:nvSpPr>
        <p:spPr>
          <a:xfrm>
            <a:off x="6519672" y="4745736"/>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48" name="Text 46"/>
          <p:cNvSpPr/>
          <p:nvPr/>
        </p:nvSpPr>
        <p:spPr>
          <a:xfrm>
            <a:off x="6858000" y="4745736"/>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Secrets via deployment .env — never committed (GitHub secrets for CI)</a:t>
            </a:r>
            <a:endParaRPr lang="en-US" sz="1050" dirty="0"/>
          </a:p>
        </p:txBody>
      </p:sp>
      <p:sp>
        <p:nvSpPr>
          <p:cNvPr id="49" name="Text 47"/>
          <p:cNvSpPr/>
          <p:nvPr/>
        </p:nvSpPr>
        <p:spPr>
          <a:xfrm>
            <a:off x="6519672" y="5312664"/>
            <a:ext cx="32004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a:t>
            </a:r>
            <a:endParaRPr lang="en-US" sz="1100" dirty="0"/>
          </a:p>
        </p:txBody>
      </p:sp>
      <p:sp>
        <p:nvSpPr>
          <p:cNvPr id="50" name="Text 48"/>
          <p:cNvSpPr/>
          <p:nvPr/>
        </p:nvSpPr>
        <p:spPr>
          <a:xfrm>
            <a:off x="6858000" y="5312664"/>
            <a:ext cx="4800600" cy="475488"/>
          </a:xfrm>
          <a:prstGeom prst="rect">
            <a:avLst/>
          </a:prstGeom>
          <a:noFill/>
          <a:ln/>
        </p:spPr>
        <p:txBody>
          <a:bodyPr wrap="square" rtlCol="0" anchor="ctr"/>
          <a:lstStyle/>
          <a:p>
            <a:pPr indent="0" marL="0">
              <a:lnSpc>
                <a:spcPts val="1400"/>
              </a:lnSpc>
              <a:buNone/>
            </a:pPr>
            <a:r>
              <a:rPr lang="en-US" sz="1050" dirty="0">
                <a:solidFill>
                  <a:srgbClr val="33475C"/>
                </a:solidFill>
                <a:latin typeface="Segoe UI" pitchFamily="34" charset="0"/>
                <a:ea typeface="Segoe UI" pitchFamily="34" charset="-122"/>
                <a:cs typeface="Segoe UI" pitchFamily="34" charset="-120"/>
              </a:rPr>
              <a:t>v1.1.0 features ship the same way: CI → image → compose pull → restart</a:t>
            </a:r>
            <a:endParaRPr lang="en-US" sz="1050" dirty="0"/>
          </a:p>
        </p:txBody>
      </p:sp>
      <p:sp>
        <p:nvSpPr>
          <p:cNvPr id="51" name="Text 49"/>
          <p:cNvSpPr/>
          <p:nvPr/>
        </p:nvSpPr>
        <p:spPr>
          <a:xfrm>
            <a:off x="411480" y="6455664"/>
            <a:ext cx="7315200" cy="274320"/>
          </a:xfrm>
          <a:prstGeom prst="rect">
            <a:avLst/>
          </a:prstGeom>
          <a:noFill/>
          <a:ln/>
        </p:spPr>
        <p:txBody>
          <a:bodyPr wrap="square" rtlCol="0" anchor="ctr"/>
          <a:lstStyle/>
          <a:p>
            <a:pPr algn="l" indent="0" marL="0">
              <a:buNone/>
            </a:pPr>
            <a:r>
              <a:rPr lang="en-US" sz="900" dirty="0">
                <a:solidFill>
                  <a:srgbClr val="5B6B7C"/>
                </a:solidFill>
                <a:latin typeface="Segoe UI" pitchFamily="34" charset="0"/>
                <a:ea typeface="Segoe UI" pitchFamily="34" charset="-122"/>
                <a:cs typeface="Segoe UI" pitchFamily="34" charset="-120"/>
              </a:rPr>
              <a:t>Sewage Alert Hyderabad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0241280" y="-1645920"/>
            <a:ext cx="4389120" cy="4389120"/>
          </a:xfrm>
          <a:prstGeom prst="ellipse">
            <a:avLst/>
          </a:prstGeom>
          <a:solidFill>
            <a:srgbClr val="0D9488">
              <a:alpha val="15000"/>
            </a:srgbClr>
          </a:solidFill>
          <a:ln w="12700">
            <a:solidFill>
              <a:srgbClr val="0D9488">
                <a:alpha val="15000"/>
              </a:srgbClr>
            </a:solidFill>
            <a:prstDash val="solid"/>
          </a:ln>
        </p:spPr>
      </p:sp>
      <p:sp>
        <p:nvSpPr>
          <p:cNvPr id="3" name="Text 1"/>
          <p:cNvSpPr/>
          <p:nvPr/>
        </p:nvSpPr>
        <p:spPr>
          <a:xfrm>
            <a:off x="822960" y="457200"/>
            <a:ext cx="10515600" cy="292608"/>
          </a:xfrm>
          <a:prstGeom prst="rect">
            <a:avLst/>
          </a:prstGeom>
          <a:noFill/>
          <a:ln/>
        </p:spPr>
        <p:txBody>
          <a:bodyPr wrap="square" rtlCol="0" anchor="ctr"/>
          <a:lstStyle/>
          <a:p>
            <a:pPr indent="0" marL="0">
              <a:buNone/>
            </a:pPr>
            <a:r>
              <a:rPr lang="en-US" sz="1100" b="1" spc="200" kern="0" dirty="0">
                <a:solidFill>
                  <a:srgbClr val="10B981"/>
                </a:solidFill>
                <a:latin typeface="Segoe UI" pitchFamily="34" charset="0"/>
                <a:ea typeface="Segoe UI" pitchFamily="34" charset="-122"/>
                <a:cs typeface="Segoe UI" pitchFamily="34" charset="-120"/>
              </a:rPr>
              <a:t>WHERE WE ARE AND WHERE WE ARE GOING</a:t>
            </a:r>
            <a:endParaRPr lang="en-US" sz="1100" dirty="0"/>
          </a:p>
        </p:txBody>
      </p:sp>
      <p:sp>
        <p:nvSpPr>
          <p:cNvPr id="4" name="Text 2"/>
          <p:cNvSpPr/>
          <p:nvPr/>
        </p:nvSpPr>
        <p:spPr>
          <a:xfrm>
            <a:off x="822960" y="749808"/>
            <a:ext cx="10515600" cy="5486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Roadmap</a:t>
            </a:r>
            <a:endParaRPr lang="en-US" sz="3000" dirty="0"/>
          </a:p>
        </p:txBody>
      </p:sp>
      <p:sp>
        <p:nvSpPr>
          <p:cNvPr id="5" name="Shape 3"/>
          <p:cNvSpPr/>
          <p:nvPr/>
        </p:nvSpPr>
        <p:spPr>
          <a:xfrm>
            <a:off x="868680" y="1655064"/>
            <a:ext cx="201168" cy="201168"/>
          </a:xfrm>
          <a:prstGeom prst="ellipse">
            <a:avLst/>
          </a:prstGeom>
          <a:solidFill>
            <a:srgbClr val="10B981"/>
          </a:solidFill>
          <a:ln w="12700">
            <a:solidFill>
              <a:srgbClr val="10B981"/>
            </a:solidFill>
            <a:prstDash val="solid"/>
          </a:ln>
        </p:spPr>
      </p:sp>
      <p:sp>
        <p:nvSpPr>
          <p:cNvPr id="6" name="Text 4"/>
          <p:cNvSpPr/>
          <p:nvPr/>
        </p:nvSpPr>
        <p:spPr>
          <a:xfrm>
            <a:off x="1234440" y="1600200"/>
            <a:ext cx="822960" cy="329184"/>
          </a:xfrm>
          <a:prstGeom prst="rect">
            <a:avLst/>
          </a:prstGeom>
          <a:noFill/>
          <a:ln/>
        </p:spPr>
        <p:txBody>
          <a:bodyPr wrap="square" rtlCol="0" anchor="ctr"/>
          <a:lstStyle/>
          <a:p>
            <a:pPr indent="0" marL="0">
              <a:buNone/>
            </a:pPr>
            <a:r>
              <a:rPr lang="en-US" sz="1250" b="1" dirty="0">
                <a:solidFill>
                  <a:srgbClr val="10B981"/>
                </a:solidFill>
                <a:latin typeface="Consolas" pitchFamily="34" charset="0"/>
                <a:ea typeface="Consolas" pitchFamily="34" charset="-122"/>
                <a:cs typeface="Consolas" pitchFamily="34" charset="-120"/>
              </a:rPr>
              <a:t>v1.0</a:t>
            </a:r>
            <a:endParaRPr lang="en-US" sz="1250" dirty="0"/>
          </a:p>
        </p:txBody>
      </p:sp>
      <p:sp>
        <p:nvSpPr>
          <p:cNvPr id="7" name="Text 5"/>
          <p:cNvSpPr/>
          <p:nvPr/>
        </p:nvSpPr>
        <p:spPr>
          <a:xfrm>
            <a:off x="2148840" y="1600200"/>
            <a:ext cx="1234440" cy="329184"/>
          </a:xfrm>
          <a:prstGeom prst="rect">
            <a:avLst/>
          </a:prstGeom>
          <a:noFill/>
          <a:ln/>
        </p:spPr>
        <p:txBody>
          <a:bodyPr wrap="square" rtlCol="0" anchor="ctr"/>
          <a:lstStyle/>
          <a:p>
            <a:pPr indent="0" marL="0">
              <a:buNone/>
            </a:pPr>
            <a:r>
              <a:rPr lang="en-US" sz="1150" i="1" dirty="0">
                <a:solidFill>
                  <a:srgbClr val="BFE3DD"/>
                </a:solidFill>
                <a:latin typeface="Segoe UI" pitchFamily="34" charset="0"/>
                <a:ea typeface="Segoe UI" pitchFamily="34" charset="-122"/>
                <a:cs typeface="Segoe UI" pitchFamily="34" charset="-120"/>
              </a:rPr>
              <a:t>Released</a:t>
            </a:r>
            <a:endParaRPr lang="en-US" sz="1150" dirty="0"/>
          </a:p>
        </p:txBody>
      </p:sp>
      <p:sp>
        <p:nvSpPr>
          <p:cNvPr id="8" name="Text 6"/>
          <p:cNvSpPr/>
          <p:nvPr/>
        </p:nvSpPr>
        <p:spPr>
          <a:xfrm>
            <a:off x="3520440" y="1600200"/>
            <a:ext cx="7772400" cy="329184"/>
          </a:xfrm>
          <a:prstGeom prst="rect">
            <a:avLst/>
          </a:prstGeom>
          <a:noFill/>
          <a:ln/>
        </p:spPr>
        <p:txBody>
          <a:bodyPr wrap="square" rtlCol="0" anchor="ctr"/>
          <a:lstStyle/>
          <a:p>
            <a:pPr indent="0" marL="0">
              <a:buNone/>
            </a:pPr>
            <a:r>
              <a:rPr lang="en-US" sz="1150" dirty="0">
                <a:solidFill>
                  <a:srgbClr val="D7E3EE"/>
                </a:solidFill>
                <a:latin typeface="Segoe UI" pitchFamily="34" charset="0"/>
                <a:ea typeface="Segoe UI" pitchFamily="34" charset="-122"/>
                <a:cs typeface="Segoe UI" pitchFamily="34" charset="-120"/>
              </a:rPr>
              <a:t>Core platform: reporting, tracking, notifications, auth, Docker, CI/CD</a:t>
            </a:r>
            <a:endParaRPr lang="en-US" sz="1150" dirty="0"/>
          </a:p>
        </p:txBody>
      </p:sp>
      <p:sp>
        <p:nvSpPr>
          <p:cNvPr id="9" name="Shape 7"/>
          <p:cNvSpPr/>
          <p:nvPr/>
        </p:nvSpPr>
        <p:spPr>
          <a:xfrm>
            <a:off x="868680" y="2313432"/>
            <a:ext cx="201168" cy="201168"/>
          </a:xfrm>
          <a:prstGeom prst="ellipse">
            <a:avLst/>
          </a:prstGeom>
          <a:solidFill>
            <a:srgbClr val="0D9488"/>
          </a:solidFill>
          <a:ln w="12700">
            <a:solidFill>
              <a:srgbClr val="0D9488"/>
            </a:solidFill>
            <a:prstDash val="solid"/>
          </a:ln>
        </p:spPr>
      </p:sp>
      <p:sp>
        <p:nvSpPr>
          <p:cNvPr id="10" name="Text 8"/>
          <p:cNvSpPr/>
          <p:nvPr/>
        </p:nvSpPr>
        <p:spPr>
          <a:xfrm>
            <a:off x="1234440" y="2258568"/>
            <a:ext cx="822960" cy="329184"/>
          </a:xfrm>
          <a:prstGeom prst="rect">
            <a:avLst/>
          </a:prstGeom>
          <a:noFill/>
          <a:ln/>
        </p:spPr>
        <p:txBody>
          <a:bodyPr wrap="square" rtlCol="0" anchor="ctr"/>
          <a:lstStyle/>
          <a:p>
            <a:pPr indent="0" marL="0">
              <a:buNone/>
            </a:pPr>
            <a:r>
              <a:rPr lang="en-US" sz="1250" b="1" dirty="0">
                <a:solidFill>
                  <a:srgbClr val="0D9488"/>
                </a:solidFill>
                <a:latin typeface="Consolas" pitchFamily="34" charset="0"/>
                <a:ea typeface="Consolas" pitchFamily="34" charset="-122"/>
                <a:cs typeface="Consolas" pitchFamily="34" charset="-120"/>
              </a:rPr>
              <a:t>v1.1</a:t>
            </a:r>
            <a:endParaRPr lang="en-US" sz="1250" dirty="0"/>
          </a:p>
        </p:txBody>
      </p:sp>
      <p:sp>
        <p:nvSpPr>
          <p:cNvPr id="11" name="Text 9"/>
          <p:cNvSpPr/>
          <p:nvPr/>
        </p:nvSpPr>
        <p:spPr>
          <a:xfrm>
            <a:off x="2148840" y="2258568"/>
            <a:ext cx="1234440" cy="329184"/>
          </a:xfrm>
          <a:prstGeom prst="rect">
            <a:avLst/>
          </a:prstGeom>
          <a:noFill/>
          <a:ln/>
        </p:spPr>
        <p:txBody>
          <a:bodyPr wrap="square" rtlCol="0" anchor="ctr"/>
          <a:lstStyle/>
          <a:p>
            <a:pPr indent="0" marL="0">
              <a:buNone/>
            </a:pPr>
            <a:r>
              <a:rPr lang="en-US" sz="1150" i="1" dirty="0">
                <a:solidFill>
                  <a:srgbClr val="BFE3DD"/>
                </a:solidFill>
                <a:latin typeface="Segoe UI" pitchFamily="34" charset="0"/>
                <a:ea typeface="Segoe UI" pitchFamily="34" charset="-122"/>
                <a:cs typeface="Segoe UI" pitchFamily="34" charset="-120"/>
              </a:rPr>
              <a:t>Now</a:t>
            </a:r>
            <a:endParaRPr lang="en-US" sz="1150" dirty="0"/>
          </a:p>
        </p:txBody>
      </p:sp>
      <p:sp>
        <p:nvSpPr>
          <p:cNvPr id="12" name="Text 10"/>
          <p:cNvSpPr/>
          <p:nvPr/>
        </p:nvSpPr>
        <p:spPr>
          <a:xfrm>
            <a:off x="3520440" y="2258568"/>
            <a:ext cx="7772400" cy="329184"/>
          </a:xfrm>
          <a:prstGeom prst="rect">
            <a:avLst/>
          </a:prstGeom>
          <a:noFill/>
          <a:ln/>
        </p:spPr>
        <p:txBody>
          <a:bodyPr wrap="square" rtlCol="0" anchor="ctr"/>
          <a:lstStyle/>
          <a:p>
            <a:pPr indent="0" marL="0">
              <a:buNone/>
            </a:pPr>
            <a:r>
              <a:rPr lang="en-US" sz="1150" dirty="0">
                <a:solidFill>
                  <a:srgbClr val="D7E3EE"/>
                </a:solidFill>
                <a:latin typeface="Segoe UI" pitchFamily="34" charset="0"/>
                <a:ea typeface="Segoe UI" pitchFamily="34" charset="-122"/>
                <a:cs typeface="Segoe UI" pitchFamily="34" charset="-120"/>
              </a:rPr>
              <a:t>Resolution proof photos (backend-enforced) + user-facing content cleanup</a:t>
            </a:r>
            <a:endParaRPr lang="en-US" sz="1150" dirty="0"/>
          </a:p>
        </p:txBody>
      </p:sp>
      <p:sp>
        <p:nvSpPr>
          <p:cNvPr id="13" name="Shape 11"/>
          <p:cNvSpPr/>
          <p:nvPr/>
        </p:nvSpPr>
        <p:spPr>
          <a:xfrm>
            <a:off x="868680" y="2971800"/>
            <a:ext cx="201168" cy="201168"/>
          </a:xfrm>
          <a:prstGeom prst="ellipse">
            <a:avLst/>
          </a:prstGeom>
          <a:solidFill>
            <a:srgbClr val="38BDF8"/>
          </a:solidFill>
          <a:ln w="12700">
            <a:solidFill>
              <a:srgbClr val="38BDF8"/>
            </a:solidFill>
            <a:prstDash val="solid"/>
          </a:ln>
        </p:spPr>
      </p:sp>
      <p:sp>
        <p:nvSpPr>
          <p:cNvPr id="14" name="Text 12"/>
          <p:cNvSpPr/>
          <p:nvPr/>
        </p:nvSpPr>
        <p:spPr>
          <a:xfrm>
            <a:off x="1234440" y="2916936"/>
            <a:ext cx="822960" cy="329184"/>
          </a:xfrm>
          <a:prstGeom prst="rect">
            <a:avLst/>
          </a:prstGeom>
          <a:noFill/>
          <a:ln/>
        </p:spPr>
        <p:txBody>
          <a:bodyPr wrap="square" rtlCol="0" anchor="ctr"/>
          <a:lstStyle/>
          <a:p>
            <a:pPr indent="0" marL="0">
              <a:buNone/>
            </a:pPr>
            <a:r>
              <a:rPr lang="en-US" sz="1250" b="1" dirty="0">
                <a:solidFill>
                  <a:srgbClr val="38BDF8"/>
                </a:solidFill>
                <a:latin typeface="Consolas" pitchFamily="34" charset="0"/>
                <a:ea typeface="Consolas" pitchFamily="34" charset="-122"/>
                <a:cs typeface="Consolas" pitchFamily="34" charset="-120"/>
              </a:rPr>
              <a:t>v1.2</a:t>
            </a:r>
            <a:endParaRPr lang="en-US" sz="1250" dirty="0"/>
          </a:p>
        </p:txBody>
      </p:sp>
      <p:sp>
        <p:nvSpPr>
          <p:cNvPr id="15" name="Text 13"/>
          <p:cNvSpPr/>
          <p:nvPr/>
        </p:nvSpPr>
        <p:spPr>
          <a:xfrm>
            <a:off x="2148840" y="2916936"/>
            <a:ext cx="1234440" cy="329184"/>
          </a:xfrm>
          <a:prstGeom prst="rect">
            <a:avLst/>
          </a:prstGeom>
          <a:noFill/>
          <a:ln/>
        </p:spPr>
        <p:txBody>
          <a:bodyPr wrap="square" rtlCol="0" anchor="ctr"/>
          <a:lstStyle/>
          <a:p>
            <a:pPr indent="0" marL="0">
              <a:buNone/>
            </a:pPr>
            <a:r>
              <a:rPr lang="en-US" sz="1150" i="1" dirty="0">
                <a:solidFill>
                  <a:srgbClr val="BFE3DD"/>
                </a:solidFill>
                <a:latin typeface="Segoe UI" pitchFamily="34" charset="0"/>
                <a:ea typeface="Segoe UI" pitchFamily="34" charset="-122"/>
                <a:cs typeface="Segoe UI" pitchFamily="34" charset="-120"/>
              </a:rPr>
              <a:t>Next</a:t>
            </a:r>
            <a:endParaRPr lang="en-US" sz="1150" dirty="0"/>
          </a:p>
        </p:txBody>
      </p:sp>
      <p:sp>
        <p:nvSpPr>
          <p:cNvPr id="16" name="Text 14"/>
          <p:cNvSpPr/>
          <p:nvPr/>
        </p:nvSpPr>
        <p:spPr>
          <a:xfrm>
            <a:off x="3520440" y="2916936"/>
            <a:ext cx="7772400" cy="329184"/>
          </a:xfrm>
          <a:prstGeom prst="rect">
            <a:avLst/>
          </a:prstGeom>
          <a:noFill/>
          <a:ln/>
        </p:spPr>
        <p:txBody>
          <a:bodyPr wrap="square" rtlCol="0" anchor="ctr"/>
          <a:lstStyle/>
          <a:p>
            <a:pPr indent="0" marL="0">
              <a:buNone/>
            </a:pPr>
            <a:r>
              <a:rPr lang="en-US" sz="1150" dirty="0">
                <a:solidFill>
                  <a:srgbClr val="D7E3EE"/>
                </a:solidFill>
                <a:latin typeface="Segoe UI" pitchFamily="34" charset="0"/>
                <a:ea typeface="Segoe UI" pitchFamily="34" charset="-122"/>
                <a:cs typeface="Segoe UI" pitchFamily="34" charset="-120"/>
              </a:rPr>
              <a:t>Responsive/mobile-friendly web experience</a:t>
            </a:r>
            <a:endParaRPr lang="en-US" sz="1150" dirty="0"/>
          </a:p>
        </p:txBody>
      </p:sp>
      <p:sp>
        <p:nvSpPr>
          <p:cNvPr id="17" name="Shape 15"/>
          <p:cNvSpPr/>
          <p:nvPr/>
        </p:nvSpPr>
        <p:spPr>
          <a:xfrm>
            <a:off x="868680" y="3630168"/>
            <a:ext cx="201168" cy="201168"/>
          </a:xfrm>
          <a:prstGeom prst="ellipse">
            <a:avLst/>
          </a:prstGeom>
          <a:solidFill>
            <a:srgbClr val="F59E0B"/>
          </a:solidFill>
          <a:ln w="12700">
            <a:solidFill>
              <a:srgbClr val="F59E0B"/>
            </a:solidFill>
            <a:prstDash val="solid"/>
          </a:ln>
        </p:spPr>
      </p:sp>
      <p:sp>
        <p:nvSpPr>
          <p:cNvPr id="18" name="Text 16"/>
          <p:cNvSpPr/>
          <p:nvPr/>
        </p:nvSpPr>
        <p:spPr>
          <a:xfrm>
            <a:off x="1234440" y="3575304"/>
            <a:ext cx="822960" cy="329184"/>
          </a:xfrm>
          <a:prstGeom prst="rect">
            <a:avLst/>
          </a:prstGeom>
          <a:noFill/>
          <a:ln/>
        </p:spPr>
        <p:txBody>
          <a:bodyPr wrap="square" rtlCol="0" anchor="ctr"/>
          <a:lstStyle/>
          <a:p>
            <a:pPr indent="0" marL="0">
              <a:buNone/>
            </a:pPr>
            <a:r>
              <a:rPr lang="en-US" sz="1250" b="1" dirty="0">
                <a:solidFill>
                  <a:srgbClr val="F59E0B"/>
                </a:solidFill>
                <a:latin typeface="Consolas" pitchFamily="34" charset="0"/>
                <a:ea typeface="Consolas" pitchFamily="34" charset="-122"/>
                <a:cs typeface="Consolas" pitchFamily="34" charset="-120"/>
              </a:rPr>
              <a:t>v2.0</a:t>
            </a:r>
            <a:endParaRPr lang="en-US" sz="1250" dirty="0"/>
          </a:p>
        </p:txBody>
      </p:sp>
      <p:sp>
        <p:nvSpPr>
          <p:cNvPr id="19" name="Text 17"/>
          <p:cNvSpPr/>
          <p:nvPr/>
        </p:nvSpPr>
        <p:spPr>
          <a:xfrm>
            <a:off x="2148840" y="3575304"/>
            <a:ext cx="1234440" cy="329184"/>
          </a:xfrm>
          <a:prstGeom prst="rect">
            <a:avLst/>
          </a:prstGeom>
          <a:noFill/>
          <a:ln/>
        </p:spPr>
        <p:txBody>
          <a:bodyPr wrap="square" rtlCol="0" anchor="ctr"/>
          <a:lstStyle/>
          <a:p>
            <a:pPr indent="0" marL="0">
              <a:buNone/>
            </a:pPr>
            <a:r>
              <a:rPr lang="en-US" sz="1150" i="1" dirty="0">
                <a:solidFill>
                  <a:srgbClr val="BFE3DD"/>
                </a:solidFill>
                <a:latin typeface="Segoe UI" pitchFamily="34" charset="0"/>
                <a:ea typeface="Segoe UI" pitchFamily="34" charset="-122"/>
                <a:cs typeface="Segoe UI" pitchFamily="34" charset="-120"/>
              </a:rPr>
              <a:t>Planned</a:t>
            </a:r>
            <a:endParaRPr lang="en-US" sz="1150" dirty="0"/>
          </a:p>
        </p:txBody>
      </p:sp>
      <p:sp>
        <p:nvSpPr>
          <p:cNvPr id="20" name="Text 18"/>
          <p:cNvSpPr/>
          <p:nvPr/>
        </p:nvSpPr>
        <p:spPr>
          <a:xfrm>
            <a:off x="3520440" y="3575304"/>
            <a:ext cx="7772400" cy="329184"/>
          </a:xfrm>
          <a:prstGeom prst="rect">
            <a:avLst/>
          </a:prstGeom>
          <a:noFill/>
          <a:ln/>
        </p:spPr>
        <p:txBody>
          <a:bodyPr wrap="square" rtlCol="0" anchor="ctr"/>
          <a:lstStyle/>
          <a:p>
            <a:pPr indent="0" marL="0">
              <a:buNone/>
            </a:pPr>
            <a:r>
              <a:rPr lang="en-US" sz="1150" dirty="0">
                <a:solidFill>
                  <a:srgbClr val="D7E3EE"/>
                </a:solidFill>
                <a:latin typeface="Segoe UI" pitchFamily="34" charset="0"/>
                <a:ea typeface="Segoe UI" pitchFamily="34" charset="-122"/>
                <a:cs typeface="Segoe UI" pitchFamily="34" charset="-120"/>
              </a:rPr>
              <a:t>NGO &amp; community engagement platform (events, drives, approvals)</a:t>
            </a:r>
            <a:endParaRPr lang="en-US" sz="1150" dirty="0"/>
          </a:p>
        </p:txBody>
      </p:sp>
      <p:sp>
        <p:nvSpPr>
          <p:cNvPr id="21" name="Shape 19"/>
          <p:cNvSpPr/>
          <p:nvPr/>
        </p:nvSpPr>
        <p:spPr>
          <a:xfrm>
            <a:off x="868680" y="4288536"/>
            <a:ext cx="201168" cy="201168"/>
          </a:xfrm>
          <a:prstGeom prst="ellipse">
            <a:avLst/>
          </a:prstGeom>
          <a:solidFill>
            <a:srgbClr val="F59E0B"/>
          </a:solidFill>
          <a:ln w="12700">
            <a:solidFill>
              <a:srgbClr val="F59E0B"/>
            </a:solidFill>
            <a:prstDash val="solid"/>
          </a:ln>
        </p:spPr>
      </p:sp>
      <p:sp>
        <p:nvSpPr>
          <p:cNvPr id="22" name="Text 20"/>
          <p:cNvSpPr/>
          <p:nvPr/>
        </p:nvSpPr>
        <p:spPr>
          <a:xfrm>
            <a:off x="1234440" y="4233672"/>
            <a:ext cx="822960" cy="329184"/>
          </a:xfrm>
          <a:prstGeom prst="rect">
            <a:avLst/>
          </a:prstGeom>
          <a:noFill/>
          <a:ln/>
        </p:spPr>
        <p:txBody>
          <a:bodyPr wrap="square" rtlCol="0" anchor="ctr"/>
          <a:lstStyle/>
          <a:p>
            <a:pPr indent="0" marL="0">
              <a:buNone/>
            </a:pPr>
            <a:r>
              <a:rPr lang="en-US" sz="1250" b="1" dirty="0">
                <a:solidFill>
                  <a:srgbClr val="F59E0B"/>
                </a:solidFill>
                <a:latin typeface="Consolas" pitchFamily="34" charset="0"/>
                <a:ea typeface="Consolas" pitchFamily="34" charset="-122"/>
                <a:cs typeface="Consolas" pitchFamily="34" charset="-120"/>
              </a:rPr>
              <a:t>v2.1</a:t>
            </a:r>
            <a:endParaRPr lang="en-US" sz="1250" dirty="0"/>
          </a:p>
        </p:txBody>
      </p:sp>
      <p:sp>
        <p:nvSpPr>
          <p:cNvPr id="23" name="Text 21"/>
          <p:cNvSpPr/>
          <p:nvPr/>
        </p:nvSpPr>
        <p:spPr>
          <a:xfrm>
            <a:off x="2148840" y="4233672"/>
            <a:ext cx="1234440" cy="329184"/>
          </a:xfrm>
          <a:prstGeom prst="rect">
            <a:avLst/>
          </a:prstGeom>
          <a:noFill/>
          <a:ln/>
        </p:spPr>
        <p:txBody>
          <a:bodyPr wrap="square" rtlCol="0" anchor="ctr"/>
          <a:lstStyle/>
          <a:p>
            <a:pPr indent="0" marL="0">
              <a:buNone/>
            </a:pPr>
            <a:r>
              <a:rPr lang="en-US" sz="1150" i="1" dirty="0">
                <a:solidFill>
                  <a:srgbClr val="BFE3DD"/>
                </a:solidFill>
                <a:latin typeface="Segoe UI" pitchFamily="34" charset="0"/>
                <a:ea typeface="Segoe UI" pitchFamily="34" charset="-122"/>
                <a:cs typeface="Segoe UI" pitchFamily="34" charset="-120"/>
              </a:rPr>
              <a:t>Planned</a:t>
            </a:r>
            <a:endParaRPr lang="en-US" sz="1150" dirty="0"/>
          </a:p>
        </p:txBody>
      </p:sp>
      <p:sp>
        <p:nvSpPr>
          <p:cNvPr id="24" name="Text 22"/>
          <p:cNvSpPr/>
          <p:nvPr/>
        </p:nvSpPr>
        <p:spPr>
          <a:xfrm>
            <a:off x="3520440" y="4233672"/>
            <a:ext cx="7772400" cy="329184"/>
          </a:xfrm>
          <a:prstGeom prst="rect">
            <a:avLst/>
          </a:prstGeom>
          <a:noFill/>
          <a:ln/>
        </p:spPr>
        <p:txBody>
          <a:bodyPr wrap="square" rtlCol="0" anchor="ctr"/>
          <a:lstStyle/>
          <a:p>
            <a:pPr indent="0" marL="0">
              <a:buNone/>
            </a:pPr>
            <a:r>
              <a:rPr lang="en-US" sz="1150" dirty="0">
                <a:solidFill>
                  <a:srgbClr val="D7E3EE"/>
                </a:solidFill>
                <a:latin typeface="Segoe UI" pitchFamily="34" charset="0"/>
                <a:ea typeface="Segoe UI" pitchFamily="34" charset="-122"/>
                <a:cs typeface="Segoe UI" pitchFamily="34" charset="-120"/>
              </a:rPr>
              <a:t>AI capabilities on top of structured platform data</a:t>
            </a:r>
            <a:endParaRPr lang="en-US" sz="1150" dirty="0"/>
          </a:p>
        </p:txBody>
      </p:sp>
      <p:sp>
        <p:nvSpPr>
          <p:cNvPr id="25" name="Shape 23"/>
          <p:cNvSpPr/>
          <p:nvPr/>
        </p:nvSpPr>
        <p:spPr>
          <a:xfrm>
            <a:off x="868680" y="4946904"/>
            <a:ext cx="201168" cy="201168"/>
          </a:xfrm>
          <a:prstGeom prst="ellipse">
            <a:avLst/>
          </a:prstGeom>
          <a:solidFill>
            <a:srgbClr val="F59E0B"/>
          </a:solidFill>
          <a:ln w="12700">
            <a:solidFill>
              <a:srgbClr val="F59E0B"/>
            </a:solidFill>
            <a:prstDash val="solid"/>
          </a:ln>
        </p:spPr>
      </p:sp>
      <p:sp>
        <p:nvSpPr>
          <p:cNvPr id="26" name="Text 24"/>
          <p:cNvSpPr/>
          <p:nvPr/>
        </p:nvSpPr>
        <p:spPr>
          <a:xfrm>
            <a:off x="1234440" y="4892040"/>
            <a:ext cx="822960" cy="329184"/>
          </a:xfrm>
          <a:prstGeom prst="rect">
            <a:avLst/>
          </a:prstGeom>
          <a:noFill/>
          <a:ln/>
        </p:spPr>
        <p:txBody>
          <a:bodyPr wrap="square" rtlCol="0" anchor="ctr"/>
          <a:lstStyle/>
          <a:p>
            <a:pPr indent="0" marL="0">
              <a:buNone/>
            </a:pPr>
            <a:r>
              <a:rPr lang="en-US" sz="1250" b="1" dirty="0">
                <a:solidFill>
                  <a:srgbClr val="F59E0B"/>
                </a:solidFill>
                <a:latin typeface="Consolas" pitchFamily="34" charset="0"/>
                <a:ea typeface="Consolas" pitchFamily="34" charset="-122"/>
                <a:cs typeface="Consolas" pitchFamily="34" charset="-120"/>
              </a:rPr>
              <a:t>v3.0</a:t>
            </a:r>
            <a:endParaRPr lang="en-US" sz="1250" dirty="0"/>
          </a:p>
        </p:txBody>
      </p:sp>
      <p:sp>
        <p:nvSpPr>
          <p:cNvPr id="27" name="Text 25"/>
          <p:cNvSpPr/>
          <p:nvPr/>
        </p:nvSpPr>
        <p:spPr>
          <a:xfrm>
            <a:off x="2148840" y="4892040"/>
            <a:ext cx="1234440" cy="329184"/>
          </a:xfrm>
          <a:prstGeom prst="rect">
            <a:avLst/>
          </a:prstGeom>
          <a:noFill/>
          <a:ln/>
        </p:spPr>
        <p:txBody>
          <a:bodyPr wrap="square" rtlCol="0" anchor="ctr"/>
          <a:lstStyle/>
          <a:p>
            <a:pPr indent="0" marL="0">
              <a:buNone/>
            </a:pPr>
            <a:r>
              <a:rPr lang="en-US" sz="1150" i="1" dirty="0">
                <a:solidFill>
                  <a:srgbClr val="BFE3DD"/>
                </a:solidFill>
                <a:latin typeface="Segoe UI" pitchFamily="34" charset="0"/>
                <a:ea typeface="Segoe UI" pitchFamily="34" charset="-122"/>
                <a:cs typeface="Segoe UI" pitchFamily="34" charset="-120"/>
              </a:rPr>
              <a:t>Planned</a:t>
            </a:r>
            <a:endParaRPr lang="en-US" sz="1150" dirty="0"/>
          </a:p>
        </p:txBody>
      </p:sp>
      <p:sp>
        <p:nvSpPr>
          <p:cNvPr id="28" name="Text 26"/>
          <p:cNvSpPr/>
          <p:nvPr/>
        </p:nvSpPr>
        <p:spPr>
          <a:xfrm>
            <a:off x="3520440" y="4892040"/>
            <a:ext cx="7772400" cy="329184"/>
          </a:xfrm>
          <a:prstGeom prst="rect">
            <a:avLst/>
          </a:prstGeom>
          <a:noFill/>
          <a:ln/>
        </p:spPr>
        <p:txBody>
          <a:bodyPr wrap="square" rtlCol="0" anchor="ctr"/>
          <a:lstStyle/>
          <a:p>
            <a:pPr indent="0" marL="0">
              <a:buNone/>
            </a:pPr>
            <a:r>
              <a:rPr lang="en-US" sz="1150" dirty="0">
                <a:solidFill>
                  <a:srgbClr val="D7E3EE"/>
                </a:solidFill>
                <a:latin typeface="Segoe UI" pitchFamily="34" charset="0"/>
                <a:ea typeface="Segoe UI" pitchFamily="34" charset="-122"/>
                <a:cs typeface="Segoe UI" pitchFamily="34" charset="-120"/>
              </a:rPr>
              <a:t>Dedicated mobile app reusing the existing backend APIs</a:t>
            </a:r>
            <a:endParaRPr lang="en-US" sz="1150" dirty="0"/>
          </a:p>
        </p:txBody>
      </p:sp>
      <p:sp>
        <p:nvSpPr>
          <p:cNvPr id="29" name="Text 27"/>
          <p:cNvSpPr/>
          <p:nvPr/>
        </p:nvSpPr>
        <p:spPr>
          <a:xfrm>
            <a:off x="822960" y="5577840"/>
            <a:ext cx="10515600" cy="640080"/>
          </a:xfrm>
          <a:prstGeom prst="rect">
            <a:avLst/>
          </a:prstGeom>
          <a:noFill/>
          <a:ln/>
        </p:spPr>
        <p:txBody>
          <a:bodyPr wrap="square" rtlCol="0" anchor="ctr"/>
          <a:lstStyle/>
          <a:p>
            <a:pPr algn="ctr" indent="0" marL="0">
              <a:buNone/>
            </a:pPr>
            <a:r>
              <a:rPr lang="en-US" sz="3400" b="1" dirty="0">
                <a:solidFill>
                  <a:srgbClr val="FFFFFF"/>
                </a:solidFill>
                <a:latin typeface="Segoe UI" pitchFamily="34" charset="0"/>
                <a:ea typeface="Segoe UI" pitchFamily="34" charset="-122"/>
                <a:cs typeface="Segoe UI" pitchFamily="34" charset="-120"/>
              </a:rPr>
              <a:t>Thank you</a:t>
            </a:r>
            <a:endParaRPr lang="en-US" sz="3400" dirty="0"/>
          </a:p>
        </p:txBody>
      </p:sp>
      <p:sp>
        <p:nvSpPr>
          <p:cNvPr id="30" name="Text 28"/>
          <p:cNvSpPr/>
          <p:nvPr/>
        </p:nvSpPr>
        <p:spPr>
          <a:xfrm>
            <a:off x="822960" y="6217920"/>
            <a:ext cx="10515600" cy="274320"/>
          </a:xfrm>
          <a:prstGeom prst="rect">
            <a:avLst/>
          </a:prstGeom>
          <a:noFill/>
          <a:ln/>
        </p:spPr>
        <p:txBody>
          <a:bodyPr wrap="square" rtlCol="0" anchor="ctr"/>
          <a:lstStyle/>
          <a:p>
            <a:pPr algn="ctr" indent="0" marL="0">
              <a:buNone/>
            </a:pPr>
            <a:r>
              <a:rPr lang="en-US" sz="1100" dirty="0">
                <a:solidFill>
                  <a:srgbClr val="93A8BC"/>
                </a:solidFill>
                <a:latin typeface="Segoe UI" pitchFamily="34" charset="0"/>
                <a:ea typeface="Segoe UI" pitchFamily="34" charset="-122"/>
                <a:cs typeface="Segoe UI" pitchFamily="34" charset="-120"/>
              </a:rPr>
              <a:t>Questions welcome — siddh@sewagealert.hyderabad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Sewage Alert Hyderabad — Technical Presentation (v1.1.0)</dc:title>
  <dc:subject>Citizen-to-government civic tech platform</dc:subject>
  <dc:creator>Sewage Alert Hyderabad Team</dc:creator>
  <cp:lastModifiedBy>Sewage Alert Hyderabad Team</cp:lastModifiedBy>
  <cp:revision>1</cp:revision>
  <dcterms:created xsi:type="dcterms:W3CDTF">2026-08-18T01:56:39Z</dcterms:created>
  <dcterms:modified xsi:type="dcterms:W3CDTF">2026-08-18T01:56:39Z</dcterms:modified>
</cp:coreProperties>
</file>